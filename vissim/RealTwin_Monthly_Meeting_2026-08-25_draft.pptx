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1" r:id="rId4"/>
  </p:sldMasterIdLst>
  <p:notesMasterIdLst>
    <p:notesMasterId r:id="rId19"/>
  </p:notesMasterIdLst>
  <p:handoutMasterIdLst>
    <p:handoutMasterId r:id="rId20"/>
  </p:handoutMasterIdLst>
  <p:sldIdLst>
    <p:sldId id="2147469121" r:id="rId5"/>
    <p:sldId id="2147469323" r:id="rId6"/>
    <p:sldId id="2147481382" r:id="rId7"/>
    <p:sldId id="2147481381" r:id="rId8"/>
    <p:sldId id="2147481392" r:id="rId9"/>
    <p:sldId id="2147481383" r:id="rId10"/>
    <p:sldId id="2147481384" r:id="rId11"/>
    <p:sldId id="2147481385" r:id="rId12"/>
    <p:sldId id="2147481388" r:id="rId13"/>
    <p:sldId id="2147481391" r:id="rId14"/>
    <p:sldId id="2147481390" r:id="rId15"/>
    <p:sldId id="2147469348" r:id="rId16"/>
    <p:sldId id="2147469392" r:id="rId17"/>
    <p:sldId id="21474813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E84548-5A3D-4B01-9615-3E1C6DE5C86D}">
          <p14:sldIdLst>
            <p14:sldId id="2147469121"/>
            <p14:sldId id="2147469323"/>
          </p14:sldIdLst>
        </p14:section>
        <p14:section name="Subtask1.3" id="{7EE7B718-8EDA-489F-BE25-E048780AF354}">
          <p14:sldIdLst>
            <p14:sldId id="2147481382"/>
            <p14:sldId id="2147481381"/>
            <p14:sldId id="2147481392"/>
            <p14:sldId id="2147481383"/>
            <p14:sldId id="2147481384"/>
            <p14:sldId id="2147481385"/>
            <p14:sldId id="2147481388"/>
            <p14:sldId id="2147481391"/>
            <p14:sldId id="2147481390"/>
          </p14:sldIdLst>
        </p14:section>
        <p14:section name="Other Updates" id="{3A5AD79B-776F-4DBA-9B7F-C14E8988C7F6}">
          <p14:sldIdLst>
            <p14:sldId id="2147469348"/>
            <p14:sldId id="2147469392"/>
          </p14:sldIdLst>
        </p14:section>
        <p14:section name="Appendix" id="{D5EAF2FD-C873-4789-B461-153CC0AB339C}">
          <p14:sldIdLst/>
        </p14:section>
        <p14:section name="backup" id="{A2586578-21C5-4A7C-BB99-278E891F978D}">
          <p14:sldIdLst>
            <p14:sldId id="21474813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EE1522-948F-C5F3-9EC2-D58992E418C4}" name="Yuan, Jinghui" initials="JY" userId="S::29y@ornl.gov::a3672594-b4d5-42cb-b1b7-3acc54d88c2d" providerId="AD"/>
  <p188:author id="{7A9D8B6F-4C39-6179-0AEB-3DB9826E20DF}" name="Luo, Roy" initials="" userId="S::xh8@ornl.gov::44783493-1248-4a72-b4b9-062ffc6d6086" providerId="AD"/>
  <p188:author id="{26806798-D742-0246-A1AB-1D6A277A7D1D}" name="Saroj, Abhilasha" initials="AS" userId="S::ets@ornl.gov::d67c2eea-89d4-45fa-9ce0-c1ad439feab6" providerId="AD"/>
  <p188:author id="{8930B8A8-CD03-9486-2884-9D09EC6E71C2}" name="Xu, Guanhao" initials="GX" userId="S::ggx@ornl.gov::18c8a180-c310-48c9-ac4d-26b2a3c020bf" providerId="AD"/>
  <p188:author id="{1E5F47DA-2579-3798-EC2C-38BAC74B16AE}" name="Wang, Ross" initials="RW" userId="S::4cw@ornl.gov::6c1b3091-d4d7-488c-8d70-20d3395dbc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C00"/>
    <a:srgbClr val="FEA900"/>
    <a:srgbClr val="DBF9C5"/>
    <a:srgbClr val="D5F0FF"/>
    <a:srgbClr val="28A351"/>
    <a:srgbClr val="B9E6FF"/>
    <a:srgbClr val="FFFF9F"/>
    <a:srgbClr val="FFFFE1"/>
    <a:srgbClr val="DDDDDD"/>
    <a:srgbClr val="E5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oj, Abhilasha" userId="d67c2eea-89d4-45fa-9ce0-c1ad439feab6" providerId="ADAL" clId="{1F9C6C7C-1283-4544-9D6E-4D9C42D7FCA5}"/>
    <pc:docChg chg="modSld">
      <pc:chgData name="Saroj, Abhilasha" userId="d67c2eea-89d4-45fa-9ce0-c1ad439feab6" providerId="ADAL" clId="{1F9C6C7C-1283-4544-9D6E-4D9C42D7FCA5}" dt="2026-08-31T14:16:23.747" v="5" actId="20577"/>
      <pc:docMkLst>
        <pc:docMk/>
      </pc:docMkLst>
      <pc:sldChg chg="modSp mod">
        <pc:chgData name="Saroj, Abhilasha" userId="d67c2eea-89d4-45fa-9ce0-c1ad439feab6" providerId="ADAL" clId="{1F9C6C7C-1283-4544-9D6E-4D9C42D7FCA5}" dt="2026-08-31T14:16:23.747" v="5" actId="20577"/>
        <pc:sldMkLst>
          <pc:docMk/>
          <pc:sldMk cId="2792820226" sldId="2147481392"/>
        </pc:sldMkLst>
        <pc:spChg chg="mod">
          <ac:chgData name="Saroj, Abhilasha" userId="d67c2eea-89d4-45fa-9ce0-c1ad439feab6" providerId="ADAL" clId="{1F9C6C7C-1283-4544-9D6E-4D9C42D7FCA5}" dt="2026-08-31T14:16:23.747" v="5" actId="20577"/>
          <ac:spMkLst>
            <pc:docMk/>
            <pc:sldMk cId="2792820226" sldId="2147481392"/>
            <ac:spMk id="7" creationId="{C90ABA93-06F8-64AA-8B34-4AEEC282285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F454D-A2FB-E28F-62C2-050A837E17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6BDF-7ADA-716C-F5CA-D157A094BB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14C3F-0AF5-DA4C-84F9-3990FF0B58A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7AF2-C6EF-69B3-EBC0-F3BECE6632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AEBCA-6ABE-1DFD-7AA8-A3B2F1B63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AB913-EDAA-C746-870D-9B7877FA5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90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D4C33-E834-184F-A85B-4B1A7D742F8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A2CD3-FB95-D94F-9F04-F9F995EAB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3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22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4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F897-8E6B-4233-8FF7-6DF26F51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A41B9-FB57-93FA-0767-B2A130F25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2A1F4-E1D2-9DEB-2C7A-692C2257A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EC6D-A765-5458-53AE-54ADBF2EC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EA2CD3-FB95-D94F-9F04-F9F995EAB8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16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33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23FB-6466-C3B2-136B-CCA02BDE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B543B-8641-BAEB-C60D-6ABA53B11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10D7E-B301-E06E-8293-BCF58AD4D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97241-F97F-E851-1EB9-34435D4E6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EA2CD3-FB95-D94F-9F04-F9F995EAB8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58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high angle view of a city&#10;&#10;Description automatically generated">
            <a:extLst>
              <a:ext uri="{FF2B5EF4-FFF2-40B4-BE49-F238E27FC236}">
                <a16:creationId xmlns:a16="http://schemas.microsoft.com/office/drawing/2014/main" id="{01F17512-BEEB-E940-3B9F-9FDBDB2121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/>
          <p:nvPr userDrawn="1"/>
        </p:nvSpPr>
        <p:spPr>
          <a:xfrm>
            <a:off x="896615" y="843778"/>
            <a:ext cx="5199385" cy="5199385"/>
          </a:xfrm>
          <a:prstGeom prst="rect">
            <a:avLst/>
          </a:prstGeom>
          <a:solidFill>
            <a:schemeClr val="bg1">
              <a:alpha val="743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  <a:ea typeface="Roboto" panose="02000000000000000000" pitchFamily="2" charset="0"/>
            </a:endParaRPr>
          </a:p>
        </p:txBody>
      </p:sp>
      <p:sp>
        <p:nvSpPr>
          <p:cNvPr id="1989" name="Title 1">
            <a:extLst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50" y="2254309"/>
            <a:ext cx="451713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90" name="Subtitle 2">
            <a:extLst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91" name="Text Placeholder 1961">
            <a:extLst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92" name="Text Placeholder 1963">
            <a:extLst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74748"/>
              </a:solidFill>
              <a:latin typeface="Aptos" panose="020B0004020202020204" pitchFamily="34" charset="0"/>
            </a:endParaRPr>
          </a:p>
        </p:txBody>
      </p:sp>
      <p:sp>
        <p:nvSpPr>
          <p:cNvPr id="1994" name="Text Placeholder 47">
            <a:extLst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995" name="Group 1994">
            <a:extLst>
              <a:ext uri="{FF2B5EF4-FFF2-40B4-BE49-F238E27FC236}">
                <a16:creationId xmlns:a16="http://schemas.microsoft.com/office/drawing/2014/main" id="{1F4B6682-1CD5-4D07-BAEB-03195C2FB91D}"/>
              </a:ext>
            </a:extLst>
          </p:cNvPr>
          <p:cNvGrpSpPr/>
          <p:nvPr userDrawn="1"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1996" name="Picture 1995">
              <a:extLst>
                <a:ext uri="{FF2B5EF4-FFF2-40B4-BE49-F238E27FC236}">
                  <a16:creationId xmlns:a16="http://schemas.microsoft.com/office/drawing/2014/main" id="{E499D9F2-455D-24ED-C934-5DC3E3908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</p:spPr>
        </p:pic>
        <p:sp>
          <p:nvSpPr>
            <p:cNvPr id="1997" name="TextBox 1996">
              <a:extLst>
                <a:ext uri="{FF2B5EF4-FFF2-40B4-BE49-F238E27FC236}">
                  <a16:creationId xmlns:a16="http://schemas.microsoft.com/office/drawing/2014/main" id="{94A5DA57-E73A-E843-58FE-CFA5666E7A14}"/>
                </a:ext>
              </a:extLst>
            </p:cNvPr>
            <p:cNvSpPr txBox="1"/>
            <p:nvPr userDrawn="1"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>
                  <a:solidFill>
                    <a:schemeClr val="tx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>
                  <a:solidFill>
                    <a:schemeClr val="tx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</a:br>
              <a:r>
                <a:rPr lang="en-US" sz="900" b="0">
                  <a:solidFill>
                    <a:schemeClr val="tx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31D47623-818A-705B-B821-F058B0BC95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5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25B3089-0A48-0AC4-08EB-C9D35463AC28}"/>
              </a:ext>
            </a:extLst>
          </p:cNvPr>
          <p:cNvSpPr/>
          <p:nvPr userDrawn="1"/>
        </p:nvSpPr>
        <p:spPr>
          <a:xfrm>
            <a:off x="385763" y="6015038"/>
            <a:ext cx="6899620" cy="575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8CF54AA-7F0F-038A-AAAF-AD02F6AA5A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96615 w 12192000"/>
              <a:gd name="connsiteY0" fmla="*/ 829307 h 6858000"/>
              <a:gd name="connsiteX1" fmla="*/ 896615 w 12192000"/>
              <a:gd name="connsiteY1" fmla="*/ 6028692 h 6858000"/>
              <a:gd name="connsiteX2" fmla="*/ 6096000 w 12192000"/>
              <a:gd name="connsiteY2" fmla="*/ 6028692 h 6858000"/>
              <a:gd name="connsiteX3" fmla="*/ 6096000 w 12192000"/>
              <a:gd name="connsiteY3" fmla="*/ 82930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896615" y="829307"/>
                </a:moveTo>
                <a:lnTo>
                  <a:pt x="896615" y="6028692"/>
                </a:lnTo>
                <a:lnTo>
                  <a:pt x="6096000" y="6028692"/>
                </a:lnTo>
                <a:lnTo>
                  <a:pt x="6096000" y="82930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B6A4265-6FDC-7301-BD87-6CE0C2335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50" y="2254309"/>
            <a:ext cx="45180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" name="Text Placeholder 1961">
            <a:extLst>
              <a:ext uri="{FF2B5EF4-FFF2-40B4-BE49-F238E27FC236}">
                <a16:creationId xmlns:a16="http://schemas.microsoft.com/office/drawing/2014/main" id="{1061D354-0A2B-B951-F1BE-22D610DF3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80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9E34D55-5962-D71E-5F14-F58404B73863}"/>
              </a:ext>
            </a:extLst>
          </p:cNvPr>
          <p:cNvGrpSpPr/>
          <p:nvPr userDrawn="1"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4967025-85C6-1E53-9051-CBBA63AE1D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432B67B-E65C-8C4D-ECEE-0E0F031F2333}"/>
                </a:ext>
              </a:extLst>
            </p:cNvPr>
            <p:cNvSpPr txBox="1"/>
            <p:nvPr userDrawn="1"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>
                  <a:solidFill>
                    <a:schemeClr val="tx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>
                  <a:solidFill>
                    <a:schemeClr val="tx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</a:br>
              <a:r>
                <a:rPr lang="en-US" sz="900" b="0">
                  <a:solidFill>
                    <a:schemeClr val="tx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767997A1-375F-1726-DF9D-576251F05B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sp>
        <p:nvSpPr>
          <p:cNvPr id="7" name="Text Placeholder 1963">
            <a:extLst>
              <a:ext uri="{FF2B5EF4-FFF2-40B4-BE49-F238E27FC236}">
                <a16:creationId xmlns:a16="http://schemas.microsoft.com/office/drawing/2014/main" id="{3B1CF4E8-BDC8-B225-DB1D-63D508EC38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67FCB669-B9C0-1E9C-516B-D8A804C4C3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A6F6DA4-481A-E606-D7BA-9C2165FE3E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8004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300" b="1" spc="3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7B51F-DF85-E9E0-712B-297B83E802F9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7474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30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85">
            <a:extLst>
              <a:ext uri="{FF2B5EF4-FFF2-40B4-BE49-F238E27FC236}">
                <a16:creationId xmlns:a16="http://schemas.microsoft.com/office/drawing/2014/main" id="{B10B79AB-DA35-C9D9-2529-6A8AA0E50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1566" r="18851"/>
          <a:stretch/>
        </p:blipFill>
        <p:spPr>
          <a:xfrm rot="10800000">
            <a:off x="-1" y="0"/>
            <a:ext cx="6045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29654C-4DCE-CBB4-4BA7-74D0EC3EB963}"/>
              </a:ext>
            </a:extLst>
          </p:cNvPr>
          <p:cNvGrpSpPr/>
          <p:nvPr userDrawn="1"/>
        </p:nvGrpSpPr>
        <p:grpSpPr>
          <a:xfrm>
            <a:off x="897656" y="6161197"/>
            <a:ext cx="4842685" cy="369332"/>
            <a:chOff x="2384568" y="6419574"/>
            <a:chExt cx="4161723" cy="317398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E739D28-04EF-E5F5-AE3E-05983A573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A706AB-C5B5-40F2-B756-AD0F7D731AE5}"/>
                </a:ext>
              </a:extLst>
            </p:cNvPr>
            <p:cNvSpPr txBox="1"/>
            <p:nvPr userDrawn="1"/>
          </p:nvSpPr>
          <p:spPr>
            <a:xfrm>
              <a:off x="3588247" y="6419574"/>
              <a:ext cx="2958044" cy="317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</a:br>
              <a: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45200" y="0"/>
            <a:ext cx="6146800" cy="6858000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3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0FE843FE-B2D6-28A8-6229-2F4F14E7EA05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5609063 w 12192000"/>
              <a:gd name="connsiteY5" fmla="*/ 1505414 h 6858000"/>
              <a:gd name="connsiteX6" fmla="*/ 5609063 w 12192000"/>
              <a:gd name="connsiteY6" fmla="*/ 5352586 h 6858000"/>
              <a:gd name="connsiteX7" fmla="*/ 11452302 w 12192000"/>
              <a:gd name="connsiteY7" fmla="*/ 5352586 h 6858000"/>
              <a:gd name="connsiteX8" fmla="*/ 11452302 w 12192000"/>
              <a:gd name="connsiteY8" fmla="*/ 1505414 h 6858000"/>
              <a:gd name="connsiteX9" fmla="*/ 5609063 w 12192000"/>
              <a:gd name="connsiteY9" fmla="*/ 15054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29654C-4DCE-CBB4-4BA7-74D0EC3EB963}"/>
              </a:ext>
            </a:extLst>
          </p:cNvPr>
          <p:cNvGrpSpPr/>
          <p:nvPr userDrawn="1"/>
        </p:nvGrpSpPr>
        <p:grpSpPr>
          <a:xfrm>
            <a:off x="897656" y="6161197"/>
            <a:ext cx="4842685" cy="369332"/>
            <a:chOff x="2384568" y="6419574"/>
            <a:chExt cx="4161723" cy="317398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E739D28-04EF-E5F5-AE3E-05983A573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A706AB-C5B5-40F2-B756-AD0F7D731AE5}"/>
                </a:ext>
              </a:extLst>
            </p:cNvPr>
            <p:cNvSpPr txBox="1"/>
            <p:nvPr userDrawn="1"/>
          </p:nvSpPr>
          <p:spPr>
            <a:xfrm>
              <a:off x="3588247" y="6419574"/>
              <a:ext cx="2958044" cy="317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</a:br>
              <a: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09063" y="1516565"/>
            <a:ext cx="5843239" cy="3836021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285">
            <a:extLst>
              <a:ext uri="{FF2B5EF4-FFF2-40B4-BE49-F238E27FC236}">
                <a16:creationId xmlns:a16="http://schemas.microsoft.com/office/drawing/2014/main" id="{A95873F9-24C5-691B-E0D0-B31D39B7FB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656" y="2292076"/>
            <a:ext cx="103966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6" y="4019391"/>
            <a:ext cx="103966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6" y="1880997"/>
            <a:ext cx="103966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656" y="4371534"/>
            <a:ext cx="10396685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29654C-4DCE-CBB4-4BA7-74D0EC3EB963}"/>
              </a:ext>
            </a:extLst>
          </p:cNvPr>
          <p:cNvGrpSpPr/>
          <p:nvPr userDrawn="1"/>
        </p:nvGrpSpPr>
        <p:grpSpPr>
          <a:xfrm>
            <a:off x="897656" y="6161197"/>
            <a:ext cx="4842685" cy="369332"/>
            <a:chOff x="2384568" y="6419574"/>
            <a:chExt cx="4161723" cy="317398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E739D28-04EF-E5F5-AE3E-05983A573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A706AB-C5B5-40F2-B756-AD0F7D731AE5}"/>
                </a:ext>
              </a:extLst>
            </p:cNvPr>
            <p:cNvSpPr txBox="1"/>
            <p:nvPr userDrawn="1"/>
          </p:nvSpPr>
          <p:spPr>
            <a:xfrm>
              <a:off x="3588247" y="6419574"/>
              <a:ext cx="2958044" cy="317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</a:br>
              <a:r>
                <a:rPr lang="en-US" sz="900" b="0">
                  <a:solidFill>
                    <a:schemeClr val="bg1"/>
                  </a:solidFill>
                  <a:latin typeface="Aptos" panose="020B0004020202020204" pitchFamily="34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656" y="4881013"/>
            <a:ext cx="10396685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A0731A8F-A5F9-DD23-C897-CABCBA301C32}"/>
              </a:ext>
            </a:extLst>
          </p:cNvPr>
          <p:cNvSpPr/>
          <p:nvPr userDrawn="1"/>
        </p:nvSpPr>
        <p:spPr>
          <a:xfrm>
            <a:off x="0" y="2874040"/>
            <a:ext cx="12192000" cy="3983959"/>
          </a:xfrm>
          <a:custGeom>
            <a:avLst/>
            <a:gdLst>
              <a:gd name="connsiteX0" fmla="*/ 0 w 12192000"/>
              <a:gd name="connsiteY0" fmla="*/ 0 h 3728466"/>
              <a:gd name="connsiteX1" fmla="*/ 12192000 w 12192000"/>
              <a:gd name="connsiteY1" fmla="*/ 0 h 3728466"/>
              <a:gd name="connsiteX2" fmla="*/ 12192000 w 12192000"/>
              <a:gd name="connsiteY2" fmla="*/ 3728466 h 3728466"/>
              <a:gd name="connsiteX3" fmla="*/ 0 w 12192000"/>
              <a:gd name="connsiteY3" fmla="*/ 3728466 h 372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28466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1" name="Picture Placeholder 360">
            <a:extLst>
              <a:ext uri="{FF2B5EF4-FFF2-40B4-BE49-F238E27FC236}">
                <a16:creationId xmlns:a16="http://schemas.microsoft.com/office/drawing/2014/main" id="{BDA3E75D-82B9-D08B-2F03-A683518AC7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28968" y="1647919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62" name="Picture Placeholder 360">
            <a:extLst>
              <a:ext uri="{FF2B5EF4-FFF2-40B4-BE49-F238E27FC236}">
                <a16:creationId xmlns:a16="http://schemas.microsoft.com/office/drawing/2014/main" id="{B61B4DFE-D0E9-B57A-176A-09A1C664C9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99025" y="1654993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63" name="Picture Placeholder 360">
            <a:extLst>
              <a:ext uri="{FF2B5EF4-FFF2-40B4-BE49-F238E27FC236}">
                <a16:creationId xmlns:a16="http://schemas.microsoft.com/office/drawing/2014/main" id="{174E554B-4BD8-EF29-58CE-4FB93A18B3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8997" y="1677066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6634D6-1ACC-26AC-A117-291B7F184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/>
          <a:p>
            <a:r>
              <a:rPr lang="en-US"/>
              <a:t>One-sentence headline with the main takeaway message </a:t>
            </a:r>
            <a:br>
              <a:rPr lang="en-US"/>
            </a:br>
            <a:r>
              <a:rPr lang="en-US"/>
              <a:t>for the slide; no longer than two lines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6D4833-11C2-F073-A788-EE5CF0875463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39855A-2E65-D041-0145-9228A25DEC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87DB2D28-593F-795D-4528-4F36687F3F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30374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7376F770-679C-5A79-745B-C16311760F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BE984742-C45A-DB0D-15F8-E82D7B9C2F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83421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</p:spTree>
    <p:extLst>
      <p:ext uri="{BB962C8B-B14F-4D97-AF65-F5344CB8AC3E}">
        <p14:creationId xmlns:p14="http://schemas.microsoft.com/office/powerpoint/2010/main" val="206819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with the main takeaway message </a:t>
            </a:r>
            <a:br>
              <a:rPr lang="en-US"/>
            </a:br>
            <a:r>
              <a:rPr lang="en-US"/>
              <a:t>for the slide; no longer than two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9F7CA-63AC-1736-17E3-F8C40F6055EC}"/>
              </a:ext>
            </a:extLst>
          </p:cNvPr>
          <p:cNvSpPr/>
          <p:nvPr userDrawn="1"/>
        </p:nvSpPr>
        <p:spPr>
          <a:xfrm>
            <a:off x="1963516" y="1371576"/>
            <a:ext cx="1743982" cy="1485470"/>
          </a:xfrm>
          <a:prstGeom prst="rect">
            <a:avLst/>
          </a:prstGeom>
          <a:solidFill>
            <a:schemeClr val="accent4"/>
          </a:solidFill>
          <a:ln w="4048" cap="flat">
            <a:noFill/>
            <a:prstDash val="solid"/>
            <a:miter/>
          </a:ln>
        </p:spPr>
        <p:txBody>
          <a:bodyPr lIns="164592" rtlCol="0" anchor="ctr"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4D3E8-F858-C461-E97C-68927EB71CC6}"/>
              </a:ext>
            </a:extLst>
          </p:cNvPr>
          <p:cNvSpPr/>
          <p:nvPr userDrawn="1"/>
        </p:nvSpPr>
        <p:spPr>
          <a:xfrm>
            <a:off x="3707492" y="3038912"/>
            <a:ext cx="1743982" cy="1485470"/>
          </a:xfrm>
          <a:prstGeom prst="rect">
            <a:avLst/>
          </a:prstGeom>
          <a:solidFill>
            <a:schemeClr val="accent5"/>
          </a:solidFill>
          <a:ln w="4048" cap="flat">
            <a:noFill/>
            <a:prstDash val="solid"/>
            <a:miter/>
          </a:ln>
        </p:spPr>
        <p:txBody>
          <a:bodyPr lIns="164592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38164-6148-444B-7F01-D298BA0E2AB8}"/>
              </a:ext>
            </a:extLst>
          </p:cNvPr>
          <p:cNvSpPr/>
          <p:nvPr userDrawn="1"/>
        </p:nvSpPr>
        <p:spPr>
          <a:xfrm>
            <a:off x="5452154" y="4708229"/>
            <a:ext cx="1743982" cy="1485470"/>
          </a:xfrm>
          <a:prstGeom prst="rect">
            <a:avLst/>
          </a:prstGeom>
          <a:solidFill>
            <a:schemeClr val="bg2"/>
          </a:solidFill>
          <a:ln w="4048" cap="flat">
            <a:noFill/>
            <a:prstDash val="solid"/>
            <a:miter/>
          </a:ln>
        </p:spPr>
        <p:txBody>
          <a:bodyPr lIns="164592" rtlCol="0" anchor="ctr"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Picture Placeholder 122">
            <a:extLst>
              <a:ext uri="{FF2B5EF4-FFF2-40B4-BE49-F238E27FC236}">
                <a16:creationId xmlns:a16="http://schemas.microsoft.com/office/drawing/2014/main" id="{87D78755-2DCD-D8CC-0E1B-26B8798C9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07498" y="1371575"/>
            <a:ext cx="3075236" cy="148532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6CF92BF-DF64-B705-2535-AE3730B97B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62830" y="1371005"/>
            <a:ext cx="1744662" cy="1485900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310FC7CC-84CC-43A4-5964-07BD10E7DE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492" y="3038912"/>
            <a:ext cx="1744662" cy="1485900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D641646-00A1-FBA9-C51B-B35A8988EB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1474" y="4708229"/>
            <a:ext cx="1744662" cy="1485900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32" name="Picture Placeholder 122">
            <a:extLst>
              <a:ext uri="{FF2B5EF4-FFF2-40B4-BE49-F238E27FC236}">
                <a16:creationId xmlns:a16="http://schemas.microsoft.com/office/drawing/2014/main" id="{A646BC9C-4F8B-B5BA-4137-4E5CE8FA2E8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51474" y="3039053"/>
            <a:ext cx="3075236" cy="148532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3" name="Picture Placeholder 122">
            <a:extLst>
              <a:ext uri="{FF2B5EF4-FFF2-40B4-BE49-F238E27FC236}">
                <a16:creationId xmlns:a16="http://schemas.microsoft.com/office/drawing/2014/main" id="{30C68DC1-70B2-C7B0-A2FE-80122E4F85A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196136" y="4707799"/>
            <a:ext cx="3075236" cy="148532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306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with the main takeaway message </a:t>
            </a:r>
            <a:br>
              <a:rPr lang="en-US"/>
            </a:br>
            <a:r>
              <a:rPr lang="en-US"/>
              <a:t>for the slide; no longer than two lines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5008AE-AF98-3C15-B8F6-60A18A5008F0}"/>
              </a:ext>
            </a:extLst>
          </p:cNvPr>
          <p:cNvGrpSpPr/>
          <p:nvPr userDrawn="1"/>
        </p:nvGrpSpPr>
        <p:grpSpPr>
          <a:xfrm>
            <a:off x="2203979" y="1585463"/>
            <a:ext cx="7815843" cy="4246358"/>
            <a:chOff x="780349" y="1433063"/>
            <a:chExt cx="7815843" cy="424635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7F43B96-1CD3-BB77-5F30-8B178FE868E5}"/>
                </a:ext>
              </a:extLst>
            </p:cNvPr>
            <p:cNvSpPr/>
            <p:nvPr userDrawn="1"/>
          </p:nvSpPr>
          <p:spPr>
            <a:xfrm>
              <a:off x="780349" y="1434305"/>
              <a:ext cx="2274349" cy="1959750"/>
            </a:xfrm>
            <a:prstGeom prst="rect">
              <a:avLst/>
            </a:prstGeom>
            <a:solidFill>
              <a:schemeClr val="accent6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760AC7-AF8F-5A64-B770-6C66D6024108}"/>
                </a:ext>
              </a:extLst>
            </p:cNvPr>
            <p:cNvSpPr/>
            <p:nvPr userDrawn="1"/>
          </p:nvSpPr>
          <p:spPr>
            <a:xfrm>
              <a:off x="780349" y="3719671"/>
              <a:ext cx="2274349" cy="1959750"/>
            </a:xfrm>
            <a:prstGeom prst="rect">
              <a:avLst/>
            </a:prstGeom>
            <a:solidFill>
              <a:schemeClr val="accent3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BE7F3B-47B0-5A09-31F2-EFD376D51B9B}"/>
                </a:ext>
              </a:extLst>
            </p:cNvPr>
            <p:cNvSpPr/>
            <p:nvPr userDrawn="1"/>
          </p:nvSpPr>
          <p:spPr>
            <a:xfrm>
              <a:off x="3551096" y="1433063"/>
              <a:ext cx="2274349" cy="1959750"/>
            </a:xfrm>
            <a:prstGeom prst="rect">
              <a:avLst/>
            </a:prstGeom>
            <a:solidFill>
              <a:schemeClr val="tx2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3299A0-BDBF-BE28-862B-C422B176BE66}"/>
                </a:ext>
              </a:extLst>
            </p:cNvPr>
            <p:cNvSpPr/>
            <p:nvPr userDrawn="1"/>
          </p:nvSpPr>
          <p:spPr>
            <a:xfrm>
              <a:off x="3551096" y="3718429"/>
              <a:ext cx="2274349" cy="1959750"/>
            </a:xfrm>
            <a:prstGeom prst="rect">
              <a:avLst/>
            </a:prstGeom>
            <a:solidFill>
              <a:schemeClr val="accent4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44CB34-5815-9A8C-3063-E7BF4F2B5C38}"/>
                </a:ext>
              </a:extLst>
            </p:cNvPr>
            <p:cNvSpPr/>
            <p:nvPr userDrawn="1"/>
          </p:nvSpPr>
          <p:spPr>
            <a:xfrm>
              <a:off x="6321843" y="1433063"/>
              <a:ext cx="2274349" cy="1959750"/>
            </a:xfrm>
            <a:prstGeom prst="rect">
              <a:avLst/>
            </a:prstGeom>
            <a:solidFill>
              <a:schemeClr val="accent1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31E52F-E701-6AAC-9BB9-51A5A8FB84A9}"/>
                </a:ext>
              </a:extLst>
            </p:cNvPr>
            <p:cNvSpPr/>
            <p:nvPr userDrawn="1"/>
          </p:nvSpPr>
          <p:spPr>
            <a:xfrm>
              <a:off x="6321843" y="3718429"/>
              <a:ext cx="2274349" cy="1959750"/>
            </a:xfrm>
            <a:prstGeom prst="rect">
              <a:avLst/>
            </a:prstGeom>
            <a:solidFill>
              <a:schemeClr val="accent5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</a:endParaRPr>
            </a:p>
          </p:txBody>
        </p:sp>
      </p:grp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36171ABC-66DF-F07C-D046-54184D515F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36835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2EB4EF4A-3E01-9D6A-F89D-A57C7AC8A6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8495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1C98F391-58FB-C7BD-2E51-C4161A820F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81709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BDF0FE2A-B105-04D8-2B46-0789A95633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36835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1569E2C5-E294-39CA-368B-18D97DE1FF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78495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C88C4F21-87EB-A333-00CB-B3AC5AA1D1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81709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</p:spTree>
    <p:extLst>
      <p:ext uri="{BB962C8B-B14F-4D97-AF65-F5344CB8AC3E}">
        <p14:creationId xmlns:p14="http://schemas.microsoft.com/office/powerpoint/2010/main" val="123817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with the main takeaway message </a:t>
            </a:r>
            <a:br>
              <a:rPr lang="en-US"/>
            </a:br>
            <a:r>
              <a:rPr lang="en-US"/>
              <a:t>for the slide; no longer than two lines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5008AE-AF98-3C15-B8F6-60A18A5008F0}"/>
              </a:ext>
            </a:extLst>
          </p:cNvPr>
          <p:cNvGrpSpPr/>
          <p:nvPr userDrawn="1"/>
        </p:nvGrpSpPr>
        <p:grpSpPr>
          <a:xfrm>
            <a:off x="798513" y="1585463"/>
            <a:ext cx="10594975" cy="4267783"/>
            <a:chOff x="780349" y="1433063"/>
            <a:chExt cx="10594975" cy="42677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7F43B96-1CD3-BB77-5F30-8B178FE868E5}"/>
                </a:ext>
              </a:extLst>
            </p:cNvPr>
            <p:cNvSpPr/>
            <p:nvPr userDrawn="1"/>
          </p:nvSpPr>
          <p:spPr>
            <a:xfrm>
              <a:off x="780349" y="1434305"/>
              <a:ext cx="2274349" cy="1959750"/>
            </a:xfrm>
            <a:prstGeom prst="rect">
              <a:avLst/>
            </a:prstGeom>
            <a:solidFill>
              <a:schemeClr val="accent6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760AC7-AF8F-5A64-B770-6C66D6024108}"/>
                </a:ext>
              </a:extLst>
            </p:cNvPr>
            <p:cNvSpPr/>
            <p:nvPr userDrawn="1"/>
          </p:nvSpPr>
          <p:spPr>
            <a:xfrm>
              <a:off x="780349" y="3719671"/>
              <a:ext cx="2274349" cy="1959750"/>
            </a:xfrm>
            <a:prstGeom prst="rect">
              <a:avLst/>
            </a:prstGeom>
            <a:solidFill>
              <a:schemeClr val="accent3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BE7F3B-47B0-5A09-31F2-EFD376D51B9B}"/>
                </a:ext>
              </a:extLst>
            </p:cNvPr>
            <p:cNvSpPr/>
            <p:nvPr userDrawn="1"/>
          </p:nvSpPr>
          <p:spPr>
            <a:xfrm>
              <a:off x="3551096" y="1433063"/>
              <a:ext cx="2274349" cy="1959750"/>
            </a:xfrm>
            <a:prstGeom prst="rect">
              <a:avLst/>
            </a:prstGeom>
            <a:solidFill>
              <a:schemeClr val="tx2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3299A0-BDBF-BE28-862B-C422B176BE66}"/>
                </a:ext>
              </a:extLst>
            </p:cNvPr>
            <p:cNvSpPr/>
            <p:nvPr userDrawn="1"/>
          </p:nvSpPr>
          <p:spPr>
            <a:xfrm>
              <a:off x="3551096" y="3718429"/>
              <a:ext cx="2274349" cy="1959750"/>
            </a:xfrm>
            <a:prstGeom prst="rect">
              <a:avLst/>
            </a:prstGeom>
            <a:solidFill>
              <a:schemeClr val="accent4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44CB34-5815-9A8C-3063-E7BF4F2B5C38}"/>
                </a:ext>
              </a:extLst>
            </p:cNvPr>
            <p:cNvSpPr/>
            <p:nvPr userDrawn="1"/>
          </p:nvSpPr>
          <p:spPr>
            <a:xfrm>
              <a:off x="6321843" y="1433063"/>
              <a:ext cx="2274349" cy="1959750"/>
            </a:xfrm>
            <a:prstGeom prst="rect">
              <a:avLst/>
            </a:prstGeom>
            <a:solidFill>
              <a:schemeClr val="accent1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lang="en-US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31E52F-E701-6AAC-9BB9-51A5A8FB84A9}"/>
                </a:ext>
              </a:extLst>
            </p:cNvPr>
            <p:cNvSpPr/>
            <p:nvPr userDrawn="1"/>
          </p:nvSpPr>
          <p:spPr>
            <a:xfrm>
              <a:off x="6321843" y="3718429"/>
              <a:ext cx="2274349" cy="1959750"/>
            </a:xfrm>
            <a:prstGeom prst="rect">
              <a:avLst/>
            </a:prstGeom>
            <a:solidFill>
              <a:schemeClr val="accent5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CAE9AC-EFB1-7E73-0ED8-BC44CB185878}"/>
                </a:ext>
              </a:extLst>
            </p:cNvPr>
            <p:cNvSpPr/>
            <p:nvPr userDrawn="1"/>
          </p:nvSpPr>
          <p:spPr>
            <a:xfrm>
              <a:off x="9100975" y="1455730"/>
              <a:ext cx="2274349" cy="1959750"/>
            </a:xfrm>
            <a:prstGeom prst="rect">
              <a:avLst/>
            </a:prstGeom>
            <a:solidFill>
              <a:schemeClr val="accent2"/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12171C-E3F5-2AAE-0D75-3994A247F379}"/>
                </a:ext>
              </a:extLst>
            </p:cNvPr>
            <p:cNvSpPr/>
            <p:nvPr userDrawn="1"/>
          </p:nvSpPr>
          <p:spPr>
            <a:xfrm>
              <a:off x="9100975" y="3741096"/>
              <a:ext cx="2274349" cy="1959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186" cap="flat">
              <a:noFill/>
              <a:prstDash val="solid"/>
              <a:miter/>
            </a:ln>
          </p:spPr>
          <p:txBody>
            <a:bodyPr lIns="182880" tIns="91440" rIns="182880" bIns="91440" rtlCol="0" anchor="ctr"/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spcAft>
                  <a:spcPts val="60"/>
                </a:spcAft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36171ABC-66DF-F07C-D046-54184D515F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369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2EB4EF4A-3E01-9D6A-F89D-A57C7AC8A6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3029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1C98F391-58FB-C7BD-2E51-C4161A820F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6243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74F0D0D5-B4D4-A3D0-7A1B-3972E6F815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17903" y="1608129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BDF0FE2A-B105-04D8-2B46-0789A95633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1369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1569E2C5-E294-39CA-368B-18D97DE1FF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3029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C88C4F21-87EB-A333-00CB-B3AC5AA1D1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76243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B8A8C8A9-B49C-84DB-6E38-A2E5467B00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7903" y="3893496"/>
            <a:ext cx="2224560" cy="1937083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section</a:t>
            </a:r>
          </a:p>
        </p:txBody>
      </p:sp>
    </p:spTree>
    <p:extLst>
      <p:ext uri="{BB962C8B-B14F-4D97-AF65-F5344CB8AC3E}">
        <p14:creationId xmlns:p14="http://schemas.microsoft.com/office/powerpoint/2010/main" val="337345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FCAA6D76-9D9F-EEEC-3A19-B8672A58A5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5400" y="-6350"/>
            <a:ext cx="4546600" cy="215582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1" name="Picture Placeholder 120">
            <a:extLst>
              <a:ext uri="{FF2B5EF4-FFF2-40B4-BE49-F238E27FC236}">
                <a16:creationId xmlns:a16="http://schemas.microsoft.com/office/drawing/2014/main" id="{374474B3-1A16-3799-2DA6-5E1F9B62F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5400" y="2352675"/>
            <a:ext cx="4546600" cy="214947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0285EA67-185C-FA9B-F112-0DEA71BAF9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5400" y="4703763"/>
            <a:ext cx="4546600" cy="21542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1006475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One-sentence headline stating </a:t>
            </a:r>
            <a:br>
              <a:rPr lang="en-US"/>
            </a:br>
            <a:r>
              <a:rPr lang="en-US"/>
              <a:t>the main takeaway message 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4693" y="1817559"/>
            <a:ext cx="6763894" cy="432482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6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5F232B-0EDE-9AF7-8505-73A82A1D984A}"/>
              </a:ext>
            </a:extLst>
          </p:cNvPr>
          <p:cNvSpPr/>
          <p:nvPr userDrawn="1"/>
        </p:nvSpPr>
        <p:spPr>
          <a:xfrm>
            <a:off x="0" y="0"/>
            <a:ext cx="46788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3899310" cy="1900997"/>
          </a:xfrm>
        </p:spPr>
        <p:txBody>
          <a:bodyPr/>
          <a:lstStyle/>
          <a:p>
            <a:r>
              <a:rPr lang="en-US"/>
              <a:t>One-sentence headline stating </a:t>
            </a:r>
            <a:br>
              <a:rPr lang="en-US"/>
            </a:br>
            <a:r>
              <a:rPr lang="en-US"/>
              <a:t>the main takeaway message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631247"/>
            <a:ext cx="3899310" cy="3511136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0400C1-7283-FABD-80B9-45AEE1D1F5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78363" y="0"/>
            <a:ext cx="7513637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59A002-CFDF-58EF-945F-28E943618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76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reeform 141">
            <a:extLst>
              <a:ext uri="{FF2B5EF4-FFF2-40B4-BE49-F238E27FC236}">
                <a16:creationId xmlns:a16="http://schemas.microsoft.com/office/drawing/2014/main" id="{C5299A65-0A0F-7322-3425-6AD66F71B8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6" name="Picture Placeholder 135">
            <a:extLst>
              <a:ext uri="{FF2B5EF4-FFF2-40B4-BE49-F238E27FC236}">
                <a16:creationId xmlns:a16="http://schemas.microsoft.com/office/drawing/2014/main" id="{5DC2D7C4-BFF1-5433-4DFD-06CB8AACA1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2225" y="0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7" name="Picture Placeholder 135">
            <a:extLst>
              <a:ext uri="{FF2B5EF4-FFF2-40B4-BE49-F238E27FC236}">
                <a16:creationId xmlns:a16="http://schemas.microsoft.com/office/drawing/2014/main" id="{859767F7-2911-36C4-18C3-120D9FA7D6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44833" y="0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8" name="Picture Placeholder 135">
            <a:extLst>
              <a:ext uri="{FF2B5EF4-FFF2-40B4-BE49-F238E27FC236}">
                <a16:creationId xmlns:a16="http://schemas.microsoft.com/office/drawing/2014/main" id="{FC9DC632-E163-36B5-D009-C524396761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2225" y="2353563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9" name="Picture Placeholder 135">
            <a:extLst>
              <a:ext uri="{FF2B5EF4-FFF2-40B4-BE49-F238E27FC236}">
                <a16:creationId xmlns:a16="http://schemas.microsoft.com/office/drawing/2014/main" id="{99255166-5F9E-0685-2DC9-C0962F7791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44833" y="2353563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0" name="Picture Placeholder 135">
            <a:extLst>
              <a:ext uri="{FF2B5EF4-FFF2-40B4-BE49-F238E27FC236}">
                <a16:creationId xmlns:a16="http://schemas.microsoft.com/office/drawing/2014/main" id="{0FA78FC9-062C-7D60-CDA4-C25CE63F78E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42225" y="4706937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1" name="Picture Placeholder 135">
            <a:extLst>
              <a:ext uri="{FF2B5EF4-FFF2-40B4-BE49-F238E27FC236}">
                <a16:creationId xmlns:a16="http://schemas.microsoft.com/office/drawing/2014/main" id="{9521219C-7211-80DE-D33B-4B26EA6EEE9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44833" y="4706937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886397"/>
          </a:xfrm>
        </p:spPr>
        <p:txBody>
          <a:bodyPr anchor="t" anchorCtr="0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stating </a:t>
            </a:r>
            <a:br>
              <a:rPr lang="en-US"/>
            </a:br>
            <a:r>
              <a:rPr lang="en-US"/>
              <a:t>the main takeaway message 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4693" y="1817560"/>
            <a:ext cx="6763894" cy="4354640"/>
          </a:xfrm>
        </p:spPr>
        <p:txBody>
          <a:bodyPr tIns="91440" anchor="t" anchorCtr="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r>
              <a:rPr lang="en-US"/>
              <a:t>Supporting point 1</a:t>
            </a:r>
          </a:p>
          <a:p>
            <a:r>
              <a:rPr lang="en-US"/>
              <a:t>Supporting point 2</a:t>
            </a:r>
          </a:p>
          <a:p>
            <a:r>
              <a:rPr lang="en-US"/>
              <a:t>Supporting point 3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62B7F0-6B0A-3291-2731-E56176CBCD7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E7C435-1FA7-78B6-5FBF-709DE092FE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57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4013C738-DD97-6098-5C6E-69C6DA874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71230B-9536-B5A5-160D-DBECD2D26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157" y="2624569"/>
            <a:ext cx="11045686" cy="498598"/>
          </a:xfrm>
        </p:spPr>
        <p:txBody>
          <a:bodyPr anchor="t" anchorCtr="0"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stating the main takeaway</a:t>
            </a:r>
          </a:p>
        </p:txBody>
      </p:sp>
      <p:sp>
        <p:nvSpPr>
          <p:cNvPr id="320" name="Text Placeholder 368">
            <a:extLst>
              <a:ext uri="{FF2B5EF4-FFF2-40B4-BE49-F238E27FC236}">
                <a16:creationId xmlns:a16="http://schemas.microsoft.com/office/drawing/2014/main" id="{EE706859-C661-2A5C-56D3-6BE7DBBC71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069" y="3774422"/>
            <a:ext cx="11062774" cy="249299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One-sentence connected to the main takeaway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D526D-05AB-C716-46F5-6CDC1D14E2ED}"/>
              </a:ext>
            </a:extLst>
          </p:cNvPr>
          <p:cNvSpPr/>
          <p:nvPr userDrawn="1"/>
        </p:nvSpPr>
        <p:spPr>
          <a:xfrm>
            <a:off x="5668818" y="3393042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90CAB2-9585-BA89-5C2E-B28EE49E99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4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4013C738-DD97-6098-5C6E-69C6DA874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90CAB2-9585-BA89-5C2E-B28EE49E99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6029C52-FEBA-E897-C815-3A6283D16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stating the main takeaway message for the slide; no longer than two lines </a:t>
            </a:r>
          </a:p>
        </p:txBody>
      </p:sp>
    </p:spTree>
    <p:extLst>
      <p:ext uri="{BB962C8B-B14F-4D97-AF65-F5344CB8AC3E}">
        <p14:creationId xmlns:p14="http://schemas.microsoft.com/office/powerpoint/2010/main" val="841886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/>
              <a:t>One-sentence headline stating the main takeaway message for the slide; no longer than two lines </a:t>
            </a:r>
          </a:p>
        </p:txBody>
      </p:sp>
    </p:spTree>
    <p:extLst>
      <p:ext uri="{BB962C8B-B14F-4D97-AF65-F5344CB8AC3E}">
        <p14:creationId xmlns:p14="http://schemas.microsoft.com/office/powerpoint/2010/main" val="4167105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791-4F91-34B2-5F77-014A7A421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E7B4-2380-B18C-C8C1-09BD437D6B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11315194" cy="40618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900239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/>
              <a:t>One-sentence headline stating the main takeaway message for the slide; no longer than two lines </a:t>
            </a:r>
          </a:p>
        </p:txBody>
      </p:sp>
    </p:spTree>
    <p:extLst>
      <p:ext uri="{BB962C8B-B14F-4D97-AF65-F5344CB8AC3E}">
        <p14:creationId xmlns:p14="http://schemas.microsoft.com/office/powerpoint/2010/main" val="4115577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-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51529"/>
            <a:ext cx="5528426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7905" y="2151529"/>
            <a:ext cx="5534113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C3355DA-324C-FAD8-4E0B-AEAD06F3F5FE}"/>
              </a:ext>
            </a:extLst>
          </p:cNvPr>
          <p:cNvSpPr/>
          <p:nvPr/>
        </p:nvSpPr>
        <p:spPr>
          <a:xfrm>
            <a:off x="314692" y="1636672"/>
            <a:ext cx="5533588" cy="433965"/>
          </a:xfrm>
          <a:custGeom>
            <a:avLst/>
            <a:gdLst>
              <a:gd name="connsiteX0" fmla="*/ 5357305 w 5357304"/>
              <a:gd name="connsiteY0" fmla="*/ 0 h 373951"/>
              <a:gd name="connsiteX1" fmla="*/ 5357305 w 5357304"/>
              <a:gd name="connsiteY1" fmla="*/ 373951 h 373951"/>
              <a:gd name="connsiteX2" fmla="*/ 5227765 w 5357304"/>
              <a:gd name="connsiteY2" fmla="*/ 373951 h 373951"/>
              <a:gd name="connsiteX3" fmla="*/ 2843848 w 5357304"/>
              <a:gd name="connsiteY3" fmla="*/ 373951 h 373951"/>
              <a:gd name="connsiteX4" fmla="*/ 0 w 5357304"/>
              <a:gd name="connsiteY4" fmla="*/ 373951 h 373951"/>
              <a:gd name="connsiteX5" fmla="*/ 0 w 5357304"/>
              <a:gd name="connsiteY5" fmla="*/ 0 h 373951"/>
              <a:gd name="connsiteX6" fmla="*/ 2843848 w 5357304"/>
              <a:gd name="connsiteY6" fmla="*/ 0 h 373951"/>
              <a:gd name="connsiteX7" fmla="*/ 5357305 w 5357304"/>
              <a:gd name="connsiteY7" fmla="*/ 0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7304" h="373951">
                <a:moveTo>
                  <a:pt x="5357305" y="0"/>
                </a:moveTo>
                <a:lnTo>
                  <a:pt x="5357305" y="373951"/>
                </a:lnTo>
                <a:lnTo>
                  <a:pt x="5227765" y="373951"/>
                </a:lnTo>
                <a:lnTo>
                  <a:pt x="2843848" y="373951"/>
                </a:lnTo>
                <a:lnTo>
                  <a:pt x="0" y="373951"/>
                </a:lnTo>
                <a:lnTo>
                  <a:pt x="0" y="0"/>
                </a:lnTo>
                <a:lnTo>
                  <a:pt x="2843848" y="0"/>
                </a:lnTo>
                <a:lnTo>
                  <a:pt x="5357305" y="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8126676-7946-E0DD-5919-B78DBFBB13D6}"/>
              </a:ext>
            </a:extLst>
          </p:cNvPr>
          <p:cNvSpPr/>
          <p:nvPr/>
        </p:nvSpPr>
        <p:spPr>
          <a:xfrm>
            <a:off x="6238430" y="1636672"/>
            <a:ext cx="5533588" cy="433965"/>
          </a:xfrm>
          <a:custGeom>
            <a:avLst/>
            <a:gdLst>
              <a:gd name="connsiteX0" fmla="*/ 5357305 w 5357304"/>
              <a:gd name="connsiteY0" fmla="*/ 0 h 373951"/>
              <a:gd name="connsiteX1" fmla="*/ 5357305 w 5357304"/>
              <a:gd name="connsiteY1" fmla="*/ 373951 h 373951"/>
              <a:gd name="connsiteX2" fmla="*/ 5227764 w 5357304"/>
              <a:gd name="connsiteY2" fmla="*/ 373951 h 373951"/>
              <a:gd name="connsiteX3" fmla="*/ 2843848 w 5357304"/>
              <a:gd name="connsiteY3" fmla="*/ 373951 h 373951"/>
              <a:gd name="connsiteX4" fmla="*/ 0 w 5357304"/>
              <a:gd name="connsiteY4" fmla="*/ 373951 h 373951"/>
              <a:gd name="connsiteX5" fmla="*/ 0 w 5357304"/>
              <a:gd name="connsiteY5" fmla="*/ 0 h 373951"/>
              <a:gd name="connsiteX6" fmla="*/ 2843848 w 5357304"/>
              <a:gd name="connsiteY6" fmla="*/ 0 h 373951"/>
              <a:gd name="connsiteX7" fmla="*/ 5357305 w 5357304"/>
              <a:gd name="connsiteY7" fmla="*/ 0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7304" h="373951">
                <a:moveTo>
                  <a:pt x="5357305" y="0"/>
                </a:moveTo>
                <a:lnTo>
                  <a:pt x="5357305" y="373951"/>
                </a:lnTo>
                <a:lnTo>
                  <a:pt x="5227764" y="373951"/>
                </a:lnTo>
                <a:lnTo>
                  <a:pt x="2843848" y="373951"/>
                </a:lnTo>
                <a:lnTo>
                  <a:pt x="0" y="373951"/>
                </a:lnTo>
                <a:lnTo>
                  <a:pt x="0" y="0"/>
                </a:lnTo>
                <a:lnTo>
                  <a:pt x="2843848" y="0"/>
                </a:lnTo>
                <a:lnTo>
                  <a:pt x="5357305" y="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3" name="Text Placeholder 212">
            <a:extLst>
              <a:ext uri="{FF2B5EF4-FFF2-40B4-BE49-F238E27FC236}">
                <a16:creationId xmlns:a16="http://schemas.microsoft.com/office/drawing/2014/main" id="{909EEC45-74F6-4D4A-3802-30D053469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5534113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214" name="Text Placeholder 212">
            <a:extLst>
              <a:ext uri="{FF2B5EF4-FFF2-40B4-BE49-F238E27FC236}">
                <a16:creationId xmlns:a16="http://schemas.microsoft.com/office/drawing/2014/main" id="{42664C13-6E3D-7C64-6F1D-E284E4609D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429" y="1636672"/>
            <a:ext cx="5534113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</p:spTree>
    <p:extLst>
      <p:ext uri="{BB962C8B-B14F-4D97-AF65-F5344CB8AC3E}">
        <p14:creationId xmlns:p14="http://schemas.microsoft.com/office/powerpoint/2010/main" val="20008359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-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31846654-6835-CFFC-15E4-5A6E77573C13}"/>
              </a:ext>
            </a:extLst>
          </p:cNvPr>
          <p:cNvSpPr/>
          <p:nvPr/>
        </p:nvSpPr>
        <p:spPr>
          <a:xfrm>
            <a:off x="314692" y="1636672"/>
            <a:ext cx="3665806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0" name="Freeform 1799">
            <a:extLst>
              <a:ext uri="{FF2B5EF4-FFF2-40B4-BE49-F238E27FC236}">
                <a16:creationId xmlns:a16="http://schemas.microsoft.com/office/drawing/2014/main" id="{2158B643-744C-E4DD-EB4D-DA7C87CCA463}"/>
              </a:ext>
            </a:extLst>
          </p:cNvPr>
          <p:cNvSpPr/>
          <p:nvPr/>
        </p:nvSpPr>
        <p:spPr>
          <a:xfrm>
            <a:off x="8139365" y="1636672"/>
            <a:ext cx="3665806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3" name="Text Placeholder 212">
            <a:extLst>
              <a:ext uri="{FF2B5EF4-FFF2-40B4-BE49-F238E27FC236}">
                <a16:creationId xmlns:a16="http://schemas.microsoft.com/office/drawing/2014/main" id="{909EEC45-74F6-4D4A-3802-30D053469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3646421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3429" name="Text Placeholder 212">
            <a:extLst>
              <a:ext uri="{FF2B5EF4-FFF2-40B4-BE49-F238E27FC236}">
                <a16:creationId xmlns:a16="http://schemas.microsoft.com/office/drawing/2014/main" id="{853CBCD8-5D3A-0441-6161-5960D4DE2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1283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3431" name="Text Placeholder 212">
            <a:extLst>
              <a:ext uri="{FF2B5EF4-FFF2-40B4-BE49-F238E27FC236}">
                <a16:creationId xmlns:a16="http://schemas.microsoft.com/office/drawing/2014/main" id="{C31F539B-83B4-84DA-2A7A-69A0245FA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9995" y="1636713"/>
            <a:ext cx="3646421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365069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2191870"/>
            <a:ext cx="364642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2191870"/>
            <a:ext cx="364739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1401445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917575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stating the main takeaway message for the slide; no longer than two lines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22CDA623-F17D-C055-60D8-139C9924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73908" y="1647919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3347E071-335C-4249-3E65-B4125AADA3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9380" y="1654993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360">
            <a:extLst>
              <a:ext uri="{FF2B5EF4-FFF2-40B4-BE49-F238E27FC236}">
                <a16:creationId xmlns:a16="http://schemas.microsoft.com/office/drawing/2014/main" id="{3FE91602-2738-A673-EBF8-A0ACA14E65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6285" y="1677066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9403276D-5FB8-BD3C-65B5-24E0F431A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73238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1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DEAD8E05-AA79-AD7E-E31D-26EE870F8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9380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2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A7759041-293D-A1CE-7012-E2391337B1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6285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296653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-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31846654-6835-CFFC-15E4-5A6E77573C13}"/>
              </a:ext>
            </a:extLst>
          </p:cNvPr>
          <p:cNvSpPr/>
          <p:nvPr/>
        </p:nvSpPr>
        <p:spPr>
          <a:xfrm>
            <a:off x="314692" y="1636672"/>
            <a:ext cx="2755330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986" name="Freeform 985">
            <a:extLst>
              <a:ext uri="{FF2B5EF4-FFF2-40B4-BE49-F238E27FC236}">
                <a16:creationId xmlns:a16="http://schemas.microsoft.com/office/drawing/2014/main" id="{DD9191FA-8884-C2D5-4585-3E38817331A0}"/>
              </a:ext>
            </a:extLst>
          </p:cNvPr>
          <p:cNvSpPr/>
          <p:nvPr/>
        </p:nvSpPr>
        <p:spPr>
          <a:xfrm>
            <a:off x="3223131" y="1636672"/>
            <a:ext cx="2755330" cy="373951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0" name="Freeform 1799">
            <a:extLst>
              <a:ext uri="{FF2B5EF4-FFF2-40B4-BE49-F238E27FC236}">
                <a16:creationId xmlns:a16="http://schemas.microsoft.com/office/drawing/2014/main" id="{2158B643-744C-E4DD-EB4D-DA7C87CCA463}"/>
              </a:ext>
            </a:extLst>
          </p:cNvPr>
          <p:cNvSpPr/>
          <p:nvPr/>
        </p:nvSpPr>
        <p:spPr>
          <a:xfrm>
            <a:off x="6144761" y="1636672"/>
            <a:ext cx="2740760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14" name="Freeform 2613">
            <a:extLst>
              <a:ext uri="{FF2B5EF4-FFF2-40B4-BE49-F238E27FC236}">
                <a16:creationId xmlns:a16="http://schemas.microsoft.com/office/drawing/2014/main" id="{2FDB1E58-ABCD-30F4-4DE0-D0A3D27B0B3B}"/>
              </a:ext>
            </a:extLst>
          </p:cNvPr>
          <p:cNvSpPr/>
          <p:nvPr/>
        </p:nvSpPr>
        <p:spPr>
          <a:xfrm>
            <a:off x="9070721" y="1636672"/>
            <a:ext cx="2755330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0 w 2513520"/>
              <a:gd name="connsiteY1" fmla="*/ 0 h 373951"/>
              <a:gd name="connsiteX2" fmla="*/ 2513520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0" y="0"/>
                </a:lnTo>
                <a:lnTo>
                  <a:pt x="2513520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3" name="Text Placeholder 212">
            <a:extLst>
              <a:ext uri="{FF2B5EF4-FFF2-40B4-BE49-F238E27FC236}">
                <a16:creationId xmlns:a16="http://schemas.microsoft.com/office/drawing/2014/main" id="{909EEC45-74F6-4D4A-3802-30D053469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2" y="1636713"/>
            <a:ext cx="2740760" cy="433965"/>
          </a:xfrm>
        </p:spPr>
        <p:txBody>
          <a:bodyPr wrap="square" lIns="182880" tIns="91440" rIns="91440" bIns="91440">
            <a:sp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3429" name="Text Placeholder 212">
            <a:extLst>
              <a:ext uri="{FF2B5EF4-FFF2-40B4-BE49-F238E27FC236}">
                <a16:creationId xmlns:a16="http://schemas.microsoft.com/office/drawing/2014/main" id="{853CBCD8-5D3A-0441-6161-5960D4DE2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70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3431" name="Text Placeholder 212">
            <a:extLst>
              <a:ext uri="{FF2B5EF4-FFF2-40B4-BE49-F238E27FC236}">
                <a16:creationId xmlns:a16="http://schemas.microsoft.com/office/drawing/2014/main" id="{C31F539B-83B4-84DA-2A7A-69A0245FA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4761" y="1636713"/>
            <a:ext cx="2740760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3433" name="Text Placeholder 212">
            <a:extLst>
              <a:ext uri="{FF2B5EF4-FFF2-40B4-BE49-F238E27FC236}">
                <a16:creationId xmlns:a16="http://schemas.microsoft.com/office/drawing/2014/main" id="{13B81730-FDA6-818A-892D-1FB9DA8DCF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9571" y="1636713"/>
            <a:ext cx="2740760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2743968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2191870"/>
            <a:ext cx="274076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2191870"/>
            <a:ext cx="2741489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2191870"/>
            <a:ext cx="2737553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/>
              <a:t>Supporting point 1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4981882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upport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80965" y="1776677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939E5704-91D7-1C33-1BB9-D89551BB48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0965" y="3929080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18357D60-C329-E014-7EC4-02AD7930A5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21865" y="1776677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60">
            <a:extLst>
              <a:ext uri="{FF2B5EF4-FFF2-40B4-BE49-F238E27FC236}">
                <a16:creationId xmlns:a16="http://schemas.microsoft.com/office/drawing/2014/main" id="{1823B7A0-FA70-81A4-C409-2C310328D2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21865" y="3929080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8F5D4-4948-A730-AC23-EF31274A0DE1}"/>
              </a:ext>
            </a:extLst>
          </p:cNvPr>
          <p:cNvSpPr/>
          <p:nvPr/>
        </p:nvSpPr>
        <p:spPr>
          <a:xfrm>
            <a:off x="1384410" y="1758337"/>
            <a:ext cx="2199902" cy="1873809"/>
          </a:xfrm>
          <a:prstGeom prst="rect">
            <a:avLst/>
          </a:prstGeom>
          <a:solidFill>
            <a:schemeClr val="tx2"/>
          </a:solidFill>
          <a:ln w="4048" cap="flat">
            <a:noFill/>
            <a:prstDash val="solid"/>
            <a:miter/>
          </a:ln>
        </p:spPr>
        <p:txBody>
          <a:bodyPr lIns="164592" rtlCol="0" anchor="ctr"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4D16B10-4114-3D13-50FC-848A872439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4410" y="3911299"/>
            <a:ext cx="2192338" cy="1873250"/>
          </a:xfrm>
          <a:solidFill>
            <a:schemeClr val="accent5"/>
          </a:solidFill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2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69C9FFD-3BEB-F410-9877-CC941D3224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9527" y="1758896"/>
            <a:ext cx="2192338" cy="1873250"/>
          </a:xfrm>
          <a:solidFill>
            <a:schemeClr val="tx1"/>
          </a:solidFill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3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39CDA33-6D16-DEAF-0280-749663549D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9527" y="3911299"/>
            <a:ext cx="2192338" cy="1873250"/>
          </a:xfrm>
          <a:solidFill>
            <a:schemeClr val="accent4"/>
          </a:solidFill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/>
              <a:t>One-sentence headline stating the main takeaway message for the slide; no longer than two lines  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D367424-2836-F9CD-5A49-338976693C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4410" y="1758896"/>
            <a:ext cx="2192338" cy="1873250"/>
          </a:xfrm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1</a:t>
            </a:r>
          </a:p>
        </p:txBody>
      </p:sp>
    </p:spTree>
    <p:extLst>
      <p:ext uri="{BB962C8B-B14F-4D97-AF65-F5344CB8AC3E}">
        <p14:creationId xmlns:p14="http://schemas.microsoft.com/office/powerpoint/2010/main" val="9506129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igh angle view of a city&#10;&#10;Description automatically generated">
            <a:extLst>
              <a:ext uri="{FF2B5EF4-FFF2-40B4-BE49-F238E27FC236}">
                <a16:creationId xmlns:a16="http://schemas.microsoft.com/office/drawing/2014/main" id="{23DA0192-253A-9416-8E30-B9B66EE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9145" y="2258209"/>
            <a:ext cx="12210290" cy="664797"/>
          </a:xfrm>
        </p:spPr>
        <p:txBody>
          <a:bodyPr anchor="t" anchorCtr="0">
            <a:noAutofit/>
          </a:bodyPr>
          <a:lstStyle>
            <a:lvl1pPr algn="ctr">
              <a:spcBef>
                <a:spcPts val="1200"/>
              </a:spcBef>
              <a:spcAft>
                <a:spcPts val="60"/>
              </a:spcAft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One-sentence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2922742"/>
            <a:ext cx="12192000" cy="397032"/>
          </a:xfrm>
        </p:spPr>
        <p:txBody>
          <a:bodyPr tIns="91440"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2200" b="1" spc="3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ONE SENTENCE SUBTITLE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5668818" y="3468601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567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igh angle view of a city&#10;&#10;Description automatically generated">
            <a:extLst>
              <a:ext uri="{FF2B5EF4-FFF2-40B4-BE49-F238E27FC236}">
                <a16:creationId xmlns:a16="http://schemas.microsoft.com/office/drawing/2014/main" id="{23DA0192-253A-9416-8E30-B9B66EE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B10DD8E-E016-58F8-208C-69AD92BED39D}"/>
              </a:ext>
            </a:extLst>
          </p:cNvPr>
          <p:cNvSpPr/>
          <p:nvPr userDrawn="1"/>
        </p:nvSpPr>
        <p:spPr>
          <a:xfrm>
            <a:off x="0" y="0"/>
            <a:ext cx="12192000" cy="2575976"/>
          </a:xfrm>
          <a:prstGeom prst="rect">
            <a:avLst/>
          </a:prstGeom>
          <a:gradFill>
            <a:gsLst>
              <a:gs pos="57000">
                <a:srgbClr val="FFFFFF">
                  <a:alpha val="62000"/>
                </a:srgbClr>
              </a:gs>
              <a:gs pos="15000">
                <a:schemeClr val="bg1">
                  <a:alpha val="91598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658225E5-2430-3783-F06E-A0A40A65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E904804-90C2-92CD-EBBE-DEE84A1EF57E}"/>
              </a:ext>
            </a:extLst>
          </p:cNvPr>
          <p:cNvGrpSpPr/>
          <p:nvPr userDrawn="1"/>
        </p:nvGrpSpPr>
        <p:grpSpPr>
          <a:xfrm>
            <a:off x="2230425" y="1950223"/>
            <a:ext cx="7731150" cy="1180116"/>
            <a:chOff x="2419238" y="1689595"/>
            <a:chExt cx="7333183" cy="1119369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B35B19EB-28CC-5046-67D8-0AC0F092D8F9}"/>
                </a:ext>
              </a:extLst>
            </p:cNvPr>
            <p:cNvSpPr/>
            <p:nvPr userDrawn="1"/>
          </p:nvSpPr>
          <p:spPr>
            <a:xfrm>
              <a:off x="6151118" y="1690962"/>
              <a:ext cx="1113318" cy="1113317"/>
            </a:xfrm>
            <a:custGeom>
              <a:avLst/>
              <a:gdLst>
                <a:gd name="connsiteX0" fmla="*/ 0 w 543306"/>
                <a:gd name="connsiteY0" fmla="*/ 0 h 543305"/>
                <a:gd name="connsiteX1" fmla="*/ 543306 w 543306"/>
                <a:gd name="connsiteY1" fmla="*/ 0 h 543305"/>
                <a:gd name="connsiteX2" fmla="*/ 543306 w 543306"/>
                <a:gd name="connsiteY2" fmla="*/ 543306 h 543305"/>
                <a:gd name="connsiteX3" fmla="*/ 0 w 543306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9F8B7F74-14E3-0359-48F7-8887F481B3F3}"/>
                </a:ext>
              </a:extLst>
            </p:cNvPr>
            <p:cNvSpPr/>
            <p:nvPr userDrawn="1"/>
          </p:nvSpPr>
          <p:spPr>
            <a:xfrm>
              <a:off x="6531907" y="1870334"/>
              <a:ext cx="352119" cy="754014"/>
            </a:xfrm>
            <a:custGeom>
              <a:avLst/>
              <a:gdLst>
                <a:gd name="connsiteX0" fmla="*/ 136975 w 171836"/>
                <a:gd name="connsiteY0" fmla="*/ 62674 h 367963"/>
                <a:gd name="connsiteX1" fmla="*/ 167646 w 171836"/>
                <a:gd name="connsiteY1" fmla="*/ 62674 h 367963"/>
                <a:gd name="connsiteX2" fmla="*/ 171837 w 171836"/>
                <a:gd name="connsiteY2" fmla="*/ 58483 h 367963"/>
                <a:gd name="connsiteX3" fmla="*/ 171837 w 171836"/>
                <a:gd name="connsiteY3" fmla="*/ 3905 h 367963"/>
                <a:gd name="connsiteX4" fmla="*/ 168027 w 171836"/>
                <a:gd name="connsiteY4" fmla="*/ 0 h 367963"/>
                <a:gd name="connsiteX5" fmla="*/ 104305 w 171836"/>
                <a:gd name="connsiteY5" fmla="*/ 667 h 367963"/>
                <a:gd name="connsiteX6" fmla="*/ 53156 w 171836"/>
                <a:gd name="connsiteY6" fmla="*/ 26670 h 367963"/>
                <a:gd name="connsiteX7" fmla="*/ 38392 w 171836"/>
                <a:gd name="connsiteY7" fmla="*/ 72580 h 367963"/>
                <a:gd name="connsiteX8" fmla="*/ 38392 w 171836"/>
                <a:gd name="connsiteY8" fmla="*/ 113633 h 367963"/>
                <a:gd name="connsiteX9" fmla="*/ 32105 w 171836"/>
                <a:gd name="connsiteY9" fmla="*/ 120205 h 367963"/>
                <a:gd name="connsiteX10" fmla="*/ 4483 w 171836"/>
                <a:gd name="connsiteY10" fmla="*/ 120015 h 367963"/>
                <a:gd name="connsiteX11" fmla="*/ 6 w 171836"/>
                <a:gd name="connsiteY11" fmla="*/ 124492 h 367963"/>
                <a:gd name="connsiteX12" fmla="*/ 6 w 171836"/>
                <a:gd name="connsiteY12" fmla="*/ 178403 h 367963"/>
                <a:gd name="connsiteX13" fmla="*/ 4959 w 171836"/>
                <a:gd name="connsiteY13" fmla="*/ 183166 h 367963"/>
                <a:gd name="connsiteX14" fmla="*/ 31915 w 171836"/>
                <a:gd name="connsiteY14" fmla="*/ 182975 h 367963"/>
                <a:gd name="connsiteX15" fmla="*/ 38106 w 171836"/>
                <a:gd name="connsiteY15" fmla="*/ 189167 h 367963"/>
                <a:gd name="connsiteX16" fmla="*/ 38011 w 171836"/>
                <a:gd name="connsiteY16" fmla="*/ 275558 h 367963"/>
                <a:gd name="connsiteX17" fmla="*/ 37915 w 171836"/>
                <a:gd name="connsiteY17" fmla="*/ 360807 h 367963"/>
                <a:gd name="connsiteX18" fmla="*/ 44773 w 171836"/>
                <a:gd name="connsiteY18" fmla="*/ 367951 h 367963"/>
                <a:gd name="connsiteX19" fmla="*/ 107924 w 171836"/>
                <a:gd name="connsiteY19" fmla="*/ 367951 h 367963"/>
                <a:gd name="connsiteX20" fmla="*/ 115354 w 171836"/>
                <a:gd name="connsiteY20" fmla="*/ 360617 h 367963"/>
                <a:gd name="connsiteX21" fmla="*/ 115258 w 171836"/>
                <a:gd name="connsiteY21" fmla="*/ 191452 h 367963"/>
                <a:gd name="connsiteX22" fmla="*/ 123164 w 171836"/>
                <a:gd name="connsiteY22" fmla="*/ 183737 h 367963"/>
                <a:gd name="connsiteX23" fmla="*/ 159931 w 171836"/>
                <a:gd name="connsiteY23" fmla="*/ 183737 h 367963"/>
                <a:gd name="connsiteX24" fmla="*/ 165836 w 171836"/>
                <a:gd name="connsiteY24" fmla="*/ 178975 h 367963"/>
                <a:gd name="connsiteX25" fmla="*/ 170980 w 171836"/>
                <a:gd name="connsiteY25" fmla="*/ 124682 h 367963"/>
                <a:gd name="connsiteX26" fmla="*/ 165455 w 171836"/>
                <a:gd name="connsiteY26" fmla="*/ 118872 h 367963"/>
                <a:gd name="connsiteX27" fmla="*/ 118878 w 171836"/>
                <a:gd name="connsiteY27" fmla="*/ 118967 h 367963"/>
                <a:gd name="connsiteX28" fmla="*/ 114115 w 171836"/>
                <a:gd name="connsiteY28" fmla="*/ 115348 h 367963"/>
                <a:gd name="connsiteX29" fmla="*/ 114592 w 171836"/>
                <a:gd name="connsiteY29" fmla="*/ 82867 h 367963"/>
                <a:gd name="connsiteX30" fmla="*/ 137166 w 171836"/>
                <a:gd name="connsiteY30" fmla="*/ 62389 h 367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836" h="367963">
                  <a:moveTo>
                    <a:pt x="136975" y="62674"/>
                  </a:moveTo>
                  <a:cubicBezTo>
                    <a:pt x="147167" y="62674"/>
                    <a:pt x="157454" y="62579"/>
                    <a:pt x="167646" y="62674"/>
                  </a:cubicBezTo>
                  <a:cubicBezTo>
                    <a:pt x="170789" y="62674"/>
                    <a:pt x="171837" y="61722"/>
                    <a:pt x="171837" y="58483"/>
                  </a:cubicBezTo>
                  <a:cubicBezTo>
                    <a:pt x="171742" y="40291"/>
                    <a:pt x="171742" y="22098"/>
                    <a:pt x="171837" y="3905"/>
                  </a:cubicBezTo>
                  <a:cubicBezTo>
                    <a:pt x="171837" y="1048"/>
                    <a:pt x="170980" y="0"/>
                    <a:pt x="168027" y="0"/>
                  </a:cubicBezTo>
                  <a:cubicBezTo>
                    <a:pt x="146786" y="190"/>
                    <a:pt x="125546" y="-286"/>
                    <a:pt x="104305" y="667"/>
                  </a:cubicBezTo>
                  <a:cubicBezTo>
                    <a:pt x="83635" y="1619"/>
                    <a:pt x="65729" y="9430"/>
                    <a:pt x="53156" y="26670"/>
                  </a:cubicBezTo>
                  <a:cubicBezTo>
                    <a:pt x="43154" y="40291"/>
                    <a:pt x="38677" y="55817"/>
                    <a:pt x="38392" y="72580"/>
                  </a:cubicBezTo>
                  <a:cubicBezTo>
                    <a:pt x="38106" y="86296"/>
                    <a:pt x="38106" y="100013"/>
                    <a:pt x="38392" y="113633"/>
                  </a:cubicBezTo>
                  <a:cubicBezTo>
                    <a:pt x="38487" y="118586"/>
                    <a:pt x="37439" y="120491"/>
                    <a:pt x="32105" y="120205"/>
                  </a:cubicBezTo>
                  <a:cubicBezTo>
                    <a:pt x="22961" y="119729"/>
                    <a:pt x="13722" y="120205"/>
                    <a:pt x="4483" y="120015"/>
                  </a:cubicBezTo>
                  <a:cubicBezTo>
                    <a:pt x="958" y="120015"/>
                    <a:pt x="-89" y="121063"/>
                    <a:pt x="6" y="124492"/>
                  </a:cubicBezTo>
                  <a:cubicBezTo>
                    <a:pt x="197" y="142494"/>
                    <a:pt x="197" y="160496"/>
                    <a:pt x="6" y="178403"/>
                  </a:cubicBezTo>
                  <a:cubicBezTo>
                    <a:pt x="6" y="182213"/>
                    <a:pt x="1339" y="183261"/>
                    <a:pt x="4959" y="183166"/>
                  </a:cubicBezTo>
                  <a:cubicBezTo>
                    <a:pt x="13913" y="182975"/>
                    <a:pt x="22961" y="183356"/>
                    <a:pt x="31915" y="182975"/>
                  </a:cubicBezTo>
                  <a:cubicBezTo>
                    <a:pt x="36772" y="182785"/>
                    <a:pt x="38106" y="184309"/>
                    <a:pt x="38106" y="189167"/>
                  </a:cubicBezTo>
                  <a:cubicBezTo>
                    <a:pt x="37915" y="217932"/>
                    <a:pt x="38011" y="246793"/>
                    <a:pt x="38011" y="275558"/>
                  </a:cubicBezTo>
                  <a:cubicBezTo>
                    <a:pt x="38011" y="304324"/>
                    <a:pt x="38106" y="332327"/>
                    <a:pt x="37915" y="360807"/>
                  </a:cubicBezTo>
                  <a:cubicBezTo>
                    <a:pt x="37915" y="366141"/>
                    <a:pt x="38868" y="368141"/>
                    <a:pt x="44773" y="367951"/>
                  </a:cubicBezTo>
                  <a:cubicBezTo>
                    <a:pt x="65824" y="367570"/>
                    <a:pt x="86874" y="367570"/>
                    <a:pt x="107924" y="367951"/>
                  </a:cubicBezTo>
                  <a:cubicBezTo>
                    <a:pt x="113830" y="368046"/>
                    <a:pt x="115354" y="366617"/>
                    <a:pt x="115354" y="360617"/>
                  </a:cubicBezTo>
                  <a:cubicBezTo>
                    <a:pt x="115068" y="304229"/>
                    <a:pt x="115163" y="247841"/>
                    <a:pt x="115258" y="191452"/>
                  </a:cubicBezTo>
                  <a:cubicBezTo>
                    <a:pt x="115258" y="182499"/>
                    <a:pt x="114401" y="183833"/>
                    <a:pt x="123164" y="183737"/>
                  </a:cubicBezTo>
                  <a:cubicBezTo>
                    <a:pt x="135451" y="183737"/>
                    <a:pt x="147643" y="183642"/>
                    <a:pt x="159931" y="183737"/>
                  </a:cubicBezTo>
                  <a:cubicBezTo>
                    <a:pt x="163646" y="183737"/>
                    <a:pt x="165455" y="182975"/>
                    <a:pt x="165836" y="178975"/>
                  </a:cubicBezTo>
                  <a:cubicBezTo>
                    <a:pt x="167360" y="160877"/>
                    <a:pt x="169075" y="142780"/>
                    <a:pt x="170980" y="124682"/>
                  </a:cubicBezTo>
                  <a:cubicBezTo>
                    <a:pt x="171456" y="119920"/>
                    <a:pt x="170027" y="118872"/>
                    <a:pt x="165455" y="118872"/>
                  </a:cubicBezTo>
                  <a:cubicBezTo>
                    <a:pt x="149930" y="119158"/>
                    <a:pt x="134404" y="118872"/>
                    <a:pt x="118878" y="118967"/>
                  </a:cubicBezTo>
                  <a:cubicBezTo>
                    <a:pt x="116306" y="118967"/>
                    <a:pt x="114020" y="119253"/>
                    <a:pt x="114115" y="115348"/>
                  </a:cubicBezTo>
                  <a:cubicBezTo>
                    <a:pt x="114401" y="104489"/>
                    <a:pt x="113830" y="93631"/>
                    <a:pt x="114592" y="82867"/>
                  </a:cubicBezTo>
                  <a:cubicBezTo>
                    <a:pt x="115449" y="69437"/>
                    <a:pt x="123545" y="62389"/>
                    <a:pt x="137166" y="623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1A6707B-2CA3-3F65-45C2-727FD45B5C49}"/>
                </a:ext>
              </a:extLst>
            </p:cNvPr>
            <p:cNvSpPr/>
            <p:nvPr userDrawn="1"/>
          </p:nvSpPr>
          <p:spPr>
            <a:xfrm>
              <a:off x="4907224" y="1690572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4C61578-C993-8405-291A-DEF5EE57846B}"/>
                </a:ext>
              </a:extLst>
            </p:cNvPr>
            <p:cNvSpPr/>
            <p:nvPr userDrawn="1"/>
          </p:nvSpPr>
          <p:spPr>
            <a:xfrm>
              <a:off x="5613002" y="2009890"/>
              <a:ext cx="88611" cy="88611"/>
            </a:xfrm>
            <a:custGeom>
              <a:avLst/>
              <a:gdLst>
                <a:gd name="connsiteX0" fmla="*/ 21622 w 43243"/>
                <a:gd name="connsiteY0" fmla="*/ 0 h 43243"/>
                <a:gd name="connsiteX1" fmla="*/ 0 w 43243"/>
                <a:gd name="connsiteY1" fmla="*/ 21622 h 43243"/>
                <a:gd name="connsiteX2" fmla="*/ 21622 w 43243"/>
                <a:gd name="connsiteY2" fmla="*/ 43244 h 43243"/>
                <a:gd name="connsiteX3" fmla="*/ 43244 w 43243"/>
                <a:gd name="connsiteY3" fmla="*/ 21622 h 43243"/>
                <a:gd name="connsiteX4" fmla="*/ 21622 w 43243"/>
                <a:gd name="connsiteY4" fmla="*/ 0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3" h="43243">
                  <a:moveTo>
                    <a:pt x="21622" y="0"/>
                  </a:moveTo>
                  <a:cubicBezTo>
                    <a:pt x="9715" y="0"/>
                    <a:pt x="0" y="9716"/>
                    <a:pt x="0" y="21622"/>
                  </a:cubicBezTo>
                  <a:cubicBezTo>
                    <a:pt x="0" y="33528"/>
                    <a:pt x="9715" y="43244"/>
                    <a:pt x="21622" y="43244"/>
                  </a:cubicBezTo>
                  <a:cubicBezTo>
                    <a:pt x="33528" y="43244"/>
                    <a:pt x="43244" y="33528"/>
                    <a:pt x="43244" y="21622"/>
                  </a:cubicBezTo>
                  <a:cubicBezTo>
                    <a:pt x="43244" y="9716"/>
                    <a:pt x="33528" y="0"/>
                    <a:pt x="2162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74412687-F6B8-FF14-A681-2E7D9389F291}"/>
                </a:ext>
              </a:extLst>
            </p:cNvPr>
            <p:cNvSpPr/>
            <p:nvPr userDrawn="1"/>
          </p:nvSpPr>
          <p:spPr>
            <a:xfrm>
              <a:off x="5100064" y="1883412"/>
              <a:ext cx="727442" cy="727442"/>
            </a:xfrm>
            <a:custGeom>
              <a:avLst/>
              <a:gdLst>
                <a:gd name="connsiteX0" fmla="*/ 265462 w 354996"/>
                <a:gd name="connsiteY0" fmla="*/ 0 h 354996"/>
                <a:gd name="connsiteX1" fmla="*/ 89535 w 354996"/>
                <a:gd name="connsiteY1" fmla="*/ 0 h 354996"/>
                <a:gd name="connsiteX2" fmla="*/ 0 w 354996"/>
                <a:gd name="connsiteY2" fmla="*/ 89535 h 354996"/>
                <a:gd name="connsiteX3" fmla="*/ 0 w 354996"/>
                <a:gd name="connsiteY3" fmla="*/ 265462 h 354996"/>
                <a:gd name="connsiteX4" fmla="*/ 89535 w 354996"/>
                <a:gd name="connsiteY4" fmla="*/ 354997 h 354996"/>
                <a:gd name="connsiteX5" fmla="*/ 265462 w 354996"/>
                <a:gd name="connsiteY5" fmla="*/ 354997 h 354996"/>
                <a:gd name="connsiteX6" fmla="*/ 354997 w 354996"/>
                <a:gd name="connsiteY6" fmla="*/ 265462 h 354996"/>
                <a:gd name="connsiteX7" fmla="*/ 354997 w 354996"/>
                <a:gd name="connsiteY7" fmla="*/ 89535 h 354996"/>
                <a:gd name="connsiteX8" fmla="*/ 265462 w 354996"/>
                <a:gd name="connsiteY8" fmla="*/ 0 h 354996"/>
                <a:gd name="connsiteX9" fmla="*/ 316421 w 354996"/>
                <a:gd name="connsiteY9" fmla="*/ 265462 h 354996"/>
                <a:gd name="connsiteX10" fmla="*/ 265462 w 354996"/>
                <a:gd name="connsiteY10" fmla="*/ 316421 h 354996"/>
                <a:gd name="connsiteX11" fmla="*/ 89535 w 354996"/>
                <a:gd name="connsiteY11" fmla="*/ 316421 h 354996"/>
                <a:gd name="connsiteX12" fmla="*/ 38576 w 354996"/>
                <a:gd name="connsiteY12" fmla="*/ 265462 h 354996"/>
                <a:gd name="connsiteX13" fmla="*/ 38576 w 354996"/>
                <a:gd name="connsiteY13" fmla="*/ 89535 h 354996"/>
                <a:gd name="connsiteX14" fmla="*/ 89535 w 354996"/>
                <a:gd name="connsiteY14" fmla="*/ 38576 h 354996"/>
                <a:gd name="connsiteX15" fmla="*/ 265462 w 354996"/>
                <a:gd name="connsiteY15" fmla="*/ 38576 h 354996"/>
                <a:gd name="connsiteX16" fmla="*/ 316421 w 354996"/>
                <a:gd name="connsiteY16" fmla="*/ 89535 h 354996"/>
                <a:gd name="connsiteX17" fmla="*/ 316421 w 354996"/>
                <a:gd name="connsiteY17" fmla="*/ 265462 h 35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4996" h="354996">
                  <a:moveTo>
                    <a:pt x="265462" y="0"/>
                  </a:moveTo>
                  <a:lnTo>
                    <a:pt x="89535" y="0"/>
                  </a:lnTo>
                  <a:cubicBezTo>
                    <a:pt x="40196" y="0"/>
                    <a:pt x="0" y="40196"/>
                    <a:pt x="0" y="89535"/>
                  </a:cubicBezTo>
                  <a:lnTo>
                    <a:pt x="0" y="265462"/>
                  </a:lnTo>
                  <a:cubicBezTo>
                    <a:pt x="0" y="314896"/>
                    <a:pt x="40196" y="354997"/>
                    <a:pt x="89535" y="354997"/>
                  </a:cubicBezTo>
                  <a:lnTo>
                    <a:pt x="265462" y="354997"/>
                  </a:lnTo>
                  <a:cubicBezTo>
                    <a:pt x="314801" y="354997"/>
                    <a:pt x="354997" y="314801"/>
                    <a:pt x="354997" y="265462"/>
                  </a:cubicBezTo>
                  <a:lnTo>
                    <a:pt x="354997" y="89535"/>
                  </a:lnTo>
                  <a:cubicBezTo>
                    <a:pt x="354997" y="40196"/>
                    <a:pt x="314801" y="0"/>
                    <a:pt x="265462" y="0"/>
                  </a:cubicBezTo>
                  <a:close/>
                  <a:moveTo>
                    <a:pt x="316421" y="265462"/>
                  </a:moveTo>
                  <a:cubicBezTo>
                    <a:pt x="316421" y="293560"/>
                    <a:pt x="293561" y="316421"/>
                    <a:pt x="265462" y="316421"/>
                  </a:cubicBezTo>
                  <a:lnTo>
                    <a:pt x="89535" y="316421"/>
                  </a:lnTo>
                  <a:cubicBezTo>
                    <a:pt x="61436" y="316421"/>
                    <a:pt x="38576" y="293560"/>
                    <a:pt x="38576" y="265462"/>
                  </a:cubicBezTo>
                  <a:lnTo>
                    <a:pt x="38576" y="89535"/>
                  </a:lnTo>
                  <a:cubicBezTo>
                    <a:pt x="38576" y="61436"/>
                    <a:pt x="61436" y="38576"/>
                    <a:pt x="89535" y="38576"/>
                  </a:cubicBezTo>
                  <a:lnTo>
                    <a:pt x="265462" y="38576"/>
                  </a:lnTo>
                  <a:cubicBezTo>
                    <a:pt x="293561" y="38576"/>
                    <a:pt x="316421" y="61436"/>
                    <a:pt x="316421" y="89535"/>
                  </a:cubicBezTo>
                  <a:lnTo>
                    <a:pt x="316421" y="26546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11DCFC7-265A-A74C-9128-D2C19FEB1FE1}"/>
                </a:ext>
              </a:extLst>
            </p:cNvPr>
            <p:cNvSpPr/>
            <p:nvPr userDrawn="1"/>
          </p:nvSpPr>
          <p:spPr>
            <a:xfrm>
              <a:off x="5276508" y="2059857"/>
              <a:ext cx="374747" cy="374750"/>
            </a:xfrm>
            <a:custGeom>
              <a:avLst/>
              <a:gdLst>
                <a:gd name="connsiteX0" fmla="*/ 91440 w 182879"/>
                <a:gd name="connsiteY0" fmla="*/ 0 h 182880"/>
                <a:gd name="connsiteX1" fmla="*/ 0 w 182879"/>
                <a:gd name="connsiteY1" fmla="*/ 91440 h 182880"/>
                <a:gd name="connsiteX2" fmla="*/ 91440 w 182879"/>
                <a:gd name="connsiteY2" fmla="*/ 182880 h 182880"/>
                <a:gd name="connsiteX3" fmla="*/ 182880 w 182879"/>
                <a:gd name="connsiteY3" fmla="*/ 91440 h 182880"/>
                <a:gd name="connsiteX4" fmla="*/ 91440 w 182879"/>
                <a:gd name="connsiteY4" fmla="*/ 0 h 182880"/>
                <a:gd name="connsiteX5" fmla="*/ 91440 w 182879"/>
                <a:gd name="connsiteY5" fmla="*/ 144209 h 182880"/>
                <a:gd name="connsiteX6" fmla="*/ 38671 w 182879"/>
                <a:gd name="connsiteY6" fmla="*/ 91440 h 182880"/>
                <a:gd name="connsiteX7" fmla="*/ 91440 w 182879"/>
                <a:gd name="connsiteY7" fmla="*/ 38672 h 182880"/>
                <a:gd name="connsiteX8" fmla="*/ 144304 w 182879"/>
                <a:gd name="connsiteY8" fmla="*/ 91440 h 182880"/>
                <a:gd name="connsiteX9" fmla="*/ 91440 w 182879"/>
                <a:gd name="connsiteY9" fmla="*/ 144209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879" h="182880">
                  <a:moveTo>
                    <a:pt x="91440" y="0"/>
                  </a:moveTo>
                  <a:cubicBezTo>
                    <a:pt x="41053" y="0"/>
                    <a:pt x="0" y="41053"/>
                    <a:pt x="0" y="91440"/>
                  </a:cubicBezTo>
                  <a:cubicBezTo>
                    <a:pt x="0" y="141827"/>
                    <a:pt x="41053" y="182880"/>
                    <a:pt x="91440" y="182880"/>
                  </a:cubicBezTo>
                  <a:cubicBezTo>
                    <a:pt x="141827" y="182880"/>
                    <a:pt x="182880" y="141827"/>
                    <a:pt x="182880" y="91440"/>
                  </a:cubicBezTo>
                  <a:cubicBezTo>
                    <a:pt x="182880" y="41053"/>
                    <a:pt x="141922" y="0"/>
                    <a:pt x="91440" y="0"/>
                  </a:cubicBezTo>
                  <a:close/>
                  <a:moveTo>
                    <a:pt x="91440" y="144209"/>
                  </a:moveTo>
                  <a:cubicBezTo>
                    <a:pt x="62389" y="144209"/>
                    <a:pt x="38671" y="120491"/>
                    <a:pt x="38671" y="91440"/>
                  </a:cubicBezTo>
                  <a:cubicBezTo>
                    <a:pt x="38671" y="62389"/>
                    <a:pt x="62389" y="38672"/>
                    <a:pt x="91440" y="38672"/>
                  </a:cubicBezTo>
                  <a:cubicBezTo>
                    <a:pt x="120491" y="38672"/>
                    <a:pt x="144304" y="62389"/>
                    <a:pt x="144304" y="91440"/>
                  </a:cubicBezTo>
                  <a:cubicBezTo>
                    <a:pt x="144304" y="120491"/>
                    <a:pt x="120586" y="144209"/>
                    <a:pt x="91440" y="1442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F71412B-57D0-8C3F-863B-747D72482FB6}"/>
                </a:ext>
              </a:extLst>
            </p:cNvPr>
            <p:cNvSpPr/>
            <p:nvPr userDrawn="1"/>
          </p:nvSpPr>
          <p:spPr>
            <a:xfrm>
              <a:off x="7395013" y="1695646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32E9776-B6B4-0737-83B3-225F4D4AE1BF}"/>
                </a:ext>
              </a:extLst>
            </p:cNvPr>
            <p:cNvSpPr/>
            <p:nvPr userDrawn="1"/>
          </p:nvSpPr>
          <p:spPr>
            <a:xfrm>
              <a:off x="7581999" y="1991739"/>
              <a:ext cx="739350" cy="521135"/>
            </a:xfrm>
            <a:custGeom>
              <a:avLst/>
              <a:gdLst>
                <a:gd name="connsiteX0" fmla="*/ 353282 w 360807"/>
                <a:gd name="connsiteY0" fmla="*/ 39719 h 254317"/>
                <a:gd name="connsiteX1" fmla="*/ 321373 w 360807"/>
                <a:gd name="connsiteY1" fmla="*/ 7620 h 254317"/>
                <a:gd name="connsiteX2" fmla="*/ 180404 w 360807"/>
                <a:gd name="connsiteY2" fmla="*/ 0 h 254317"/>
                <a:gd name="connsiteX3" fmla="*/ 39433 w 360807"/>
                <a:gd name="connsiteY3" fmla="*/ 7620 h 254317"/>
                <a:gd name="connsiteX4" fmla="*/ 7525 w 360807"/>
                <a:gd name="connsiteY4" fmla="*/ 39719 h 254317"/>
                <a:gd name="connsiteX5" fmla="*/ 0 w 360807"/>
                <a:gd name="connsiteY5" fmla="*/ 127159 h 254317"/>
                <a:gd name="connsiteX6" fmla="*/ 7525 w 360807"/>
                <a:gd name="connsiteY6" fmla="*/ 214598 h 254317"/>
                <a:gd name="connsiteX7" fmla="*/ 39433 w 360807"/>
                <a:gd name="connsiteY7" fmla="*/ 246697 h 254317"/>
                <a:gd name="connsiteX8" fmla="*/ 180404 w 360807"/>
                <a:gd name="connsiteY8" fmla="*/ 254317 h 254317"/>
                <a:gd name="connsiteX9" fmla="*/ 321373 w 360807"/>
                <a:gd name="connsiteY9" fmla="*/ 246697 h 254317"/>
                <a:gd name="connsiteX10" fmla="*/ 353282 w 360807"/>
                <a:gd name="connsiteY10" fmla="*/ 214598 h 254317"/>
                <a:gd name="connsiteX11" fmla="*/ 360807 w 360807"/>
                <a:gd name="connsiteY11" fmla="*/ 127159 h 254317"/>
                <a:gd name="connsiteX12" fmla="*/ 353282 w 360807"/>
                <a:gd name="connsiteY12" fmla="*/ 39719 h 254317"/>
                <a:gd name="connsiteX13" fmla="*/ 143542 w 360807"/>
                <a:gd name="connsiteY13" fmla="*/ 180784 h 254317"/>
                <a:gd name="connsiteX14" fmla="*/ 143542 w 360807"/>
                <a:gd name="connsiteY14" fmla="*/ 73533 h 254317"/>
                <a:gd name="connsiteX15" fmla="*/ 237839 w 360807"/>
                <a:gd name="connsiteY15" fmla="*/ 127159 h 254317"/>
                <a:gd name="connsiteX16" fmla="*/ 143542 w 360807"/>
                <a:gd name="connsiteY16" fmla="*/ 180784 h 25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0807" h="254317">
                  <a:moveTo>
                    <a:pt x="353282" y="39719"/>
                  </a:moveTo>
                  <a:cubicBezTo>
                    <a:pt x="349091" y="24098"/>
                    <a:pt x="336899" y="11811"/>
                    <a:pt x="321373" y="7620"/>
                  </a:cubicBezTo>
                  <a:cubicBezTo>
                    <a:pt x="293275" y="0"/>
                    <a:pt x="180404" y="0"/>
                    <a:pt x="180404" y="0"/>
                  </a:cubicBezTo>
                  <a:cubicBezTo>
                    <a:pt x="180404" y="0"/>
                    <a:pt x="67532" y="0"/>
                    <a:pt x="39433" y="7620"/>
                  </a:cubicBezTo>
                  <a:cubicBezTo>
                    <a:pt x="23908" y="11811"/>
                    <a:pt x="11716" y="24098"/>
                    <a:pt x="7525" y="39719"/>
                  </a:cubicBezTo>
                  <a:cubicBezTo>
                    <a:pt x="0" y="68008"/>
                    <a:pt x="0" y="127159"/>
                    <a:pt x="0" y="127159"/>
                  </a:cubicBezTo>
                  <a:cubicBezTo>
                    <a:pt x="0" y="127159"/>
                    <a:pt x="0" y="186214"/>
                    <a:pt x="7525" y="214598"/>
                  </a:cubicBezTo>
                  <a:cubicBezTo>
                    <a:pt x="11716" y="230219"/>
                    <a:pt x="23908" y="242506"/>
                    <a:pt x="39433" y="246697"/>
                  </a:cubicBezTo>
                  <a:cubicBezTo>
                    <a:pt x="67532" y="254317"/>
                    <a:pt x="180404" y="254317"/>
                    <a:pt x="180404" y="254317"/>
                  </a:cubicBezTo>
                  <a:cubicBezTo>
                    <a:pt x="180404" y="254317"/>
                    <a:pt x="293275" y="254317"/>
                    <a:pt x="321373" y="246697"/>
                  </a:cubicBezTo>
                  <a:cubicBezTo>
                    <a:pt x="336899" y="242506"/>
                    <a:pt x="349091" y="230219"/>
                    <a:pt x="353282" y="214598"/>
                  </a:cubicBezTo>
                  <a:cubicBezTo>
                    <a:pt x="360807" y="186309"/>
                    <a:pt x="360807" y="127159"/>
                    <a:pt x="360807" y="127159"/>
                  </a:cubicBezTo>
                  <a:cubicBezTo>
                    <a:pt x="360807" y="127159"/>
                    <a:pt x="360807" y="68104"/>
                    <a:pt x="353282" y="39719"/>
                  </a:cubicBezTo>
                  <a:close/>
                  <a:moveTo>
                    <a:pt x="143542" y="180784"/>
                  </a:moveTo>
                  <a:lnTo>
                    <a:pt x="143542" y="73533"/>
                  </a:lnTo>
                  <a:lnTo>
                    <a:pt x="237839" y="127159"/>
                  </a:lnTo>
                  <a:lnTo>
                    <a:pt x="143542" y="1807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6B36695-9D44-CF4A-14FC-6D97E6B5EEB6}"/>
                </a:ext>
              </a:extLst>
            </p:cNvPr>
            <p:cNvSpPr/>
            <p:nvPr userDrawn="1"/>
          </p:nvSpPr>
          <p:spPr>
            <a:xfrm>
              <a:off x="2419238" y="1689595"/>
              <a:ext cx="1113317" cy="1113317"/>
            </a:xfrm>
            <a:custGeom>
              <a:avLst/>
              <a:gdLst>
                <a:gd name="connsiteX0" fmla="*/ 0 w 543305"/>
                <a:gd name="connsiteY0" fmla="*/ 0 h 543305"/>
                <a:gd name="connsiteX1" fmla="*/ 543306 w 543305"/>
                <a:gd name="connsiteY1" fmla="*/ 0 h 543305"/>
                <a:gd name="connsiteX2" fmla="*/ 543306 w 543305"/>
                <a:gd name="connsiteY2" fmla="*/ 543306 h 543305"/>
                <a:gd name="connsiteX3" fmla="*/ 0 w 543305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46E7525-5FF1-8346-5B8E-E85830C2BFE2}"/>
                </a:ext>
              </a:extLst>
            </p:cNvPr>
            <p:cNvSpPr/>
            <p:nvPr userDrawn="1"/>
          </p:nvSpPr>
          <p:spPr>
            <a:xfrm>
              <a:off x="2628279" y="2125633"/>
              <a:ext cx="149117" cy="479562"/>
            </a:xfrm>
            <a:custGeom>
              <a:avLst/>
              <a:gdLst>
                <a:gd name="connsiteX0" fmla="*/ 0 w 72770"/>
                <a:gd name="connsiteY0" fmla="*/ 0 h 234029"/>
                <a:gd name="connsiteX1" fmla="*/ 72771 w 72770"/>
                <a:gd name="connsiteY1" fmla="*/ 0 h 234029"/>
                <a:gd name="connsiteX2" fmla="*/ 72771 w 72770"/>
                <a:gd name="connsiteY2" fmla="*/ 234029 h 234029"/>
                <a:gd name="connsiteX3" fmla="*/ 0 w 72770"/>
                <a:gd name="connsiteY3" fmla="*/ 234029 h 23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770" h="234029">
                  <a:moveTo>
                    <a:pt x="0" y="0"/>
                  </a:moveTo>
                  <a:lnTo>
                    <a:pt x="72771" y="0"/>
                  </a:lnTo>
                  <a:lnTo>
                    <a:pt x="72771" y="234029"/>
                  </a:lnTo>
                  <a:lnTo>
                    <a:pt x="0" y="23402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2643B9D-593C-28B6-33C7-94AC849E27E6}"/>
                </a:ext>
              </a:extLst>
            </p:cNvPr>
            <p:cNvSpPr/>
            <p:nvPr userDrawn="1"/>
          </p:nvSpPr>
          <p:spPr>
            <a:xfrm>
              <a:off x="2616371" y="1887316"/>
              <a:ext cx="172539" cy="172930"/>
            </a:xfrm>
            <a:custGeom>
              <a:avLst/>
              <a:gdLst>
                <a:gd name="connsiteX0" fmla="*/ 42100 w 84200"/>
                <a:gd name="connsiteY0" fmla="*/ 0 h 84391"/>
                <a:gd name="connsiteX1" fmla="*/ 0 w 84200"/>
                <a:gd name="connsiteY1" fmla="*/ 42196 h 84391"/>
                <a:gd name="connsiteX2" fmla="*/ 42100 w 84200"/>
                <a:gd name="connsiteY2" fmla="*/ 84392 h 84391"/>
                <a:gd name="connsiteX3" fmla="*/ 84201 w 84200"/>
                <a:gd name="connsiteY3" fmla="*/ 42196 h 84391"/>
                <a:gd name="connsiteX4" fmla="*/ 42100 w 84200"/>
                <a:gd name="connsiteY4" fmla="*/ 0 h 8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00" h="84391">
                  <a:moveTo>
                    <a:pt x="42100" y="0"/>
                  </a:moveTo>
                  <a:cubicBezTo>
                    <a:pt x="18764" y="0"/>
                    <a:pt x="0" y="18860"/>
                    <a:pt x="0" y="42196"/>
                  </a:cubicBezTo>
                  <a:cubicBezTo>
                    <a:pt x="0" y="65532"/>
                    <a:pt x="18859" y="84392"/>
                    <a:pt x="42100" y="84392"/>
                  </a:cubicBezTo>
                  <a:cubicBezTo>
                    <a:pt x="65342" y="84392"/>
                    <a:pt x="84201" y="65532"/>
                    <a:pt x="84201" y="42196"/>
                  </a:cubicBezTo>
                  <a:cubicBezTo>
                    <a:pt x="84201" y="18860"/>
                    <a:pt x="65342" y="0"/>
                    <a:pt x="42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DA44CA4D-A7B1-8C2B-5E9A-F02818DF16DD}"/>
                </a:ext>
              </a:extLst>
            </p:cNvPr>
            <p:cNvSpPr/>
            <p:nvPr userDrawn="1"/>
          </p:nvSpPr>
          <p:spPr>
            <a:xfrm>
              <a:off x="2870888" y="2113727"/>
              <a:ext cx="464728" cy="491467"/>
            </a:xfrm>
            <a:custGeom>
              <a:avLst/>
              <a:gdLst>
                <a:gd name="connsiteX0" fmla="*/ 139446 w 226790"/>
                <a:gd name="connsiteY0" fmla="*/ 0 h 239839"/>
                <a:gd name="connsiteX1" fmla="*/ 70675 w 226790"/>
                <a:gd name="connsiteY1" fmla="*/ 37814 h 239839"/>
                <a:gd name="connsiteX2" fmla="*/ 69723 w 226790"/>
                <a:gd name="connsiteY2" fmla="*/ 37814 h 239839"/>
                <a:gd name="connsiteX3" fmla="*/ 69723 w 226790"/>
                <a:gd name="connsiteY3" fmla="*/ 5810 h 239839"/>
                <a:gd name="connsiteX4" fmla="*/ 0 w 226790"/>
                <a:gd name="connsiteY4" fmla="*/ 5810 h 239839"/>
                <a:gd name="connsiteX5" fmla="*/ 0 w 226790"/>
                <a:gd name="connsiteY5" fmla="*/ 239839 h 239839"/>
                <a:gd name="connsiteX6" fmla="*/ 72676 w 226790"/>
                <a:gd name="connsiteY6" fmla="*/ 239839 h 239839"/>
                <a:gd name="connsiteX7" fmla="*/ 72676 w 226790"/>
                <a:gd name="connsiteY7" fmla="*/ 124111 h 239839"/>
                <a:gd name="connsiteX8" fmla="*/ 116300 w 226790"/>
                <a:gd name="connsiteY8" fmla="*/ 64008 h 239839"/>
                <a:gd name="connsiteX9" fmla="*/ 154115 w 226790"/>
                <a:gd name="connsiteY9" fmla="*/ 126016 h 239839"/>
                <a:gd name="connsiteX10" fmla="*/ 154115 w 226790"/>
                <a:gd name="connsiteY10" fmla="*/ 239839 h 239839"/>
                <a:gd name="connsiteX11" fmla="*/ 226790 w 226790"/>
                <a:gd name="connsiteY11" fmla="*/ 239839 h 239839"/>
                <a:gd name="connsiteX12" fmla="*/ 226790 w 226790"/>
                <a:gd name="connsiteY12" fmla="*/ 111538 h 239839"/>
                <a:gd name="connsiteX13" fmla="*/ 139541 w 226790"/>
                <a:gd name="connsiteY13" fmla="*/ 95 h 23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790" h="239839">
                  <a:moveTo>
                    <a:pt x="139446" y="0"/>
                  </a:moveTo>
                  <a:cubicBezTo>
                    <a:pt x="104108" y="0"/>
                    <a:pt x="80391" y="19431"/>
                    <a:pt x="70675" y="37814"/>
                  </a:cubicBezTo>
                  <a:lnTo>
                    <a:pt x="69723" y="37814"/>
                  </a:lnTo>
                  <a:lnTo>
                    <a:pt x="69723" y="5810"/>
                  </a:lnTo>
                  <a:lnTo>
                    <a:pt x="0" y="5810"/>
                  </a:lnTo>
                  <a:lnTo>
                    <a:pt x="0" y="239839"/>
                  </a:lnTo>
                  <a:lnTo>
                    <a:pt x="72676" y="239839"/>
                  </a:lnTo>
                  <a:lnTo>
                    <a:pt x="72676" y="124111"/>
                  </a:lnTo>
                  <a:cubicBezTo>
                    <a:pt x="72676" y="93631"/>
                    <a:pt x="78486" y="64008"/>
                    <a:pt x="116300" y="64008"/>
                  </a:cubicBezTo>
                  <a:cubicBezTo>
                    <a:pt x="154115" y="64008"/>
                    <a:pt x="154115" y="98869"/>
                    <a:pt x="154115" y="126016"/>
                  </a:cubicBezTo>
                  <a:lnTo>
                    <a:pt x="154115" y="239839"/>
                  </a:lnTo>
                  <a:lnTo>
                    <a:pt x="226790" y="239839"/>
                  </a:lnTo>
                  <a:lnTo>
                    <a:pt x="226790" y="111538"/>
                  </a:lnTo>
                  <a:cubicBezTo>
                    <a:pt x="226790" y="48577"/>
                    <a:pt x="213170" y="95"/>
                    <a:pt x="139541" y="9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7235AA9-6C56-4AF4-5D5D-249E43C4A4B9}"/>
                </a:ext>
              </a:extLst>
            </p:cNvPr>
            <p:cNvSpPr/>
            <p:nvPr userDrawn="1"/>
          </p:nvSpPr>
          <p:spPr>
            <a:xfrm>
              <a:off x="8639104" y="1690572"/>
              <a:ext cx="1113317" cy="1113318"/>
            </a:xfrm>
            <a:custGeom>
              <a:avLst/>
              <a:gdLst>
                <a:gd name="connsiteX0" fmla="*/ 0 w 543305"/>
                <a:gd name="connsiteY0" fmla="*/ 0 h 543306"/>
                <a:gd name="connsiteX1" fmla="*/ 543306 w 543305"/>
                <a:gd name="connsiteY1" fmla="*/ 0 h 543306"/>
                <a:gd name="connsiteX2" fmla="*/ 543306 w 543305"/>
                <a:gd name="connsiteY2" fmla="*/ 543306 h 543306"/>
                <a:gd name="connsiteX3" fmla="*/ 0 w 543305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9F594E5-39F7-5122-ACD7-B01BB6AD6085}"/>
                </a:ext>
              </a:extLst>
            </p:cNvPr>
            <p:cNvSpPr/>
            <p:nvPr userDrawn="1"/>
          </p:nvSpPr>
          <p:spPr>
            <a:xfrm>
              <a:off x="9250999" y="2079375"/>
              <a:ext cx="335713" cy="335714"/>
            </a:xfrm>
            <a:custGeom>
              <a:avLst/>
              <a:gdLst>
                <a:gd name="connsiteX0" fmla="*/ 81915 w 163830"/>
                <a:gd name="connsiteY0" fmla="*/ 0 h 163830"/>
                <a:gd name="connsiteX1" fmla="*/ 0 w 163830"/>
                <a:gd name="connsiteY1" fmla="*/ 81915 h 163830"/>
                <a:gd name="connsiteX2" fmla="*/ 81915 w 163830"/>
                <a:gd name="connsiteY2" fmla="*/ 163830 h 163830"/>
                <a:gd name="connsiteX3" fmla="*/ 163830 w 163830"/>
                <a:gd name="connsiteY3" fmla="*/ 81915 h 163830"/>
                <a:gd name="connsiteX4" fmla="*/ 81915 w 163830"/>
                <a:gd name="connsiteY4" fmla="*/ 0 h 1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30">
                  <a:moveTo>
                    <a:pt x="81915" y="0"/>
                  </a:moveTo>
                  <a:cubicBezTo>
                    <a:pt x="36672" y="0"/>
                    <a:pt x="0" y="36671"/>
                    <a:pt x="0" y="81915"/>
                  </a:cubicBezTo>
                  <a:cubicBezTo>
                    <a:pt x="0" y="127159"/>
                    <a:pt x="36672" y="163830"/>
                    <a:pt x="81915" y="163830"/>
                  </a:cubicBezTo>
                  <a:cubicBezTo>
                    <a:pt x="127159" y="163830"/>
                    <a:pt x="163830" y="127159"/>
                    <a:pt x="163830" y="81915"/>
                  </a:cubicBezTo>
                  <a:cubicBezTo>
                    <a:pt x="163830" y="36671"/>
                    <a:pt x="127159" y="0"/>
                    <a:pt x="8191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221A9C7-C6AD-0626-16DC-BE6C6F74C19B}"/>
                </a:ext>
              </a:extLst>
            </p:cNvPr>
            <p:cNvSpPr/>
            <p:nvPr userDrawn="1"/>
          </p:nvSpPr>
          <p:spPr>
            <a:xfrm>
              <a:off x="8804617" y="2079375"/>
              <a:ext cx="335713" cy="335711"/>
            </a:xfrm>
            <a:custGeom>
              <a:avLst/>
              <a:gdLst>
                <a:gd name="connsiteX0" fmla="*/ 163830 w 163830"/>
                <a:gd name="connsiteY0" fmla="*/ 81915 h 163829"/>
                <a:gd name="connsiteX1" fmla="*/ 81915 w 163830"/>
                <a:gd name="connsiteY1" fmla="*/ 163830 h 163829"/>
                <a:gd name="connsiteX2" fmla="*/ 1 w 163830"/>
                <a:gd name="connsiteY2" fmla="*/ 81915 h 163829"/>
                <a:gd name="connsiteX3" fmla="*/ 81915 w 163830"/>
                <a:gd name="connsiteY3" fmla="*/ 0 h 163829"/>
                <a:gd name="connsiteX4" fmla="*/ 163830 w 163830"/>
                <a:gd name="connsiteY4" fmla="*/ 8191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29">
                  <a:moveTo>
                    <a:pt x="163830" y="81915"/>
                  </a:moveTo>
                  <a:cubicBezTo>
                    <a:pt x="163830" y="127155"/>
                    <a:pt x="127156" y="163830"/>
                    <a:pt x="81915" y="163830"/>
                  </a:cubicBezTo>
                  <a:cubicBezTo>
                    <a:pt x="36675" y="163830"/>
                    <a:pt x="1" y="127155"/>
                    <a:pt x="1" y="81915"/>
                  </a:cubicBezTo>
                  <a:cubicBezTo>
                    <a:pt x="1" y="36675"/>
                    <a:pt x="36675" y="0"/>
                    <a:pt x="81915" y="0"/>
                  </a:cubicBezTo>
                  <a:cubicBezTo>
                    <a:pt x="127156" y="0"/>
                    <a:pt x="163830" y="36675"/>
                    <a:pt x="163830" y="81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2857E51B-0F39-5587-5067-B466AAFF56CC}"/>
                </a:ext>
              </a:extLst>
            </p:cNvPr>
            <p:cNvSpPr/>
            <p:nvPr userDrawn="1"/>
          </p:nvSpPr>
          <p:spPr>
            <a:xfrm>
              <a:off x="3663327" y="1692523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9A5378C-3AD2-2975-4FF4-12CED3D169DD}"/>
                </a:ext>
              </a:extLst>
            </p:cNvPr>
            <p:cNvSpPr/>
            <p:nvPr userDrawn="1"/>
          </p:nvSpPr>
          <p:spPr>
            <a:xfrm>
              <a:off x="3867878" y="1889462"/>
              <a:ext cx="703825" cy="719246"/>
            </a:xfrm>
            <a:custGeom>
              <a:avLst/>
              <a:gdLst>
                <a:gd name="connsiteX0" fmla="*/ 204406 w 343471"/>
                <a:gd name="connsiteY0" fmla="*/ 148685 h 350996"/>
                <a:gd name="connsiteX1" fmla="*/ 332327 w 343471"/>
                <a:gd name="connsiteY1" fmla="*/ 0 h 350996"/>
                <a:gd name="connsiteX2" fmla="*/ 302038 w 343471"/>
                <a:gd name="connsiteY2" fmla="*/ 0 h 350996"/>
                <a:gd name="connsiteX3" fmla="*/ 190976 w 343471"/>
                <a:gd name="connsiteY3" fmla="*/ 129064 h 350996"/>
                <a:gd name="connsiteX4" fmla="*/ 102298 w 343471"/>
                <a:gd name="connsiteY4" fmla="*/ 0 h 350996"/>
                <a:gd name="connsiteX5" fmla="*/ 0 w 343471"/>
                <a:gd name="connsiteY5" fmla="*/ 0 h 350996"/>
                <a:gd name="connsiteX6" fmla="*/ 134112 w 343471"/>
                <a:gd name="connsiteY6" fmla="*/ 195167 h 350996"/>
                <a:gd name="connsiteX7" fmla="*/ 0 w 343471"/>
                <a:gd name="connsiteY7" fmla="*/ 350996 h 350996"/>
                <a:gd name="connsiteX8" fmla="*/ 30289 w 343471"/>
                <a:gd name="connsiteY8" fmla="*/ 350996 h 350996"/>
                <a:gd name="connsiteX9" fmla="*/ 147542 w 343471"/>
                <a:gd name="connsiteY9" fmla="*/ 214694 h 350996"/>
                <a:gd name="connsiteX10" fmla="*/ 241173 w 343471"/>
                <a:gd name="connsiteY10" fmla="*/ 350996 h 350996"/>
                <a:gd name="connsiteX11" fmla="*/ 343471 w 343471"/>
                <a:gd name="connsiteY11" fmla="*/ 350996 h 350996"/>
                <a:gd name="connsiteX12" fmla="*/ 204406 w 343471"/>
                <a:gd name="connsiteY12" fmla="*/ 148590 h 350996"/>
                <a:gd name="connsiteX13" fmla="*/ 204406 w 343471"/>
                <a:gd name="connsiteY13" fmla="*/ 148590 h 350996"/>
                <a:gd name="connsiteX14" fmla="*/ 162973 w 343471"/>
                <a:gd name="connsiteY14" fmla="*/ 196882 h 350996"/>
                <a:gd name="connsiteX15" fmla="*/ 149352 w 343471"/>
                <a:gd name="connsiteY15" fmla="*/ 177451 h 350996"/>
                <a:gd name="connsiteX16" fmla="*/ 41243 w 343471"/>
                <a:gd name="connsiteY16" fmla="*/ 22765 h 350996"/>
                <a:gd name="connsiteX17" fmla="*/ 87821 w 343471"/>
                <a:gd name="connsiteY17" fmla="*/ 22765 h 350996"/>
                <a:gd name="connsiteX18" fmla="*/ 175070 w 343471"/>
                <a:gd name="connsiteY18" fmla="*/ 147542 h 350996"/>
                <a:gd name="connsiteX19" fmla="*/ 188690 w 343471"/>
                <a:gd name="connsiteY19" fmla="*/ 166973 h 350996"/>
                <a:gd name="connsiteX20" fmla="*/ 302133 w 343471"/>
                <a:gd name="connsiteY20" fmla="*/ 329184 h 350996"/>
                <a:gd name="connsiteX21" fmla="*/ 255556 w 343471"/>
                <a:gd name="connsiteY21" fmla="*/ 329184 h 350996"/>
                <a:gd name="connsiteX22" fmla="*/ 162973 w 343471"/>
                <a:gd name="connsiteY22" fmla="*/ 196787 h 350996"/>
                <a:gd name="connsiteX23" fmla="*/ 162973 w 343471"/>
                <a:gd name="connsiteY23" fmla="*/ 196787 h 35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3471" h="350996">
                  <a:moveTo>
                    <a:pt x="204406" y="148685"/>
                  </a:moveTo>
                  <a:lnTo>
                    <a:pt x="332327" y="0"/>
                  </a:lnTo>
                  <a:lnTo>
                    <a:pt x="302038" y="0"/>
                  </a:lnTo>
                  <a:lnTo>
                    <a:pt x="190976" y="129064"/>
                  </a:lnTo>
                  <a:lnTo>
                    <a:pt x="102298" y="0"/>
                  </a:lnTo>
                  <a:lnTo>
                    <a:pt x="0" y="0"/>
                  </a:lnTo>
                  <a:lnTo>
                    <a:pt x="134112" y="195167"/>
                  </a:lnTo>
                  <a:lnTo>
                    <a:pt x="0" y="350996"/>
                  </a:lnTo>
                  <a:lnTo>
                    <a:pt x="30289" y="350996"/>
                  </a:lnTo>
                  <a:lnTo>
                    <a:pt x="147542" y="214694"/>
                  </a:lnTo>
                  <a:lnTo>
                    <a:pt x="241173" y="350996"/>
                  </a:lnTo>
                  <a:lnTo>
                    <a:pt x="343471" y="350996"/>
                  </a:lnTo>
                  <a:lnTo>
                    <a:pt x="204406" y="148590"/>
                  </a:lnTo>
                  <a:lnTo>
                    <a:pt x="204406" y="148590"/>
                  </a:lnTo>
                  <a:close/>
                  <a:moveTo>
                    <a:pt x="162973" y="196882"/>
                  </a:moveTo>
                  <a:lnTo>
                    <a:pt x="149352" y="177451"/>
                  </a:lnTo>
                  <a:lnTo>
                    <a:pt x="41243" y="22765"/>
                  </a:lnTo>
                  <a:lnTo>
                    <a:pt x="87821" y="22765"/>
                  </a:lnTo>
                  <a:lnTo>
                    <a:pt x="175070" y="147542"/>
                  </a:lnTo>
                  <a:lnTo>
                    <a:pt x="188690" y="166973"/>
                  </a:lnTo>
                  <a:lnTo>
                    <a:pt x="302133" y="329184"/>
                  </a:lnTo>
                  <a:lnTo>
                    <a:pt x="255556" y="329184"/>
                  </a:lnTo>
                  <a:lnTo>
                    <a:pt x="162973" y="196787"/>
                  </a:lnTo>
                  <a:lnTo>
                    <a:pt x="162973" y="19678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48517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-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285">
            <a:extLst>
              <a:ext uri="{FF2B5EF4-FFF2-40B4-BE49-F238E27FC236}">
                <a16:creationId xmlns:a16="http://schemas.microsoft.com/office/drawing/2014/main" id="{33C27B49-A27E-0D8E-47DA-07C46ED6F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88639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One-sentence headline stating the main takeaway message </a:t>
            </a:r>
            <a:br>
              <a:rPr lang="en-US"/>
            </a:br>
            <a:r>
              <a:rPr lang="en-US"/>
              <a:t>for the slide; no longer than two lines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22CDA623-F17D-C055-60D8-139C9924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73908" y="1647919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3347E071-335C-4249-3E65-B4125AADA3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9380" y="1654993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360">
            <a:extLst>
              <a:ext uri="{FF2B5EF4-FFF2-40B4-BE49-F238E27FC236}">
                <a16:creationId xmlns:a16="http://schemas.microsoft.com/office/drawing/2014/main" id="{3FE91602-2738-A673-EBF8-A0ACA14E65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6285" y="1677066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9403276D-5FB8-BD3C-65B5-24E0F431A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73238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1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DEAD8E05-AA79-AD7E-E31D-26EE870F8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9380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2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A7759041-293D-A1CE-7012-E2391337B1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6285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6527932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xag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FC910-D2D4-C5E3-4A8E-DB371D1637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9371" y="-23484"/>
            <a:ext cx="6737350" cy="6865418"/>
          </a:xfrm>
          <a:custGeom>
            <a:avLst/>
            <a:gdLst>
              <a:gd name="connsiteX0" fmla="*/ 4765422 w 6737350"/>
              <a:gd name="connsiteY0" fmla="*/ 5955463 h 6865418"/>
              <a:gd name="connsiteX1" fmla="*/ 6080062 w 6737350"/>
              <a:gd name="connsiteY1" fmla="*/ 5955463 h 6865418"/>
              <a:gd name="connsiteX2" fmla="*/ 6604382 w 6737350"/>
              <a:gd name="connsiteY2" fmla="*/ 6863640 h 6865418"/>
              <a:gd name="connsiteX3" fmla="*/ 4240721 w 6737350"/>
              <a:gd name="connsiteY3" fmla="*/ 6864212 h 6865418"/>
              <a:gd name="connsiteX4" fmla="*/ 2712846 w 6737350"/>
              <a:gd name="connsiteY4" fmla="*/ 4762425 h 6865418"/>
              <a:gd name="connsiteX5" fmla="*/ 4027487 w 6737350"/>
              <a:gd name="connsiteY5" fmla="*/ 4762425 h 6865418"/>
              <a:gd name="connsiteX6" fmla="*/ 4684776 w 6737350"/>
              <a:gd name="connsiteY6" fmla="*/ 5900917 h 6865418"/>
              <a:gd name="connsiteX7" fmla="*/ 4128579 w 6737350"/>
              <a:gd name="connsiteY7" fmla="*/ 6864339 h 6865418"/>
              <a:gd name="connsiteX8" fmla="*/ 2612326 w 6737350"/>
              <a:gd name="connsiteY8" fmla="*/ 6865418 h 6865418"/>
              <a:gd name="connsiteX9" fmla="*/ 2055495 w 6737350"/>
              <a:gd name="connsiteY9" fmla="*/ 5900917 h 6865418"/>
              <a:gd name="connsiteX10" fmla="*/ 4765421 w 6737350"/>
              <a:gd name="connsiteY10" fmla="*/ 3584563 h 6865418"/>
              <a:gd name="connsiteX11" fmla="*/ 6080061 w 6737350"/>
              <a:gd name="connsiteY11" fmla="*/ 3584563 h 6865418"/>
              <a:gd name="connsiteX12" fmla="*/ 6737350 w 6737350"/>
              <a:gd name="connsiteY12" fmla="*/ 4723055 h 6865418"/>
              <a:gd name="connsiteX13" fmla="*/ 6080061 w 6737350"/>
              <a:gd name="connsiteY13" fmla="*/ 5861546 h 6865418"/>
              <a:gd name="connsiteX14" fmla="*/ 4765421 w 6737350"/>
              <a:gd name="connsiteY14" fmla="*/ 5861546 h 6865418"/>
              <a:gd name="connsiteX15" fmla="*/ 4108069 w 6737350"/>
              <a:gd name="connsiteY15" fmla="*/ 4723055 h 6865418"/>
              <a:gd name="connsiteX16" fmla="*/ 2712846 w 6737350"/>
              <a:gd name="connsiteY16" fmla="*/ 2395463 h 6865418"/>
              <a:gd name="connsiteX17" fmla="*/ 4027487 w 6737350"/>
              <a:gd name="connsiteY17" fmla="*/ 2395463 h 6865418"/>
              <a:gd name="connsiteX18" fmla="*/ 4684776 w 6737350"/>
              <a:gd name="connsiteY18" fmla="*/ 3533955 h 6865418"/>
              <a:gd name="connsiteX19" fmla="*/ 4027487 w 6737350"/>
              <a:gd name="connsiteY19" fmla="*/ 4672446 h 6865418"/>
              <a:gd name="connsiteX20" fmla="*/ 2712846 w 6737350"/>
              <a:gd name="connsiteY20" fmla="*/ 4672446 h 6865418"/>
              <a:gd name="connsiteX21" fmla="*/ 2055495 w 6737350"/>
              <a:gd name="connsiteY21" fmla="*/ 3533955 h 6865418"/>
              <a:gd name="connsiteX22" fmla="*/ 657289 w 6737350"/>
              <a:gd name="connsiteY22" fmla="*/ 1217538 h 6865418"/>
              <a:gd name="connsiteX23" fmla="*/ 1971929 w 6737350"/>
              <a:gd name="connsiteY23" fmla="*/ 1217538 h 6865418"/>
              <a:gd name="connsiteX24" fmla="*/ 2629281 w 6737350"/>
              <a:gd name="connsiteY24" fmla="*/ 2356092 h 6865418"/>
              <a:gd name="connsiteX25" fmla="*/ 1971929 w 6737350"/>
              <a:gd name="connsiteY25" fmla="*/ 3494584 h 6865418"/>
              <a:gd name="connsiteX26" fmla="*/ 657289 w 6737350"/>
              <a:gd name="connsiteY26" fmla="*/ 3494584 h 6865418"/>
              <a:gd name="connsiteX27" fmla="*/ 0 w 6737350"/>
              <a:gd name="connsiteY27" fmla="*/ 2356092 h 6865418"/>
              <a:gd name="connsiteX28" fmla="*/ 4765421 w 6737350"/>
              <a:gd name="connsiteY28" fmla="*/ 1217537 h 6865418"/>
              <a:gd name="connsiteX29" fmla="*/ 6080061 w 6737350"/>
              <a:gd name="connsiteY29" fmla="*/ 1217537 h 6865418"/>
              <a:gd name="connsiteX30" fmla="*/ 6737350 w 6737350"/>
              <a:gd name="connsiteY30" fmla="*/ 2356092 h 6865418"/>
              <a:gd name="connsiteX31" fmla="*/ 6080061 w 6737350"/>
              <a:gd name="connsiteY31" fmla="*/ 3494584 h 6865418"/>
              <a:gd name="connsiteX32" fmla="*/ 4765421 w 6737350"/>
              <a:gd name="connsiteY32" fmla="*/ 3494584 h 6865418"/>
              <a:gd name="connsiteX33" fmla="*/ 4108069 w 6737350"/>
              <a:gd name="connsiteY33" fmla="*/ 2356092 h 6865418"/>
              <a:gd name="connsiteX34" fmla="*/ 2712846 w 6737350"/>
              <a:gd name="connsiteY34" fmla="*/ 39549 h 6865418"/>
              <a:gd name="connsiteX35" fmla="*/ 4027487 w 6737350"/>
              <a:gd name="connsiteY35" fmla="*/ 39549 h 6865418"/>
              <a:gd name="connsiteX36" fmla="*/ 4684776 w 6737350"/>
              <a:gd name="connsiteY36" fmla="*/ 1178041 h 6865418"/>
              <a:gd name="connsiteX37" fmla="*/ 4027487 w 6737350"/>
              <a:gd name="connsiteY37" fmla="*/ 2316532 h 6865418"/>
              <a:gd name="connsiteX38" fmla="*/ 2712846 w 6737350"/>
              <a:gd name="connsiteY38" fmla="*/ 2316532 h 6865418"/>
              <a:gd name="connsiteX39" fmla="*/ 2055495 w 6737350"/>
              <a:gd name="connsiteY39" fmla="*/ 1178041 h 6865418"/>
              <a:gd name="connsiteX40" fmla="*/ 13492 w 6737350"/>
              <a:gd name="connsiteY40" fmla="*/ 0 h 6865418"/>
              <a:gd name="connsiteX41" fmla="*/ 2631396 w 6737350"/>
              <a:gd name="connsiteY41" fmla="*/ 13447 h 6865418"/>
              <a:gd name="connsiteX42" fmla="*/ 1973010 w 6737350"/>
              <a:gd name="connsiteY42" fmla="*/ 1137655 h 6865418"/>
              <a:gd name="connsiteX43" fmla="*/ 658369 w 6737350"/>
              <a:gd name="connsiteY43" fmla="*/ 1137655 h 68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737350" h="6865418">
                <a:moveTo>
                  <a:pt x="4765422" y="5955463"/>
                </a:moveTo>
                <a:lnTo>
                  <a:pt x="6080062" y="5955463"/>
                </a:lnTo>
                <a:lnTo>
                  <a:pt x="6604382" y="6863640"/>
                </a:lnTo>
                <a:lnTo>
                  <a:pt x="4240721" y="6864212"/>
                </a:lnTo>
                <a:close/>
                <a:moveTo>
                  <a:pt x="2712846" y="4762425"/>
                </a:moveTo>
                <a:lnTo>
                  <a:pt x="4027487" y="4762425"/>
                </a:lnTo>
                <a:lnTo>
                  <a:pt x="4684776" y="5900917"/>
                </a:lnTo>
                <a:lnTo>
                  <a:pt x="4128579" y="6864339"/>
                </a:lnTo>
                <a:lnTo>
                  <a:pt x="2612326" y="6865418"/>
                </a:lnTo>
                <a:lnTo>
                  <a:pt x="2055495" y="5900917"/>
                </a:lnTo>
                <a:close/>
                <a:moveTo>
                  <a:pt x="4765421" y="3584563"/>
                </a:moveTo>
                <a:lnTo>
                  <a:pt x="6080061" y="3584563"/>
                </a:lnTo>
                <a:lnTo>
                  <a:pt x="6737350" y="4723055"/>
                </a:lnTo>
                <a:lnTo>
                  <a:pt x="6080061" y="5861546"/>
                </a:lnTo>
                <a:lnTo>
                  <a:pt x="4765421" y="5861546"/>
                </a:lnTo>
                <a:lnTo>
                  <a:pt x="4108069" y="4723055"/>
                </a:lnTo>
                <a:close/>
                <a:moveTo>
                  <a:pt x="2712846" y="2395463"/>
                </a:moveTo>
                <a:lnTo>
                  <a:pt x="4027487" y="2395463"/>
                </a:lnTo>
                <a:lnTo>
                  <a:pt x="4684776" y="3533955"/>
                </a:lnTo>
                <a:lnTo>
                  <a:pt x="4027487" y="4672446"/>
                </a:lnTo>
                <a:lnTo>
                  <a:pt x="2712846" y="4672446"/>
                </a:lnTo>
                <a:lnTo>
                  <a:pt x="2055495" y="3533955"/>
                </a:lnTo>
                <a:close/>
                <a:moveTo>
                  <a:pt x="657289" y="1217538"/>
                </a:moveTo>
                <a:lnTo>
                  <a:pt x="1971929" y="1217538"/>
                </a:lnTo>
                <a:lnTo>
                  <a:pt x="2629281" y="2356092"/>
                </a:lnTo>
                <a:lnTo>
                  <a:pt x="1971929" y="3494584"/>
                </a:lnTo>
                <a:lnTo>
                  <a:pt x="657289" y="3494584"/>
                </a:lnTo>
                <a:lnTo>
                  <a:pt x="0" y="2356092"/>
                </a:lnTo>
                <a:close/>
                <a:moveTo>
                  <a:pt x="4765421" y="1217537"/>
                </a:moveTo>
                <a:lnTo>
                  <a:pt x="6080061" y="1217537"/>
                </a:lnTo>
                <a:lnTo>
                  <a:pt x="6737350" y="2356092"/>
                </a:lnTo>
                <a:lnTo>
                  <a:pt x="6080061" y="3494584"/>
                </a:lnTo>
                <a:lnTo>
                  <a:pt x="4765421" y="3494584"/>
                </a:lnTo>
                <a:lnTo>
                  <a:pt x="4108069" y="2356092"/>
                </a:lnTo>
                <a:close/>
                <a:moveTo>
                  <a:pt x="2712846" y="39549"/>
                </a:moveTo>
                <a:lnTo>
                  <a:pt x="4027487" y="39549"/>
                </a:lnTo>
                <a:lnTo>
                  <a:pt x="4684776" y="1178041"/>
                </a:lnTo>
                <a:lnTo>
                  <a:pt x="4027487" y="2316532"/>
                </a:lnTo>
                <a:lnTo>
                  <a:pt x="2712846" y="2316532"/>
                </a:lnTo>
                <a:lnTo>
                  <a:pt x="2055495" y="1178041"/>
                </a:lnTo>
                <a:close/>
                <a:moveTo>
                  <a:pt x="13492" y="0"/>
                </a:moveTo>
                <a:lnTo>
                  <a:pt x="2631396" y="13447"/>
                </a:lnTo>
                <a:lnTo>
                  <a:pt x="1973010" y="1137655"/>
                </a:lnTo>
                <a:lnTo>
                  <a:pt x="658369" y="11376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4412934" cy="1772793"/>
          </a:xfrm>
        </p:spPr>
        <p:txBody>
          <a:bodyPr anchor="t" anchorCtr="0">
            <a:noAutofit/>
          </a:bodyPr>
          <a:lstStyle/>
          <a:p>
            <a:r>
              <a:rPr lang="en-US"/>
              <a:t>One-sentence headline stating the main takeaway message </a:t>
            </a:r>
            <a:br>
              <a:rPr lang="en-US"/>
            </a:br>
            <a:r>
              <a:rPr lang="en-US"/>
              <a:t>for the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3" y="2514601"/>
            <a:ext cx="4412934" cy="3756990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Supporting point 1 </a:t>
            </a:r>
            <a:br>
              <a:rPr lang="en-US"/>
            </a:br>
            <a:r>
              <a:rPr lang="en-US"/>
              <a:t>Supporting point 2</a:t>
            </a:r>
            <a:br>
              <a:rPr lang="en-US"/>
            </a:br>
            <a:r>
              <a:rPr lang="en-US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3554203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OR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85">
            <a:extLst>
              <a:ext uri="{FF2B5EF4-FFF2-40B4-BE49-F238E27FC236}">
                <a16:creationId xmlns:a16="http://schemas.microsoft.com/office/drawing/2014/main" id="{89B1F087-DF83-09A8-95A1-156B3E9031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E6F3ADE-A89C-6520-CF9E-35DBBF658006}"/>
              </a:ext>
            </a:extLst>
          </p:cNvPr>
          <p:cNvGrpSpPr/>
          <p:nvPr userDrawn="1"/>
        </p:nvGrpSpPr>
        <p:grpSpPr>
          <a:xfrm>
            <a:off x="4258364" y="5999147"/>
            <a:ext cx="3675272" cy="369332"/>
            <a:chOff x="2384568" y="6390825"/>
            <a:chExt cx="3439954" cy="34568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1B8E79D-B334-5A32-32FE-8CC93A632A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4FEE0D-24E7-9F86-60D8-E8982B5DB295}"/>
                </a:ext>
              </a:extLst>
            </p:cNvPr>
            <p:cNvSpPr txBox="1"/>
            <p:nvPr userDrawn="1"/>
          </p:nvSpPr>
          <p:spPr>
            <a:xfrm>
              <a:off x="3588247" y="6390825"/>
              <a:ext cx="2236275" cy="345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5CAC3282-DC62-4A2A-767F-48373E113E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9255" y="2735048"/>
            <a:ext cx="5773490" cy="138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54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7F5FE8-EEC7-67B2-23CA-6317A09EC1C3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67EBD65F-7A79-9652-F7C1-6641D58BB6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590B2B-7207-6B40-ABBA-4951494CE346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0CC98B-0236-D532-64F0-10F93006B7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7F54ED46-1EA9-A562-A3EA-59063A4719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1109986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EFA7AA-E5D0-B3D1-56EA-52FE09A4CA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046" y="1379538"/>
            <a:ext cx="11099867" cy="44354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B81FB0-4D6C-66BC-FF46-EDCBF71079F1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9C7B3A80-3F7A-CC1E-A5F0-B575EC4536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35509471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idebar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00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753CB-6476-BF2C-3CDC-FAB102C7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33DD6-9940-13F2-ECB0-187773310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692" y="1817556"/>
            <a:ext cx="11492432" cy="40205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25FC33D5-6A3D-626E-929B-EDEF84A7F09B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100" b="1" smtClean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100" b="1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1" name="Rectangle 256">
            <a:extLst>
              <a:ext uri="{FF2B5EF4-FFF2-40B4-BE49-F238E27FC236}">
                <a16:creationId xmlns:a16="http://schemas.microsoft.com/office/drawing/2014/main" id="{DF5E4726-94A1-FED7-677B-96B37254660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7599464" y="6576851"/>
            <a:ext cx="3860800" cy="152400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0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E8AFC4-0CE6-E93B-9E8C-DB368BD3C3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1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939" r:id="rId2"/>
    <p:sldLayoutId id="2147483896" r:id="rId3"/>
    <p:sldLayoutId id="2147483927" r:id="rId4"/>
    <p:sldLayoutId id="2147483941" r:id="rId5"/>
    <p:sldLayoutId id="2147483928" r:id="rId6"/>
    <p:sldLayoutId id="2147483937" r:id="rId7"/>
    <p:sldLayoutId id="2147483942" r:id="rId8"/>
    <p:sldLayoutId id="2147483943" r:id="rId9"/>
    <p:sldLayoutId id="2147483897" r:id="rId10"/>
    <p:sldLayoutId id="2147483894" r:id="rId11"/>
    <p:sldLayoutId id="2147483827" r:id="rId12"/>
    <p:sldLayoutId id="2147483861" r:id="rId13"/>
    <p:sldLayoutId id="2147483934" r:id="rId14"/>
    <p:sldLayoutId id="2147483831" r:id="rId15"/>
    <p:sldLayoutId id="2147483832" r:id="rId16"/>
    <p:sldLayoutId id="2147483833" r:id="rId17"/>
    <p:sldLayoutId id="2147483834" r:id="rId18"/>
    <p:sldLayoutId id="2147483940" r:id="rId19"/>
    <p:sldLayoutId id="2147483905" r:id="rId20"/>
    <p:sldLayoutId id="2147483835" r:id="rId21"/>
    <p:sldLayoutId id="2147483938" r:id="rId22"/>
    <p:sldLayoutId id="2147483868" r:id="rId23"/>
    <p:sldLayoutId id="2147483930" r:id="rId24"/>
    <p:sldLayoutId id="2147483906" r:id="rId25"/>
    <p:sldLayoutId id="2147483829" r:id="rId26"/>
    <p:sldLayoutId id="2147483849" r:id="rId27"/>
    <p:sldLayoutId id="2147483944" r:id="rId28"/>
    <p:sldLayoutId id="2147483945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840813-7735-7870-4954-E123BBC35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344" y="2254309"/>
            <a:ext cx="4517136" cy="997196"/>
          </a:xfrm>
        </p:spPr>
        <p:txBody>
          <a:bodyPr/>
          <a:lstStyle/>
          <a:p>
            <a:r>
              <a:rPr lang="en-US"/>
              <a:t>Real-Twin Monthly Meeting 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5A09B5E-ED3D-E267-C2B3-397E9F931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344" y="4031052"/>
            <a:ext cx="4517136" cy="193899"/>
          </a:xfrm>
        </p:spPr>
        <p:txBody>
          <a:bodyPr/>
          <a:lstStyle/>
          <a:p>
            <a:r>
              <a:rPr lang="en-US"/>
              <a:t>August 10, 2026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D0E904-04A7-3517-9C7C-56A69D9D6C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7344" y="4342138"/>
            <a:ext cx="4805892" cy="977205"/>
          </a:xfrm>
        </p:spPr>
        <p:txBody>
          <a:bodyPr/>
          <a:lstStyle/>
          <a:p>
            <a:r>
              <a:rPr lang="en-US">
                <a:ea typeface="Roboto Light"/>
              </a:rPr>
              <a:t>Ross Wang</a:t>
            </a:r>
            <a:r>
              <a:rPr lang="en-US" baseline="30000">
                <a:ea typeface="Roboto Light"/>
              </a:rPr>
              <a:t>1</a:t>
            </a:r>
            <a:r>
              <a:rPr lang="en-US">
                <a:ea typeface="Roboto Light"/>
              </a:rPr>
              <a:t>, Guanhao Xu</a:t>
            </a:r>
            <a:r>
              <a:rPr lang="en-US" baseline="30000">
                <a:ea typeface="Roboto Light"/>
              </a:rPr>
              <a:t>1</a:t>
            </a:r>
            <a:r>
              <a:rPr lang="en-US">
                <a:ea typeface="Roboto Light"/>
              </a:rPr>
              <a:t>, Abhilasha Saroj</a:t>
            </a:r>
            <a:r>
              <a:rPr lang="en-US" baseline="30000">
                <a:ea typeface="Roboto Light"/>
              </a:rPr>
              <a:t>1</a:t>
            </a:r>
            <a:r>
              <a:rPr lang="en-US">
                <a:ea typeface="Roboto Light"/>
              </a:rPr>
              <a:t>, Roy Luo</a:t>
            </a:r>
            <a:r>
              <a:rPr lang="en-US" baseline="30000">
                <a:ea typeface="Roboto Light"/>
              </a:rPr>
              <a:t>1</a:t>
            </a:r>
            <a:r>
              <a:rPr lang="en-US">
                <a:ea typeface="Roboto Light"/>
              </a:rPr>
              <a:t>, Jinghui Yuan</a:t>
            </a:r>
            <a:r>
              <a:rPr lang="en-US" baseline="30000">
                <a:ea typeface="Roboto Light"/>
              </a:rPr>
              <a:t>1</a:t>
            </a:r>
            <a:r>
              <a:rPr lang="en-US">
                <a:ea typeface="Roboto Light"/>
              </a:rPr>
              <a:t>, Yunli Shao</a:t>
            </a:r>
            <a:r>
              <a:rPr lang="en-US" baseline="30000">
                <a:ea typeface="Roboto Light"/>
              </a:rPr>
              <a:t>2</a:t>
            </a:r>
            <a:r>
              <a:rPr lang="en-US">
                <a:ea typeface="Roboto Light"/>
              </a:rPr>
              <a:t> </a:t>
            </a:r>
            <a:endParaRPr lang="en-US" baseline="30000">
              <a:ea typeface="Roboto Light"/>
            </a:endParaRPr>
          </a:p>
          <a:p>
            <a:r>
              <a:rPr lang="en-US" sz="1000" baseline="30000">
                <a:ea typeface="Roboto Light"/>
                <a:cs typeface="Roboto"/>
              </a:rPr>
              <a:t>1 </a:t>
            </a:r>
            <a:r>
              <a:rPr lang="en-US" sz="1000">
                <a:ea typeface="Roboto Light"/>
                <a:cs typeface="Roboto"/>
              </a:rPr>
              <a:t>Oak Ridge National Laboratory; </a:t>
            </a:r>
            <a:r>
              <a:rPr lang="en-US" sz="1000" baseline="30000">
                <a:ea typeface="Roboto Light"/>
                <a:cs typeface="Roboto"/>
              </a:rPr>
              <a:t>2 </a:t>
            </a:r>
            <a:r>
              <a:rPr lang="en-US" sz="1000">
                <a:ea typeface="Roboto Light"/>
                <a:cs typeface="Roboto"/>
              </a:rPr>
              <a:t>University of Georgia</a:t>
            </a:r>
          </a:p>
        </p:txBody>
      </p:sp>
    </p:spTree>
    <p:extLst>
      <p:ext uri="{BB962C8B-B14F-4D97-AF65-F5344CB8AC3E}">
        <p14:creationId xmlns:p14="http://schemas.microsoft.com/office/powerpoint/2010/main" val="279803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68451EA-E635-DCAB-B6B3-EF71DF9B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 sz="2800"/>
              <a:t>Current Milestone(s)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33BD8D92-4C47-A3D0-E8A5-C33FF139DA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978618"/>
              </p:ext>
            </p:extLst>
          </p:nvPr>
        </p:nvGraphicFramePr>
        <p:xfrm>
          <a:off x="668340" y="1352374"/>
          <a:ext cx="10855319" cy="183109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4218963">
                  <a:extLst>
                    <a:ext uri="{9D8B030D-6E8A-4147-A177-3AD203B41FA5}">
                      <a16:colId xmlns:a16="http://schemas.microsoft.com/office/drawing/2014/main" val="4087491247"/>
                    </a:ext>
                  </a:extLst>
                </a:gridCol>
                <a:gridCol w="4242547">
                  <a:extLst>
                    <a:ext uri="{9D8B030D-6E8A-4147-A177-3AD203B41FA5}">
                      <a16:colId xmlns:a16="http://schemas.microsoft.com/office/drawing/2014/main" val="1836666115"/>
                    </a:ext>
                  </a:extLst>
                </a:gridCol>
                <a:gridCol w="1058902">
                  <a:extLst>
                    <a:ext uri="{9D8B030D-6E8A-4147-A177-3AD203B41FA5}">
                      <a16:colId xmlns:a16="http://schemas.microsoft.com/office/drawing/2014/main" val="81719192"/>
                    </a:ext>
                  </a:extLst>
                </a:gridCol>
                <a:gridCol w="1334907">
                  <a:extLst>
                    <a:ext uri="{9D8B030D-6E8A-4147-A177-3AD203B41FA5}">
                      <a16:colId xmlns:a16="http://schemas.microsoft.com/office/drawing/2014/main" val="3811349088"/>
                    </a:ext>
                  </a:extLst>
                </a:gridCol>
              </a:tblGrid>
              <a:tr h="4990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Milestone Name/Description*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Criteria*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Date*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Type*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50658663"/>
                  </a:ext>
                </a:extLst>
              </a:tr>
              <a:tr h="1332016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Develop and demonstrate the Real-Twin advanced automation workflow and functionality with at least 2 example microscopic simulators. Subtask 3.2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Presentation documenting and demonstrating Real-Twin automation workflow </a:t>
                      </a:r>
                      <a:r>
                        <a:rPr lang="en-US" sz="1600" b="1" kern="120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 1 additional simulator (VISSIM).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8/31/2026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Go/No Go Decision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00109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02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DDA0-F5B6-A60D-20D4-FA99CA1B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">
            <a:extLst>
              <a:ext uri="{FF2B5EF4-FFF2-40B4-BE49-F238E27FC236}">
                <a16:creationId xmlns:a16="http://schemas.microsoft.com/office/drawing/2014/main" id="{58127F94-D4BB-78B0-20D4-8CCF05F036D4}"/>
              </a:ext>
            </a:extLst>
          </p:cNvPr>
          <p:cNvSpPr/>
          <p:nvPr/>
        </p:nvSpPr>
        <p:spPr>
          <a:xfrm>
            <a:off x="286089" y="1541986"/>
            <a:ext cx="11018520" cy="18288"/>
          </a:xfrm>
          <a:prstGeom prst="rect">
            <a:avLst/>
          </a:prstGeom>
          <a:solidFill>
            <a:srgbClr val="DCE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684BFE59-0C3C-A983-542C-BFA12D3DC22D}"/>
              </a:ext>
            </a:extLst>
          </p:cNvPr>
          <p:cNvSpPr/>
          <p:nvPr/>
        </p:nvSpPr>
        <p:spPr>
          <a:xfrm>
            <a:off x="2398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D628F9E8-BA6A-3216-A47C-B3C2065EA0C3}"/>
              </a:ext>
            </a:extLst>
          </p:cNvPr>
          <p:cNvSpPr/>
          <p:nvPr/>
        </p:nvSpPr>
        <p:spPr>
          <a:xfrm>
            <a:off x="4684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52445AE7-2864-29DD-70EB-D2446439B7C2}"/>
              </a:ext>
            </a:extLst>
          </p:cNvPr>
          <p:cNvSpPr/>
          <p:nvPr/>
        </p:nvSpPr>
        <p:spPr>
          <a:xfrm>
            <a:off x="6970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B6C9BDC1-CA30-A645-3A29-5ECA3720D05E}"/>
              </a:ext>
            </a:extLst>
          </p:cNvPr>
          <p:cNvSpPr/>
          <p:nvPr/>
        </p:nvSpPr>
        <p:spPr>
          <a:xfrm>
            <a:off x="9256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5971D2A9-55B0-1AE2-F29E-EEF18B18B787}"/>
              </a:ext>
            </a:extLst>
          </p:cNvPr>
          <p:cNvSpPr/>
          <p:nvPr/>
        </p:nvSpPr>
        <p:spPr>
          <a:xfrm>
            <a:off x="1058757" y="1706578"/>
            <a:ext cx="548640" cy="548640"/>
          </a:xfrm>
          <a:prstGeom prst="ellipse">
            <a:avLst/>
          </a:prstGeom>
          <a:solidFill>
            <a:srgbClr val="00A5B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0B0E68FA-7CE8-A582-925E-98FC14D89885}"/>
              </a:ext>
            </a:extLst>
          </p:cNvPr>
          <p:cNvSpPr/>
          <p:nvPr/>
        </p:nvSpPr>
        <p:spPr>
          <a:xfrm>
            <a:off x="1058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1</a:t>
            </a:r>
            <a:endParaRPr lang="en-US" sz="1550"/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1CEBFA3E-06C6-2CE4-31F9-197366D4B0F0}"/>
              </a:ext>
            </a:extLst>
          </p:cNvPr>
          <p:cNvSpPr/>
          <p:nvPr/>
        </p:nvSpPr>
        <p:spPr>
          <a:xfrm>
            <a:off x="304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5B5"/>
                </a:solidFill>
                <a:ea typeface="Aptos" pitchFamily="34" charset="-122"/>
                <a:cs typeface="Aptos" pitchFamily="34" charset="-120"/>
              </a:rPr>
              <a:t>Step 1</a:t>
            </a:r>
            <a:endParaRPr lang="en-US" sz="105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2E1AE4F3-91D7-0E50-360A-88A47CFFA971}"/>
              </a:ext>
            </a:extLst>
          </p:cNvPr>
          <p:cNvSpPr/>
          <p:nvPr/>
        </p:nvSpPr>
        <p:spPr>
          <a:xfrm>
            <a:off x="331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Network Generation &amp; Import</a:t>
            </a:r>
            <a:endParaRPr lang="en-US" sz="1550"/>
          </a:p>
        </p:txBody>
      </p:sp>
      <p:sp>
        <p:nvSpPr>
          <p:cNvPr id="101" name="Shape 12">
            <a:extLst>
              <a:ext uri="{FF2B5EF4-FFF2-40B4-BE49-F238E27FC236}">
                <a16:creationId xmlns:a16="http://schemas.microsoft.com/office/drawing/2014/main" id="{20C145EE-48EF-283D-1282-2856FD6D2047}"/>
              </a:ext>
            </a:extLst>
          </p:cNvPr>
          <p:cNvSpPr/>
          <p:nvPr/>
        </p:nvSpPr>
        <p:spPr>
          <a:xfrm>
            <a:off x="304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FAA7E31A-F71F-C149-C30C-738247066F07}"/>
              </a:ext>
            </a:extLst>
          </p:cNvPr>
          <p:cNvSpPr/>
          <p:nvPr/>
        </p:nvSpPr>
        <p:spPr>
          <a:xfrm>
            <a:off x="423249" y="3306778"/>
            <a:ext cx="1819656" cy="73152"/>
          </a:xfrm>
          <a:prstGeom prst="rect">
            <a:avLst/>
          </a:prstGeom>
          <a:solidFill>
            <a:srgbClr val="00A5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4">
            <a:extLst>
              <a:ext uri="{FF2B5EF4-FFF2-40B4-BE49-F238E27FC236}">
                <a16:creationId xmlns:a16="http://schemas.microsoft.com/office/drawing/2014/main" id="{CE8803D8-2A2A-AC9F-EB5C-A5A4C7135EB4}"/>
              </a:ext>
            </a:extLst>
          </p:cNvPr>
          <p:cNvSpPr/>
          <p:nvPr/>
        </p:nvSpPr>
        <p:spPr>
          <a:xfrm>
            <a:off x="487257" y="3581098"/>
            <a:ext cx="17556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Import an existing network or generate a network for the area of interest using OpenStreetMap data</a:t>
            </a:r>
            <a:endParaRPr lang="en-US" sz="1300"/>
          </a:p>
        </p:txBody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51E527A-9BF4-D63F-DC74-313513CCAB6D}"/>
              </a:ext>
            </a:extLst>
          </p:cNvPr>
          <p:cNvSpPr/>
          <p:nvPr/>
        </p:nvSpPr>
        <p:spPr>
          <a:xfrm>
            <a:off x="423249" y="5016706"/>
            <a:ext cx="1819656" cy="36576"/>
          </a:xfrm>
          <a:prstGeom prst="rect">
            <a:avLst/>
          </a:prstGeom>
          <a:solidFill>
            <a:srgbClr val="E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6">
            <a:extLst>
              <a:ext uri="{FF2B5EF4-FFF2-40B4-BE49-F238E27FC236}">
                <a16:creationId xmlns:a16="http://schemas.microsoft.com/office/drawing/2014/main" id="{DE894470-73A6-58FD-596F-8B815FD05F38}"/>
              </a:ext>
            </a:extLst>
          </p:cNvPr>
          <p:cNvSpPr/>
          <p:nvPr/>
        </p:nvSpPr>
        <p:spPr>
          <a:xfrm>
            <a:off x="3344757" y="1706578"/>
            <a:ext cx="548640" cy="548640"/>
          </a:xfrm>
          <a:prstGeom prst="ellipse">
            <a:avLst/>
          </a:prstGeom>
          <a:solidFill>
            <a:srgbClr val="2F80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7">
            <a:extLst>
              <a:ext uri="{FF2B5EF4-FFF2-40B4-BE49-F238E27FC236}">
                <a16:creationId xmlns:a16="http://schemas.microsoft.com/office/drawing/2014/main" id="{565D46D5-0416-EAD8-5AB7-C5BF059CD046}"/>
              </a:ext>
            </a:extLst>
          </p:cNvPr>
          <p:cNvSpPr/>
          <p:nvPr/>
        </p:nvSpPr>
        <p:spPr>
          <a:xfrm>
            <a:off x="3344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2</a:t>
            </a:r>
            <a:endParaRPr lang="en-US" sz="1550"/>
          </a:p>
        </p:txBody>
      </p:sp>
      <p:sp>
        <p:nvSpPr>
          <p:cNvPr id="117" name="Text 18">
            <a:extLst>
              <a:ext uri="{FF2B5EF4-FFF2-40B4-BE49-F238E27FC236}">
                <a16:creationId xmlns:a16="http://schemas.microsoft.com/office/drawing/2014/main" id="{394934E9-14B3-201B-DADF-7F82779CFF4E}"/>
              </a:ext>
            </a:extLst>
          </p:cNvPr>
          <p:cNvSpPr/>
          <p:nvPr/>
        </p:nvSpPr>
        <p:spPr>
          <a:xfrm>
            <a:off x="2590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F80ED"/>
                </a:solidFill>
                <a:ea typeface="Aptos" pitchFamily="34" charset="-122"/>
                <a:cs typeface="Aptos" pitchFamily="34" charset="-120"/>
              </a:rPr>
              <a:t>Step 2</a:t>
            </a:r>
            <a:endParaRPr lang="en-US" sz="105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899AF705-BAC8-7414-117C-5711582D1B11}"/>
              </a:ext>
            </a:extLst>
          </p:cNvPr>
          <p:cNvSpPr/>
          <p:nvPr/>
        </p:nvSpPr>
        <p:spPr>
          <a:xfrm>
            <a:off x="2617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Matchup Table Generation</a:t>
            </a:r>
            <a:endParaRPr lang="en-US" sz="1550"/>
          </a:p>
        </p:txBody>
      </p:sp>
      <p:sp>
        <p:nvSpPr>
          <p:cNvPr id="121" name="Shape 20">
            <a:extLst>
              <a:ext uri="{FF2B5EF4-FFF2-40B4-BE49-F238E27FC236}">
                <a16:creationId xmlns:a16="http://schemas.microsoft.com/office/drawing/2014/main" id="{D846E366-C29B-2A07-708A-86D3C958BF32}"/>
              </a:ext>
            </a:extLst>
          </p:cNvPr>
          <p:cNvSpPr/>
          <p:nvPr/>
        </p:nvSpPr>
        <p:spPr>
          <a:xfrm>
            <a:off x="2590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21">
            <a:extLst>
              <a:ext uri="{FF2B5EF4-FFF2-40B4-BE49-F238E27FC236}">
                <a16:creationId xmlns:a16="http://schemas.microsoft.com/office/drawing/2014/main" id="{12D436C1-D8F4-EF5E-60DB-BF4CFDF29B03}"/>
              </a:ext>
            </a:extLst>
          </p:cNvPr>
          <p:cNvSpPr/>
          <p:nvPr/>
        </p:nvSpPr>
        <p:spPr>
          <a:xfrm>
            <a:off x="2709249" y="3306778"/>
            <a:ext cx="1819656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A19C80F5-CADB-121F-967C-62D972E920B1}"/>
              </a:ext>
            </a:extLst>
          </p:cNvPr>
          <p:cNvSpPr/>
          <p:nvPr/>
        </p:nvSpPr>
        <p:spPr>
          <a:xfrm>
            <a:off x="2773257" y="3581098"/>
            <a:ext cx="17556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Generate mapping tables that align real-world network elements with their corresponding simulator object IDs</a:t>
            </a:r>
            <a:endParaRPr lang="en-US" sz="13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9D5C4560-EBA5-1513-4F97-1AA8D0CD4B14}"/>
              </a:ext>
            </a:extLst>
          </p:cNvPr>
          <p:cNvSpPr/>
          <p:nvPr/>
        </p:nvSpPr>
        <p:spPr>
          <a:xfrm>
            <a:off x="2709249" y="5016706"/>
            <a:ext cx="1819656" cy="36576"/>
          </a:xfrm>
          <a:prstGeom prst="rect">
            <a:avLst/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24">
            <a:extLst>
              <a:ext uri="{FF2B5EF4-FFF2-40B4-BE49-F238E27FC236}">
                <a16:creationId xmlns:a16="http://schemas.microsoft.com/office/drawing/2014/main" id="{C37C3221-A6D5-A028-157F-B8EFF152E786}"/>
              </a:ext>
            </a:extLst>
          </p:cNvPr>
          <p:cNvSpPr/>
          <p:nvPr/>
        </p:nvSpPr>
        <p:spPr>
          <a:xfrm>
            <a:off x="5630757" y="1706578"/>
            <a:ext cx="548640" cy="54864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25">
            <a:extLst>
              <a:ext uri="{FF2B5EF4-FFF2-40B4-BE49-F238E27FC236}">
                <a16:creationId xmlns:a16="http://schemas.microsoft.com/office/drawing/2014/main" id="{7CD72D5B-2C47-4967-BB14-FCD8AD8B7816}"/>
              </a:ext>
            </a:extLst>
          </p:cNvPr>
          <p:cNvSpPr/>
          <p:nvPr/>
        </p:nvSpPr>
        <p:spPr>
          <a:xfrm>
            <a:off x="5630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3</a:t>
            </a:r>
            <a:endParaRPr lang="en-US" sz="1550"/>
          </a:p>
        </p:txBody>
      </p:sp>
      <p:sp>
        <p:nvSpPr>
          <p:cNvPr id="133" name="Text 26">
            <a:extLst>
              <a:ext uri="{FF2B5EF4-FFF2-40B4-BE49-F238E27FC236}">
                <a16:creationId xmlns:a16="http://schemas.microsoft.com/office/drawing/2014/main" id="{BD126BEB-82F8-D859-CB01-6923F60DC8EB}"/>
              </a:ext>
            </a:extLst>
          </p:cNvPr>
          <p:cNvSpPr/>
          <p:nvPr/>
        </p:nvSpPr>
        <p:spPr>
          <a:xfrm>
            <a:off x="4876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8B5CF6"/>
                </a:solidFill>
                <a:ea typeface="Aptos" pitchFamily="34" charset="-122"/>
                <a:cs typeface="Aptos" pitchFamily="34" charset="-120"/>
              </a:rPr>
              <a:t>Step 3</a:t>
            </a:r>
            <a:endParaRPr lang="en-US" sz="1050"/>
          </a:p>
        </p:txBody>
      </p:sp>
      <p:sp>
        <p:nvSpPr>
          <p:cNvPr id="135" name="Text 27">
            <a:extLst>
              <a:ext uri="{FF2B5EF4-FFF2-40B4-BE49-F238E27FC236}">
                <a16:creationId xmlns:a16="http://schemas.microsoft.com/office/drawing/2014/main" id="{7EB9B6C6-F8A2-08E2-EF78-B80314B6A836}"/>
              </a:ext>
            </a:extLst>
          </p:cNvPr>
          <p:cNvSpPr/>
          <p:nvPr/>
        </p:nvSpPr>
        <p:spPr>
          <a:xfrm>
            <a:off x="4903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Demand Import</a:t>
            </a:r>
            <a:endParaRPr lang="en-US" sz="1550"/>
          </a:p>
        </p:txBody>
      </p:sp>
      <p:sp>
        <p:nvSpPr>
          <p:cNvPr id="137" name="Shape 28">
            <a:extLst>
              <a:ext uri="{FF2B5EF4-FFF2-40B4-BE49-F238E27FC236}">
                <a16:creationId xmlns:a16="http://schemas.microsoft.com/office/drawing/2014/main" id="{E83A7B9C-E428-2F79-7743-16034472BC9B}"/>
              </a:ext>
            </a:extLst>
          </p:cNvPr>
          <p:cNvSpPr/>
          <p:nvPr/>
        </p:nvSpPr>
        <p:spPr>
          <a:xfrm>
            <a:off x="4876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29">
            <a:extLst>
              <a:ext uri="{FF2B5EF4-FFF2-40B4-BE49-F238E27FC236}">
                <a16:creationId xmlns:a16="http://schemas.microsoft.com/office/drawing/2014/main" id="{6E419D96-CFC0-0831-DAA6-60CE36A2932F}"/>
              </a:ext>
            </a:extLst>
          </p:cNvPr>
          <p:cNvSpPr/>
          <p:nvPr/>
        </p:nvSpPr>
        <p:spPr>
          <a:xfrm>
            <a:off x="4995249" y="3306778"/>
            <a:ext cx="1819656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D39FB6D0-6E97-9C8F-760A-0037A7760D87}"/>
              </a:ext>
            </a:extLst>
          </p:cNvPr>
          <p:cNvSpPr/>
          <p:nvPr/>
        </p:nvSpPr>
        <p:spPr>
          <a:xfrm>
            <a:off x="5059257" y="3581098"/>
            <a:ext cx="17922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Convert field traffic counts into simulator-ready demand inputs matched to the network</a:t>
            </a:r>
            <a:endParaRPr lang="en-US" sz="1300"/>
          </a:p>
        </p:txBody>
      </p:sp>
      <p:sp>
        <p:nvSpPr>
          <p:cNvPr id="143" name="Shape 31">
            <a:extLst>
              <a:ext uri="{FF2B5EF4-FFF2-40B4-BE49-F238E27FC236}">
                <a16:creationId xmlns:a16="http://schemas.microsoft.com/office/drawing/2014/main" id="{B7D85C63-5685-004D-724D-448368E2C025}"/>
              </a:ext>
            </a:extLst>
          </p:cNvPr>
          <p:cNvSpPr/>
          <p:nvPr/>
        </p:nvSpPr>
        <p:spPr>
          <a:xfrm>
            <a:off x="4995249" y="5016706"/>
            <a:ext cx="1819656" cy="36576"/>
          </a:xfrm>
          <a:prstGeom prst="rect">
            <a:avLst/>
          </a:prstGeom>
          <a:solidFill>
            <a:srgbClr val="F2E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32">
            <a:extLst>
              <a:ext uri="{FF2B5EF4-FFF2-40B4-BE49-F238E27FC236}">
                <a16:creationId xmlns:a16="http://schemas.microsoft.com/office/drawing/2014/main" id="{E47A34FF-BCDC-AA42-FF3A-D9FAA6F3F2C4}"/>
              </a:ext>
            </a:extLst>
          </p:cNvPr>
          <p:cNvSpPr/>
          <p:nvPr/>
        </p:nvSpPr>
        <p:spPr>
          <a:xfrm>
            <a:off x="7916757" y="1706578"/>
            <a:ext cx="548640" cy="54864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33">
            <a:extLst>
              <a:ext uri="{FF2B5EF4-FFF2-40B4-BE49-F238E27FC236}">
                <a16:creationId xmlns:a16="http://schemas.microsoft.com/office/drawing/2014/main" id="{3831A2B6-5B97-D8D8-A1DB-090833EAD668}"/>
              </a:ext>
            </a:extLst>
          </p:cNvPr>
          <p:cNvSpPr/>
          <p:nvPr/>
        </p:nvSpPr>
        <p:spPr>
          <a:xfrm>
            <a:off x="7916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4</a:t>
            </a:r>
            <a:endParaRPr lang="en-US" sz="1550"/>
          </a:p>
        </p:txBody>
      </p:sp>
      <p:sp>
        <p:nvSpPr>
          <p:cNvPr id="149" name="Text 34">
            <a:extLst>
              <a:ext uri="{FF2B5EF4-FFF2-40B4-BE49-F238E27FC236}">
                <a16:creationId xmlns:a16="http://schemas.microsoft.com/office/drawing/2014/main" id="{BFC9D2B4-6304-B626-447B-AEF1EE057701}"/>
              </a:ext>
            </a:extLst>
          </p:cNvPr>
          <p:cNvSpPr/>
          <p:nvPr/>
        </p:nvSpPr>
        <p:spPr>
          <a:xfrm>
            <a:off x="7162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Step 4</a:t>
            </a:r>
            <a:endParaRPr lang="en-US" sz="1050"/>
          </a:p>
        </p:txBody>
      </p:sp>
      <p:sp>
        <p:nvSpPr>
          <p:cNvPr id="151" name="Text 35">
            <a:extLst>
              <a:ext uri="{FF2B5EF4-FFF2-40B4-BE49-F238E27FC236}">
                <a16:creationId xmlns:a16="http://schemas.microsoft.com/office/drawing/2014/main" id="{9FC6E9C3-03FF-620F-1AAD-96AB82333238}"/>
              </a:ext>
            </a:extLst>
          </p:cNvPr>
          <p:cNvSpPr/>
          <p:nvPr/>
        </p:nvSpPr>
        <p:spPr>
          <a:xfrm>
            <a:off x="7189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Signal Import</a:t>
            </a:r>
            <a:endParaRPr lang="en-US" sz="1550"/>
          </a:p>
        </p:txBody>
      </p:sp>
      <p:sp>
        <p:nvSpPr>
          <p:cNvPr id="153" name="Shape 36">
            <a:extLst>
              <a:ext uri="{FF2B5EF4-FFF2-40B4-BE49-F238E27FC236}">
                <a16:creationId xmlns:a16="http://schemas.microsoft.com/office/drawing/2014/main" id="{A9D3630E-B3B2-26B2-156D-D9B77DBA2971}"/>
              </a:ext>
            </a:extLst>
          </p:cNvPr>
          <p:cNvSpPr/>
          <p:nvPr/>
        </p:nvSpPr>
        <p:spPr>
          <a:xfrm>
            <a:off x="7162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37">
            <a:extLst>
              <a:ext uri="{FF2B5EF4-FFF2-40B4-BE49-F238E27FC236}">
                <a16:creationId xmlns:a16="http://schemas.microsoft.com/office/drawing/2014/main" id="{5A1A2342-24F7-EC47-ED41-FF6923CFFE4F}"/>
              </a:ext>
            </a:extLst>
          </p:cNvPr>
          <p:cNvSpPr/>
          <p:nvPr/>
        </p:nvSpPr>
        <p:spPr>
          <a:xfrm>
            <a:off x="7281249" y="3306778"/>
            <a:ext cx="1819656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38">
            <a:extLst>
              <a:ext uri="{FF2B5EF4-FFF2-40B4-BE49-F238E27FC236}">
                <a16:creationId xmlns:a16="http://schemas.microsoft.com/office/drawing/2014/main" id="{ACE49677-2FCD-25B9-CEC5-19D9133AFFA9}"/>
              </a:ext>
            </a:extLst>
          </p:cNvPr>
          <p:cNvSpPr/>
          <p:nvPr/>
        </p:nvSpPr>
        <p:spPr>
          <a:xfrm>
            <a:off x="7345257" y="3581098"/>
            <a:ext cx="17922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Import signal timing and control data, then automatically configure the corresponding signal plans in the traffic simulator</a:t>
            </a:r>
            <a:endParaRPr lang="en-US" sz="1300"/>
          </a:p>
        </p:txBody>
      </p:sp>
      <p:sp>
        <p:nvSpPr>
          <p:cNvPr id="159" name="Shape 39">
            <a:extLst>
              <a:ext uri="{FF2B5EF4-FFF2-40B4-BE49-F238E27FC236}">
                <a16:creationId xmlns:a16="http://schemas.microsoft.com/office/drawing/2014/main" id="{76BDA2AA-B8D2-8D39-51D7-4EE07F2769FC}"/>
              </a:ext>
            </a:extLst>
          </p:cNvPr>
          <p:cNvSpPr/>
          <p:nvPr/>
        </p:nvSpPr>
        <p:spPr>
          <a:xfrm>
            <a:off x="7281249" y="5016706"/>
            <a:ext cx="1819656" cy="36576"/>
          </a:xfrm>
          <a:prstGeom prst="rect">
            <a:avLst/>
          </a:prstGeom>
          <a:solidFill>
            <a:srgbClr val="FFF5D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40">
            <a:extLst>
              <a:ext uri="{FF2B5EF4-FFF2-40B4-BE49-F238E27FC236}">
                <a16:creationId xmlns:a16="http://schemas.microsoft.com/office/drawing/2014/main" id="{830C7740-5513-662D-9090-657B0EC1FB7C}"/>
              </a:ext>
            </a:extLst>
          </p:cNvPr>
          <p:cNvSpPr/>
          <p:nvPr/>
        </p:nvSpPr>
        <p:spPr>
          <a:xfrm>
            <a:off x="10202757" y="1706578"/>
            <a:ext cx="548640" cy="548640"/>
          </a:xfrm>
          <a:prstGeom prst="ellipse">
            <a:avLst/>
          </a:prstGeom>
          <a:solidFill>
            <a:srgbClr val="20B48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41">
            <a:extLst>
              <a:ext uri="{FF2B5EF4-FFF2-40B4-BE49-F238E27FC236}">
                <a16:creationId xmlns:a16="http://schemas.microsoft.com/office/drawing/2014/main" id="{45837F0D-B45E-12D0-AF66-D711E1268D2A}"/>
              </a:ext>
            </a:extLst>
          </p:cNvPr>
          <p:cNvSpPr/>
          <p:nvPr/>
        </p:nvSpPr>
        <p:spPr>
          <a:xfrm>
            <a:off x="10202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5</a:t>
            </a:r>
            <a:endParaRPr lang="en-US" sz="1550"/>
          </a:p>
        </p:txBody>
      </p:sp>
      <p:sp>
        <p:nvSpPr>
          <p:cNvPr id="165" name="Text 42">
            <a:extLst>
              <a:ext uri="{FF2B5EF4-FFF2-40B4-BE49-F238E27FC236}">
                <a16:creationId xmlns:a16="http://schemas.microsoft.com/office/drawing/2014/main" id="{C8F8A2B6-B320-7CF3-1ADC-E3EC8489DF12}"/>
              </a:ext>
            </a:extLst>
          </p:cNvPr>
          <p:cNvSpPr/>
          <p:nvPr/>
        </p:nvSpPr>
        <p:spPr>
          <a:xfrm>
            <a:off x="9448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0B486"/>
                </a:solidFill>
                <a:ea typeface="Aptos" pitchFamily="34" charset="-122"/>
                <a:cs typeface="Aptos" pitchFamily="34" charset="-120"/>
              </a:rPr>
              <a:t>Step 5</a:t>
            </a:r>
            <a:endParaRPr lang="en-US" sz="1050"/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CCE64F29-F8E3-22CD-FC45-BC0FF5135F9C}"/>
              </a:ext>
            </a:extLst>
          </p:cNvPr>
          <p:cNvSpPr/>
          <p:nvPr/>
        </p:nvSpPr>
        <p:spPr>
          <a:xfrm>
            <a:off x="9475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Simulation Generation and Calibration</a:t>
            </a:r>
            <a:endParaRPr lang="en-US" sz="1550"/>
          </a:p>
        </p:txBody>
      </p:sp>
      <p:sp>
        <p:nvSpPr>
          <p:cNvPr id="169" name="Shape 44">
            <a:extLst>
              <a:ext uri="{FF2B5EF4-FFF2-40B4-BE49-F238E27FC236}">
                <a16:creationId xmlns:a16="http://schemas.microsoft.com/office/drawing/2014/main" id="{A3D3F842-9AF1-AF24-833D-36C52ECD03ED}"/>
              </a:ext>
            </a:extLst>
          </p:cNvPr>
          <p:cNvSpPr/>
          <p:nvPr/>
        </p:nvSpPr>
        <p:spPr>
          <a:xfrm>
            <a:off x="9448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45">
            <a:extLst>
              <a:ext uri="{FF2B5EF4-FFF2-40B4-BE49-F238E27FC236}">
                <a16:creationId xmlns:a16="http://schemas.microsoft.com/office/drawing/2014/main" id="{75484998-F7B0-38B8-6E85-D4FF63DC4703}"/>
              </a:ext>
            </a:extLst>
          </p:cNvPr>
          <p:cNvSpPr/>
          <p:nvPr/>
        </p:nvSpPr>
        <p:spPr>
          <a:xfrm>
            <a:off x="9567249" y="3306778"/>
            <a:ext cx="1819656" cy="73152"/>
          </a:xfrm>
          <a:prstGeom prst="rect">
            <a:avLst/>
          </a:prstGeom>
          <a:solidFill>
            <a:srgbClr val="20B4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46">
            <a:extLst>
              <a:ext uri="{FF2B5EF4-FFF2-40B4-BE49-F238E27FC236}">
                <a16:creationId xmlns:a16="http://schemas.microsoft.com/office/drawing/2014/main" id="{E75A6935-B70A-F73E-6594-D4BA771DD310}"/>
              </a:ext>
            </a:extLst>
          </p:cNvPr>
          <p:cNvSpPr/>
          <p:nvPr/>
        </p:nvSpPr>
        <p:spPr>
          <a:xfrm>
            <a:off x="9631257" y="3581098"/>
            <a:ext cx="17556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Generate simulation scenarios and calibrate the model (e.g., demand and driving behavior) against field observations</a:t>
            </a:r>
            <a:endParaRPr lang="en-US" sz="1300"/>
          </a:p>
        </p:txBody>
      </p:sp>
      <p:sp>
        <p:nvSpPr>
          <p:cNvPr id="175" name="Shape 47">
            <a:extLst>
              <a:ext uri="{FF2B5EF4-FFF2-40B4-BE49-F238E27FC236}">
                <a16:creationId xmlns:a16="http://schemas.microsoft.com/office/drawing/2014/main" id="{2C71A8E2-DBF6-4805-FD5F-345A374E42A3}"/>
              </a:ext>
            </a:extLst>
          </p:cNvPr>
          <p:cNvSpPr/>
          <p:nvPr/>
        </p:nvSpPr>
        <p:spPr>
          <a:xfrm>
            <a:off x="9567249" y="5016706"/>
            <a:ext cx="1819656" cy="36576"/>
          </a:xfrm>
          <a:prstGeom prst="rect">
            <a:avLst/>
          </a:prstGeom>
          <a:solidFill>
            <a:srgbClr val="E8F8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48">
            <a:extLst>
              <a:ext uri="{FF2B5EF4-FFF2-40B4-BE49-F238E27FC236}">
                <a16:creationId xmlns:a16="http://schemas.microsoft.com/office/drawing/2014/main" id="{6665FB50-34CB-2233-3A0E-543E9603F636}"/>
              </a:ext>
            </a:extLst>
          </p:cNvPr>
          <p:cNvSpPr/>
          <p:nvPr/>
        </p:nvSpPr>
        <p:spPr>
          <a:xfrm>
            <a:off x="1056403" y="5505910"/>
            <a:ext cx="10058400" cy="493776"/>
          </a:xfrm>
          <a:prstGeom prst="roundRect">
            <a:avLst>
              <a:gd name="adj" fmla="val 33333"/>
            </a:avLst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49">
            <a:extLst>
              <a:ext uri="{FF2B5EF4-FFF2-40B4-BE49-F238E27FC236}">
                <a16:creationId xmlns:a16="http://schemas.microsoft.com/office/drawing/2014/main" id="{BED15BB5-9B36-3F49-035B-3BC78258A538}"/>
              </a:ext>
            </a:extLst>
          </p:cNvPr>
          <p:cNvSpPr/>
          <p:nvPr/>
        </p:nvSpPr>
        <p:spPr>
          <a:xfrm>
            <a:off x="1175275" y="5643070"/>
            <a:ext cx="9829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calibrated traffic scenarios for SUMO / </a:t>
            </a:r>
            <a:r>
              <a:rPr lang="en-US" sz="16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Aimsun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VISSIM</a:t>
            </a:r>
            <a:endParaRPr lang="en-US" sz="16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29ECACF-77A5-C150-27B7-229E9A146C4A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Real-Twin Automation Workflow Overview </a:t>
            </a:r>
          </a:p>
        </p:txBody>
      </p:sp>
      <p:sp>
        <p:nvSpPr>
          <p:cNvPr id="182" name="Title 1">
            <a:extLst>
              <a:ext uri="{FF2B5EF4-FFF2-40B4-BE49-F238E27FC236}">
                <a16:creationId xmlns:a16="http://schemas.microsoft.com/office/drawing/2014/main" id="{066CFAC6-B550-8798-7B13-A32B0A91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 dirty="0"/>
              <a:t>Real-Twin Automation Workflow for </a:t>
            </a:r>
            <a:r>
              <a:rPr lang="en-US" dirty="0" err="1"/>
              <a:t>Vissim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1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3BA7-2D98-B968-AC3B-D139253E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13E3-F8F9-9BF4-3B67-11E76BB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 dirty="0"/>
              <a:t>Real-Twin Automation Workflow for </a:t>
            </a:r>
            <a:r>
              <a:rPr lang="en-US" dirty="0" err="1"/>
              <a:t>Vissim</a:t>
            </a:r>
            <a:r>
              <a:rPr lang="en-US" dirty="0"/>
              <a:t> vs SUMO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10E16-E251-B4F5-3FFD-D2657B1869CA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1 Network Generation &amp; Import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D2829B-D815-B4BA-452C-F353A64541F4}"/>
              </a:ext>
            </a:extLst>
          </p:cNvPr>
          <p:cNvSpPr txBox="1"/>
          <p:nvPr/>
        </p:nvSpPr>
        <p:spPr>
          <a:xfrm>
            <a:off x="198055" y="5094908"/>
            <a:ext cx="1160906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rgbClr val="5C6978"/>
                </a:solidFill>
              </a:defRPr>
            </a:pPr>
            <a:r>
              <a:rPr lang="en-US" sz="1600" dirty="0">
                <a:solidFill>
                  <a:srgbClr val="00454D"/>
                </a:solidFill>
                <a:latin typeface="Roboto"/>
              </a:rPr>
              <a:t>For both </a:t>
            </a:r>
            <a:r>
              <a:rPr lang="en-US" sz="1600" dirty="0" err="1">
                <a:solidFill>
                  <a:srgbClr val="00454D"/>
                </a:solidFill>
                <a:latin typeface="Roboto"/>
              </a:rPr>
              <a:t>Vissim</a:t>
            </a:r>
            <a:r>
              <a:rPr lang="en-US" sz="1600" dirty="0">
                <a:solidFill>
                  <a:srgbClr val="00454D"/>
                </a:solidFill>
                <a:latin typeface="Roboto"/>
              </a:rPr>
              <a:t> and SUMO, Real-Twin can automatically generate an </a:t>
            </a:r>
            <a:r>
              <a:rPr lang="en-US" sz="1600" dirty="0" err="1">
                <a:solidFill>
                  <a:srgbClr val="00454D"/>
                </a:solidFill>
                <a:latin typeface="Roboto"/>
              </a:rPr>
              <a:t>OpenDRIVE</a:t>
            </a:r>
            <a:r>
              <a:rPr lang="en-US" sz="1600" dirty="0">
                <a:solidFill>
                  <a:srgbClr val="00454D"/>
                </a:solidFill>
                <a:latin typeface="Roboto"/>
              </a:rPr>
              <a:t> (.</a:t>
            </a:r>
            <a:r>
              <a:rPr lang="en-US" sz="1600" dirty="0" err="1">
                <a:solidFill>
                  <a:srgbClr val="00454D"/>
                </a:solidFill>
                <a:latin typeface="Roboto"/>
              </a:rPr>
              <a:t>xodr</a:t>
            </a:r>
            <a:r>
              <a:rPr lang="en-US" sz="1600" dirty="0">
                <a:solidFill>
                  <a:srgbClr val="00454D"/>
                </a:solidFill>
                <a:latin typeface="Roboto"/>
              </a:rPr>
              <a:t>) network from user-defined geographic coordinates using OpenStreetMap data.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rgbClr val="5C6978"/>
                </a:solidFill>
              </a:defRPr>
            </a:pPr>
            <a:r>
              <a:rPr lang="en-US" sz="1600" dirty="0">
                <a:solidFill>
                  <a:srgbClr val="00454D"/>
                </a:solidFill>
                <a:latin typeface="Roboto"/>
              </a:rPr>
              <a:t>The generated .</a:t>
            </a:r>
            <a:r>
              <a:rPr lang="en-US" sz="1600" dirty="0" err="1">
                <a:solidFill>
                  <a:srgbClr val="00454D"/>
                </a:solidFill>
                <a:latin typeface="Roboto"/>
              </a:rPr>
              <a:t>xodr</a:t>
            </a:r>
            <a:r>
              <a:rPr lang="en-US" sz="1600" dirty="0">
                <a:solidFill>
                  <a:srgbClr val="00454D"/>
                </a:solidFill>
                <a:latin typeface="Roboto"/>
              </a:rPr>
              <a:t> network is then imported into </a:t>
            </a:r>
            <a:r>
              <a:rPr lang="en-US" sz="1600" dirty="0" err="1">
                <a:solidFill>
                  <a:srgbClr val="00454D"/>
                </a:solidFill>
                <a:latin typeface="Roboto"/>
              </a:rPr>
              <a:t>Vissim</a:t>
            </a:r>
            <a:r>
              <a:rPr lang="en-US" sz="1600" dirty="0">
                <a:solidFill>
                  <a:srgbClr val="00454D"/>
                </a:solidFill>
                <a:latin typeface="Roboto"/>
              </a:rPr>
              <a:t> through its COM interface</a:t>
            </a:r>
            <a:r>
              <a:rPr lang="en-US" sz="1600" dirty="0">
                <a:solidFill>
                  <a:srgbClr val="00454D"/>
                </a:solidFill>
              </a:rPr>
              <a:t> (and into SUMO through </a:t>
            </a:r>
            <a:r>
              <a:rPr lang="en-US" sz="1600" dirty="0" err="1">
                <a:solidFill>
                  <a:srgbClr val="00454D"/>
                </a:solidFill>
              </a:rPr>
              <a:t>netconvert</a:t>
            </a:r>
            <a:r>
              <a:rPr lang="en-US" sz="1600" dirty="0">
                <a:solidFill>
                  <a:srgbClr val="00454D"/>
                </a:solidFill>
              </a:rPr>
              <a:t>). </a:t>
            </a:r>
            <a:endParaRPr lang="en-US" sz="1600" dirty="0">
              <a:solidFill>
                <a:srgbClr val="00454D"/>
              </a:solidFill>
              <a:latin typeface="Roboto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FFF377-9FEB-1853-D707-4A48DE233F2C}"/>
              </a:ext>
            </a:extLst>
          </p:cNvPr>
          <p:cNvGrpSpPr/>
          <p:nvPr/>
        </p:nvGrpSpPr>
        <p:grpSpPr>
          <a:xfrm>
            <a:off x="0" y="1178512"/>
            <a:ext cx="12170805" cy="3804069"/>
            <a:chOff x="-141756" y="1394079"/>
            <a:chExt cx="12170805" cy="380406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8E88D2-557B-4723-76D4-3E7DF003A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106" y="2607359"/>
              <a:ext cx="2779414" cy="912767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38D0A3-BDDA-8072-304C-52884BE2854D}"/>
                </a:ext>
              </a:extLst>
            </p:cNvPr>
            <p:cNvCxnSpPr>
              <a:cxnSpLocks/>
            </p:cNvCxnSpPr>
            <p:nvPr/>
          </p:nvCxnSpPr>
          <p:spPr>
            <a:xfrm>
              <a:off x="6418761" y="3149711"/>
              <a:ext cx="47998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D360EE8-9EDC-3958-2C56-A46B0C05A1BB}"/>
                </a:ext>
              </a:extLst>
            </p:cNvPr>
            <p:cNvSpPr/>
            <p:nvPr/>
          </p:nvSpPr>
          <p:spPr>
            <a:xfrm>
              <a:off x="-141756" y="1998561"/>
              <a:ext cx="3099137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5C6978"/>
                  </a:solidFill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Real-Twin network input: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lat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 and long of bounding box vertices for area of interest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191677D-CDDE-8726-14BD-D8CD2CD92B58}"/>
                </a:ext>
              </a:extLst>
            </p:cNvPr>
            <p:cNvSpPr/>
            <p:nvPr/>
          </p:nvSpPr>
          <p:spPr>
            <a:xfrm>
              <a:off x="2150498" y="2890543"/>
              <a:ext cx="3099137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5C6978"/>
                  </a:solidFill>
                </a:defRPr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Download data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5C6978"/>
                  </a:solidFill>
                </a:defRPr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from OpenStreetMap</a:t>
              </a:r>
              <a:endParaRPr kumimoji="0" sz="14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773A298-2870-9287-F163-0B6F68DA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6025" y="2997400"/>
              <a:ext cx="1662736" cy="304623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3E49858-EA56-D4D9-D6AF-938570A1E4ED}"/>
                </a:ext>
              </a:extLst>
            </p:cNvPr>
            <p:cNvCxnSpPr>
              <a:cxnSpLocks/>
            </p:cNvCxnSpPr>
            <p:nvPr/>
          </p:nvCxnSpPr>
          <p:spPr>
            <a:xfrm>
              <a:off x="6898741" y="1784870"/>
              <a:ext cx="23539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372C54B-476A-7A12-D0CA-F2266920E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9148" y="1784870"/>
              <a:ext cx="0" cy="272968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32A9B5-E367-8CF4-ED34-20A2D1FA499A}"/>
                </a:ext>
              </a:extLst>
            </p:cNvPr>
            <p:cNvSpPr/>
            <p:nvPr/>
          </p:nvSpPr>
          <p:spPr>
            <a:xfrm>
              <a:off x="4037824" y="3585207"/>
              <a:ext cx="3099137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5C6978"/>
                  </a:solidFill>
                </a:defRPr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Intermediate ‘.</a:t>
              </a:r>
              <a:r>
                <a:rPr kumimoji="0" lang="en-US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xodr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’ file</a:t>
              </a:r>
              <a:endPara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1522CEA-909E-9ADB-80A0-1FE4FA53F4FD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1" y="3158764"/>
              <a:ext cx="188312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95DE937-D199-B54D-5A55-CF1AF83D0BCF}"/>
                </a:ext>
              </a:extLst>
            </p:cNvPr>
            <p:cNvSpPr/>
            <p:nvPr/>
          </p:nvSpPr>
          <p:spPr>
            <a:xfrm>
              <a:off x="6490927" y="1394079"/>
              <a:ext cx="3099137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5C6978"/>
                  </a:solidFill>
                </a:defRPr>
              </a:pP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  <a:latin typeface="Roboto"/>
                </a:rPr>
                <a:t>SUMO’s </a:t>
              </a:r>
              <a:r>
                <a:rPr lang="en-US" sz="1400" b="1" i="1" dirty="0" err="1">
                  <a:solidFill>
                    <a:schemeClr val="accent6">
                      <a:lumMod val="75000"/>
                    </a:schemeClr>
                  </a:solidFill>
                  <a:latin typeface="Roboto"/>
                </a:rPr>
                <a:t>netconvert</a:t>
              </a:r>
              <a:endParaRPr kumimoji="0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A90EF32-624C-EA42-B13E-DDEDA1811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90064" y="1457202"/>
              <a:ext cx="1445556" cy="512940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1F695DE-7582-E922-A780-0B300A57C291}"/>
                </a:ext>
              </a:extLst>
            </p:cNvPr>
            <p:cNvSpPr/>
            <p:nvPr/>
          </p:nvSpPr>
          <p:spPr>
            <a:xfrm>
              <a:off x="8929912" y="1931723"/>
              <a:ext cx="3099137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lvl="0" algn="ctr">
                <a:defRPr sz="1400" b="0">
                  <a:solidFill>
                    <a:srgbClr val="5C6978"/>
                  </a:solidFill>
                </a:defRPr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SUMO ‘net.xml’ network file </a:t>
              </a:r>
              <a:endPara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04257EC-96DC-F58D-5AC2-709FC6238651}"/>
                </a:ext>
              </a:extLst>
            </p:cNvPr>
            <p:cNvCxnSpPr>
              <a:cxnSpLocks/>
            </p:cNvCxnSpPr>
            <p:nvPr/>
          </p:nvCxnSpPr>
          <p:spPr>
            <a:xfrm>
              <a:off x="6898740" y="4514552"/>
              <a:ext cx="235390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4DD6936-242E-748B-245E-53B15AC7BAF4}"/>
                </a:ext>
              </a:extLst>
            </p:cNvPr>
            <p:cNvSpPr/>
            <p:nvPr/>
          </p:nvSpPr>
          <p:spPr>
            <a:xfrm>
              <a:off x="7050424" y="4049879"/>
              <a:ext cx="1955956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>
                  <a:solidFill>
                    <a:srgbClr val="5C6978"/>
                  </a:solidFill>
                </a:defRPr>
              </a:pP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  <a:latin typeface="Roboto"/>
                </a:rPr>
                <a:t>Vissim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  <a:latin typeface="Roboto"/>
                </a:rPr>
                <a:t> network import function</a:t>
              </a:r>
              <a:endParaRPr kumimoji="0" sz="1400" b="1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F4333B0-567C-0498-F47F-579DF02A9C33}"/>
                </a:ext>
              </a:extLst>
            </p:cNvPr>
            <p:cNvSpPr/>
            <p:nvPr/>
          </p:nvSpPr>
          <p:spPr>
            <a:xfrm>
              <a:off x="8763273" y="4786668"/>
              <a:ext cx="3099137" cy="4114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lvl="0" algn="ctr">
                <a:defRPr sz="1400" b="0">
                  <a:solidFill>
                    <a:srgbClr val="5C6978"/>
                  </a:solidFill>
                </a:defRPr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Vissim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 ‘.</a:t>
              </a:r>
              <a:r>
                <a:rPr lang="en-US" sz="1400" b="1" dirty="0" err="1">
                  <a:solidFill>
                    <a:srgbClr val="374759"/>
                  </a:solidFill>
                  <a:latin typeface="Roboto"/>
                </a:rPr>
                <a:t>inp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74759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’ file 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EAD30A5-0798-24D7-93C8-E80C52DFEA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2223" y="4049879"/>
              <a:ext cx="685800" cy="68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73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F1712FE-4490-D539-3A41-9E8300EF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 dirty="0"/>
              <a:t>Real-Twin Automation Workflow for </a:t>
            </a:r>
            <a:r>
              <a:rPr lang="en-US" dirty="0" err="1"/>
              <a:t>Vissim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A3A1F-3112-7044-13FD-DF541A69F89F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2 Matchup Table Generation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0ABA93-06F8-64AA-8B34-4AEEC282285A}"/>
              </a:ext>
            </a:extLst>
          </p:cNvPr>
          <p:cNvSpPr txBox="1">
            <a:spLocks/>
          </p:cNvSpPr>
          <p:nvPr/>
        </p:nvSpPr>
        <p:spPr>
          <a:xfrm>
            <a:off x="286089" y="1507938"/>
            <a:ext cx="11861266" cy="1263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 dirty="0">
                <a:solidFill>
                  <a:srgbClr val="00454D"/>
                </a:solidFill>
                <a:latin typeface="Roboto"/>
                <a:ea typeface="+mn-ea"/>
              </a:rPr>
              <a:t>Matchup table links demand and signal data to the correct intersections in the simulation network.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 dirty="0">
                <a:solidFill>
                  <a:srgbClr val="00454D"/>
                </a:solidFill>
                <a:latin typeface="Roboto"/>
                <a:ea typeface="+mn-ea"/>
              </a:rPr>
              <a:t>Matchup table generation functions for SUMO and </a:t>
            </a:r>
            <a:r>
              <a:rPr lang="en-US" sz="1600" dirty="0" err="1">
                <a:solidFill>
                  <a:srgbClr val="00454D"/>
                </a:solidFill>
                <a:latin typeface="Roboto"/>
                <a:ea typeface="+mn-ea"/>
              </a:rPr>
              <a:t>Vissim</a:t>
            </a:r>
            <a:r>
              <a:rPr lang="en-US" sz="1600" dirty="0">
                <a:solidFill>
                  <a:srgbClr val="00454D"/>
                </a:solidFill>
                <a:latin typeface="Roboto"/>
                <a:ea typeface="+mn-ea"/>
              </a:rPr>
              <a:t> are similar: both identify junctions and roads, calculate approach bearings, and extract turning movements information. 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 dirty="0">
                <a:solidFill>
                  <a:srgbClr val="00454D"/>
                </a:solidFill>
                <a:latin typeface="Roboto"/>
                <a:ea typeface="+mn-ea"/>
              </a:rPr>
              <a:t>The main difference lies in how the network data are accessed. SUMO data can be read directly from its editable network file, while </a:t>
            </a:r>
            <a:r>
              <a:rPr lang="en-US" sz="1600" dirty="0" err="1">
                <a:solidFill>
                  <a:srgbClr val="00454D"/>
                </a:solidFill>
                <a:latin typeface="Roboto"/>
                <a:ea typeface="+mn-ea"/>
              </a:rPr>
              <a:t>Vissim</a:t>
            </a:r>
            <a:r>
              <a:rPr lang="en-US" sz="1600" dirty="0">
                <a:solidFill>
                  <a:srgbClr val="00454D"/>
                </a:solidFill>
                <a:latin typeface="Roboto"/>
                <a:ea typeface="+mn-ea"/>
              </a:rPr>
              <a:t> data must be retrieved through APIs.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282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08D6-7DD4-6180-BC5B-18333C0C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433F-6BE2-5A20-B235-8BB081E2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 dirty="0"/>
              <a:t>Real-Twin Automation Workflow for </a:t>
            </a:r>
            <a:r>
              <a:rPr lang="en-US" dirty="0" err="1"/>
              <a:t>Aimsun</a:t>
            </a:r>
            <a:r>
              <a:rPr lang="en-US" dirty="0"/>
              <a:t> vs SUMO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BE72A-8254-097C-B0F6-ADCFDCCE546C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2 Matchup Table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2BEF2-3BDC-75DD-9AEC-B4515543D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2125"/>
            <a:ext cx="12192000" cy="23748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CF7CAC-BAC1-E840-9FCC-CA1B838F80B7}"/>
              </a:ext>
            </a:extLst>
          </p:cNvPr>
          <p:cNvSpPr txBox="1">
            <a:spLocks/>
          </p:cNvSpPr>
          <p:nvPr/>
        </p:nvSpPr>
        <p:spPr>
          <a:xfrm>
            <a:off x="1642205" y="5664978"/>
            <a:ext cx="11861266" cy="1263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chemeClr val="accent3">
                    <a:lumMod val="75000"/>
                  </a:schemeClr>
                </a:solidFill>
                <a:latin typeface="Roboto"/>
                <a:ea typeface="+mn-ea"/>
              </a:rPr>
              <a:t>Blue: information obtained from the network file (e.g., turning movement road ids)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FF0000"/>
                </a:solidFill>
                <a:latin typeface="Roboto"/>
                <a:ea typeface="+mn-ea"/>
              </a:rPr>
              <a:t>Red: signal and demand user input.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B050"/>
                </a:solidFill>
                <a:latin typeface="Roboto"/>
                <a:ea typeface="+mn-ea"/>
              </a:rPr>
              <a:t>Green: information obtained from user input that links demand and signal data to the simulation network.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endParaRPr lang="en-US" sz="1600">
              <a:solidFill>
                <a:srgbClr val="00454D"/>
              </a:solidFill>
              <a:latin typeface="Roboto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60ECA5-3582-244A-4116-1D3F447EA5F8}"/>
              </a:ext>
            </a:extLst>
          </p:cNvPr>
          <p:cNvSpPr txBox="1">
            <a:spLocks/>
          </p:cNvSpPr>
          <p:nvPr/>
        </p:nvSpPr>
        <p:spPr>
          <a:xfrm>
            <a:off x="286089" y="1507938"/>
            <a:ext cx="11861266" cy="1263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Matchup table links demand and signal data to the correct intersections in the simulation network.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Matchup table generation functions for SUMO and Aimsun are similar: both identify junctions and roads, calculate approach bearings, and extract turning movements information. 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The main difference lies in how the network data are accessed. SUMO data can be read directly from its editable network file, while Aimsun data must be retrieved through APIs.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424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6CF0-73EB-FD14-C66D-4A347E3C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03D5-CF4A-9493-A1B4-293EE9C31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/>
              <a:t>Real-Twin Automation Workflow for Aimsun vs SUMO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600E7-BB4F-B7F9-82DE-6851FA5AEC2D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3 Demand Import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3510-9E29-D94E-7760-93B53C197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04" y="2032486"/>
            <a:ext cx="2343477" cy="19528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704E50-B596-DD75-D43E-EBEA5CA53D5A}"/>
              </a:ext>
            </a:extLst>
          </p:cNvPr>
          <p:cNvSpPr/>
          <p:nvPr/>
        </p:nvSpPr>
        <p:spPr>
          <a:xfrm>
            <a:off x="738024" y="1592039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Field traffic counts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2D7BA3-7F51-FD84-958A-9D536F55FA88}"/>
              </a:ext>
            </a:extLst>
          </p:cNvPr>
          <p:cNvCxnSpPr>
            <a:cxnSpLocks/>
          </p:cNvCxnSpPr>
          <p:nvPr/>
        </p:nvCxnSpPr>
        <p:spPr>
          <a:xfrm>
            <a:off x="4920724" y="1218612"/>
            <a:ext cx="6427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27CBA4-A950-57D1-F6F9-6E0E0F6A231D}"/>
              </a:ext>
            </a:extLst>
          </p:cNvPr>
          <p:cNvCxnSpPr>
            <a:cxnSpLocks/>
          </p:cNvCxnSpPr>
          <p:nvPr/>
        </p:nvCxnSpPr>
        <p:spPr>
          <a:xfrm flipV="1">
            <a:off x="3997271" y="1625549"/>
            <a:ext cx="0" cy="27296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83C02F-10DF-2BCD-9F92-3F095591DA0F}"/>
              </a:ext>
            </a:extLst>
          </p:cNvPr>
          <p:cNvCxnSpPr>
            <a:cxnSpLocks/>
          </p:cNvCxnSpPr>
          <p:nvPr/>
        </p:nvCxnSpPr>
        <p:spPr>
          <a:xfrm>
            <a:off x="3517291" y="2971388"/>
            <a:ext cx="4799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526CE-58A6-8893-A288-BA404911345A}"/>
              </a:ext>
            </a:extLst>
          </p:cNvPr>
          <p:cNvCxnSpPr>
            <a:cxnSpLocks/>
          </p:cNvCxnSpPr>
          <p:nvPr/>
        </p:nvCxnSpPr>
        <p:spPr>
          <a:xfrm>
            <a:off x="3988218" y="1613197"/>
            <a:ext cx="93250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49129-308C-65F0-1F7E-5F3BEEE766EE}"/>
              </a:ext>
            </a:extLst>
          </p:cNvPr>
          <p:cNvCxnSpPr>
            <a:cxnSpLocks/>
          </p:cNvCxnSpPr>
          <p:nvPr/>
        </p:nvCxnSpPr>
        <p:spPr>
          <a:xfrm flipV="1">
            <a:off x="4920724" y="1218612"/>
            <a:ext cx="0" cy="8138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92EB01-4305-E86A-5CF7-98284CE0148E}"/>
              </a:ext>
            </a:extLst>
          </p:cNvPr>
          <p:cNvCxnSpPr>
            <a:cxnSpLocks/>
          </p:cNvCxnSpPr>
          <p:nvPr/>
        </p:nvCxnSpPr>
        <p:spPr>
          <a:xfrm>
            <a:off x="4920724" y="2003519"/>
            <a:ext cx="6427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EF10BBE-9CD4-7198-8027-3E375E79D1FB}"/>
              </a:ext>
            </a:extLst>
          </p:cNvPr>
          <p:cNvSpPr/>
          <p:nvPr/>
        </p:nvSpPr>
        <p:spPr>
          <a:xfrm>
            <a:off x="5165167" y="993846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SUMO flow file (‘.flow.xml’)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00544F-69A1-E266-50B7-E3D3E7CC7145}"/>
              </a:ext>
            </a:extLst>
          </p:cNvPr>
          <p:cNvSpPr/>
          <p:nvPr/>
        </p:nvSpPr>
        <p:spPr>
          <a:xfrm>
            <a:off x="5165167" y="1797779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SUMO turn file (‘.turn.xml’)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B6495FE-B639-779A-A9AE-026624505D7E}"/>
              </a:ext>
            </a:extLst>
          </p:cNvPr>
          <p:cNvCxnSpPr>
            <a:cxnSpLocks/>
          </p:cNvCxnSpPr>
          <p:nvPr/>
        </p:nvCxnSpPr>
        <p:spPr>
          <a:xfrm flipV="1">
            <a:off x="8332372" y="1195707"/>
            <a:ext cx="0" cy="8367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3A9C97-63C6-4468-6529-59D71BB90825}"/>
              </a:ext>
            </a:extLst>
          </p:cNvPr>
          <p:cNvCxnSpPr>
            <a:cxnSpLocks/>
          </p:cNvCxnSpPr>
          <p:nvPr/>
        </p:nvCxnSpPr>
        <p:spPr>
          <a:xfrm>
            <a:off x="7852392" y="1196287"/>
            <a:ext cx="4799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BEBFED-025D-056F-448E-BACB0E891904}"/>
              </a:ext>
            </a:extLst>
          </p:cNvPr>
          <p:cNvCxnSpPr>
            <a:cxnSpLocks/>
          </p:cNvCxnSpPr>
          <p:nvPr/>
        </p:nvCxnSpPr>
        <p:spPr>
          <a:xfrm>
            <a:off x="7852392" y="2032486"/>
            <a:ext cx="4799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244FE8-D3AC-5841-F377-00959C80763A}"/>
              </a:ext>
            </a:extLst>
          </p:cNvPr>
          <p:cNvCxnSpPr>
            <a:cxnSpLocks/>
          </p:cNvCxnSpPr>
          <p:nvPr/>
        </p:nvCxnSpPr>
        <p:spPr>
          <a:xfrm>
            <a:off x="8332372" y="1625549"/>
            <a:ext cx="11512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6F4D54C-49C1-771C-886C-F34ADF18E31D}"/>
              </a:ext>
            </a:extLst>
          </p:cNvPr>
          <p:cNvSpPr/>
          <p:nvPr/>
        </p:nvSpPr>
        <p:spPr>
          <a:xfrm>
            <a:off x="9092863" y="1417501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SUMO route file (‘.rou.xml’)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8DB87D-714C-B53F-CB7E-E4EEEEF9A6A2}"/>
              </a:ext>
            </a:extLst>
          </p:cNvPr>
          <p:cNvCxnSpPr>
            <a:cxnSpLocks/>
          </p:cNvCxnSpPr>
          <p:nvPr/>
        </p:nvCxnSpPr>
        <p:spPr>
          <a:xfrm>
            <a:off x="3988218" y="4355231"/>
            <a:ext cx="3266946" cy="126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DCABCEFD-AB64-9804-9197-C2CB1067A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164" y="2953868"/>
            <a:ext cx="4214828" cy="264328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27D1480-46CF-0727-9789-A895536C1EB3}"/>
              </a:ext>
            </a:extLst>
          </p:cNvPr>
          <p:cNvSpPr/>
          <p:nvPr/>
        </p:nvSpPr>
        <p:spPr>
          <a:xfrm>
            <a:off x="7813009" y="5637458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400" b="1">
                <a:solidFill>
                  <a:srgbClr val="374759"/>
                </a:solidFill>
                <a:latin typeface="Roboto"/>
              </a:rPr>
              <a:t>Aimsun traffic states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F7335B-5A83-71A9-6909-C1D193CCA6C2}"/>
              </a:ext>
            </a:extLst>
          </p:cNvPr>
          <p:cNvSpPr/>
          <p:nvPr/>
        </p:nvSpPr>
        <p:spPr>
          <a:xfrm>
            <a:off x="2855108" y="1210165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400" b="1">
                <a:solidFill>
                  <a:schemeClr val="accent6">
                    <a:lumMod val="75000"/>
                  </a:schemeClr>
                </a:solidFill>
                <a:latin typeface="Roboto"/>
              </a:rPr>
              <a:t>Real-Twin</a:t>
            </a:r>
            <a:endParaRPr kumimoji="0" sz="1400" b="1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FEA9C5-F16A-7558-3EF3-765BBE398E41}"/>
              </a:ext>
            </a:extLst>
          </p:cNvPr>
          <p:cNvSpPr/>
          <p:nvPr/>
        </p:nvSpPr>
        <p:spPr>
          <a:xfrm>
            <a:off x="3962617" y="3947416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400" b="1">
                <a:solidFill>
                  <a:schemeClr val="accent6">
                    <a:lumMod val="75000"/>
                  </a:schemeClr>
                </a:solidFill>
                <a:latin typeface="Roboto"/>
              </a:rPr>
              <a:t>Real-Twin</a:t>
            </a:r>
            <a:endParaRPr kumimoji="0" sz="1400" b="1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347125-7504-F040-F4DF-5E940D2E4D6A}"/>
              </a:ext>
            </a:extLst>
          </p:cNvPr>
          <p:cNvSpPr/>
          <p:nvPr/>
        </p:nvSpPr>
        <p:spPr>
          <a:xfrm>
            <a:off x="7358452" y="1350633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SUMO’s</a:t>
            </a:r>
          </a:p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1" u="none" strike="noStrike" kern="1200" cap="none" spc="0" normalizeH="0" baseline="0" noProof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jtrrouter</a:t>
            </a:r>
            <a:endParaRPr kumimoji="0" sz="1400" b="1" i="1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A2F2108-B350-F6C3-3CA0-98BABEEB0DF6}"/>
              </a:ext>
            </a:extLst>
          </p:cNvPr>
          <p:cNvSpPr txBox="1">
            <a:spLocks/>
          </p:cNvSpPr>
          <p:nvPr/>
        </p:nvSpPr>
        <p:spPr>
          <a:xfrm>
            <a:off x="345119" y="4607972"/>
            <a:ext cx="6181544" cy="1263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For SUMO, Real-Twin converts turning movement counts into flow and turn files, then uses SUMO’s </a:t>
            </a:r>
            <a:r>
              <a:rPr lang="en-US" sz="1600" i="1" err="1">
                <a:solidFill>
                  <a:srgbClr val="00454D"/>
                </a:solidFill>
                <a:latin typeface="Roboto"/>
                <a:ea typeface="+mn-ea"/>
              </a:rPr>
              <a:t>jtrrouter</a:t>
            </a: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 to generate the final demand file (.rou.xml). 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For Aimsun, Real-Twin directly imports the turning movement counts into the model as traffic states, which serve as the final demand input.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643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6DB8-1C99-ACFD-F327-73D5F4AB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F9EE-878D-1DE8-30A5-0312A8F2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/>
              <a:t>Real-Twin Automation Workflow for Aimsun vs SUMO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398AA-880C-403E-4169-EA2BBD026F37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4 Signal Import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5C5891-7AE8-CB50-0C37-78907E71BCFB}"/>
              </a:ext>
            </a:extLst>
          </p:cNvPr>
          <p:cNvSpPr txBox="1">
            <a:spLocks/>
          </p:cNvSpPr>
          <p:nvPr/>
        </p:nvSpPr>
        <p:spPr>
          <a:xfrm>
            <a:off x="314691" y="1430206"/>
            <a:ext cx="10676215" cy="1263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For SUMO, Real-Twin converts UTDF signal plans directly into NEMA settings and automatically places the detectors. 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For </a:t>
            </a:r>
            <a:r>
              <a:rPr lang="en-US" sz="1600" err="1">
                <a:solidFill>
                  <a:srgbClr val="00454D"/>
                </a:solidFill>
                <a:latin typeface="Roboto"/>
                <a:ea typeface="+mn-ea"/>
              </a:rPr>
              <a:t>Aimsun</a:t>
            </a: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, Real-Twin translates the UTDF data into </a:t>
            </a:r>
            <a:r>
              <a:rPr lang="en-US" sz="1600" err="1">
                <a:solidFill>
                  <a:srgbClr val="00454D"/>
                </a:solidFill>
                <a:latin typeface="Roboto"/>
                <a:ea typeface="+mn-ea"/>
              </a:rPr>
              <a:t>Aimsun</a:t>
            </a: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 signal definitions and places and connects detectors to the corresponding phases by calling multiple </a:t>
            </a:r>
            <a:r>
              <a:rPr lang="en-US" sz="1600" err="1">
                <a:solidFill>
                  <a:srgbClr val="00454D"/>
                </a:solidFill>
                <a:latin typeface="Roboto"/>
                <a:ea typeface="+mn-ea"/>
              </a:rPr>
              <a:t>Aimsun</a:t>
            </a: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 APIs.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E0F5F-499B-E5B8-E5CE-7E566AFC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41" y="3005750"/>
            <a:ext cx="6133324" cy="2598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A44DE-3129-4D5D-1825-3C1FCD46C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953" y="2584342"/>
            <a:ext cx="4175490" cy="37027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C1CAA7-4B7F-A0C1-6892-FE1CB3DACEE0}"/>
              </a:ext>
            </a:extLst>
          </p:cNvPr>
          <p:cNvSpPr/>
          <p:nvPr/>
        </p:nvSpPr>
        <p:spPr>
          <a:xfrm>
            <a:off x="911382" y="5740451"/>
            <a:ext cx="391411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SUMO NEMA Signal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400" b="1">
                <a:solidFill>
                  <a:srgbClr val="374759"/>
                </a:solidFill>
                <a:latin typeface="Roboto"/>
              </a:rPr>
              <a:t>(easy to config, limited visual transparency)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4D9B81-B0D3-25EE-664E-1D19D188BA11}"/>
              </a:ext>
            </a:extLst>
          </p:cNvPr>
          <p:cNvSpPr/>
          <p:nvPr/>
        </p:nvSpPr>
        <p:spPr>
          <a:xfrm>
            <a:off x="7088863" y="6287135"/>
            <a:ext cx="4526733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Aimsun Signal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lang="en-US" sz="1400" b="1">
                <a:solidFill>
                  <a:srgbClr val="374759"/>
                </a:solidFill>
                <a:latin typeface="Roboto"/>
              </a:rPr>
              <a:t>(complex to config, good visualization of signal logic)</a:t>
            </a:r>
          </a:p>
        </p:txBody>
      </p:sp>
    </p:spTree>
    <p:extLst>
      <p:ext uri="{BB962C8B-B14F-4D97-AF65-F5344CB8AC3E}">
        <p14:creationId xmlns:p14="http://schemas.microsoft.com/office/powerpoint/2010/main" val="375524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084F-C73E-0AE6-A7BF-42233A90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FB2F-905F-FD36-7C53-2AA963EA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/>
              <a:t>Real-Twin Automation Workflow for Aimsun vs SUMO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69F2F-7EC0-6FDD-83C0-008579782864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5 Simulation Generation and Calibration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FB37B7-70AF-823F-7AC9-6BFDDD0EC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3" y="2552524"/>
            <a:ext cx="8827201" cy="343169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CE1B1F-610C-B135-F81A-2229B6850C32}"/>
              </a:ext>
            </a:extLst>
          </p:cNvPr>
          <p:cNvSpPr txBox="1">
            <a:spLocks/>
          </p:cNvSpPr>
          <p:nvPr/>
        </p:nvSpPr>
        <p:spPr>
          <a:xfrm>
            <a:off x="314691" y="1430206"/>
            <a:ext cx="11492432" cy="1263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SUMO calibration can be completed entirely in Python. 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400" b="0">
                <a:solidFill>
                  <a:srgbClr val="5C6978"/>
                </a:solidFill>
              </a:defRPr>
            </a:pPr>
            <a:r>
              <a:rPr lang="en-US" sz="1600">
                <a:solidFill>
                  <a:srgbClr val="00454D"/>
                </a:solidFill>
                <a:latin typeface="Roboto"/>
                <a:ea typeface="+mn-ea"/>
              </a:rPr>
              <a:t>Aimsun calibration requires coordinated use of the Aimsun API for parameter updates, the command line for simulation execution, and Python for result analysis, calibration, and generation of new parameter sets.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454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94557A-3EB7-74D7-4FD6-C6FCB33F160B}"/>
              </a:ext>
            </a:extLst>
          </p:cNvPr>
          <p:cNvSpPr/>
          <p:nvPr/>
        </p:nvSpPr>
        <p:spPr>
          <a:xfrm>
            <a:off x="72122" y="3083361"/>
            <a:ext cx="2584656" cy="240158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8C67DC-12D1-44EE-68CB-CC1A4544DB7D}"/>
              </a:ext>
            </a:extLst>
          </p:cNvPr>
          <p:cNvSpPr/>
          <p:nvPr/>
        </p:nvSpPr>
        <p:spPr>
          <a:xfrm>
            <a:off x="-289711" y="6129824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RealTwin.Calibration.SUMO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19FEA2-CA9F-60F3-988E-1058ACD448C3}"/>
              </a:ext>
            </a:extLst>
          </p:cNvPr>
          <p:cNvSpPr/>
          <p:nvPr/>
        </p:nvSpPr>
        <p:spPr>
          <a:xfrm>
            <a:off x="4488595" y="2485496"/>
            <a:ext cx="4587090" cy="358269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42D982-D6ED-03B9-1EA0-F4AC86782207}"/>
              </a:ext>
            </a:extLst>
          </p:cNvPr>
          <p:cNvSpPr/>
          <p:nvPr/>
        </p:nvSpPr>
        <p:spPr>
          <a:xfrm>
            <a:off x="5177074" y="6135223"/>
            <a:ext cx="3099137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5C6978"/>
                </a:solidFill>
              </a:defRPr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374759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RealTwin.Calibration.Aimsun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374759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206A637-DEEF-6A07-DE06-D9E9BE967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494" y="2562063"/>
            <a:ext cx="2583384" cy="197299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C69CE70-5AF7-7E40-1E40-35DB50DDD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066" y="5111937"/>
            <a:ext cx="2686510" cy="566310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46A7F914-62D3-1A61-5912-A74522DF8EF4}"/>
              </a:ext>
            </a:extLst>
          </p:cNvPr>
          <p:cNvSpPr/>
          <p:nvPr/>
        </p:nvSpPr>
        <p:spPr>
          <a:xfrm rot="10800000">
            <a:off x="9096672" y="3417472"/>
            <a:ext cx="418834" cy="179699"/>
          </a:xfrm>
          <a:prstGeom prst="rightArrow">
            <a:avLst/>
          </a:prstGeom>
          <a:solidFill>
            <a:schemeClr val="tx1"/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3550A98-8969-3FA4-DC6A-6EC7720725B4}"/>
              </a:ext>
            </a:extLst>
          </p:cNvPr>
          <p:cNvSpPr/>
          <p:nvPr/>
        </p:nvSpPr>
        <p:spPr>
          <a:xfrm rot="10800000">
            <a:off x="9014067" y="5368163"/>
            <a:ext cx="418834" cy="179699"/>
          </a:xfrm>
          <a:prstGeom prst="rightArrow">
            <a:avLst/>
          </a:prstGeom>
          <a:solidFill>
            <a:schemeClr val="tx1"/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81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8AE3-1575-D7FB-D1DD-2B01F131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">
            <a:extLst>
              <a:ext uri="{FF2B5EF4-FFF2-40B4-BE49-F238E27FC236}">
                <a16:creationId xmlns:a16="http://schemas.microsoft.com/office/drawing/2014/main" id="{8AFA7AE5-1656-B9B9-4F71-27F48EF37F13}"/>
              </a:ext>
            </a:extLst>
          </p:cNvPr>
          <p:cNvSpPr/>
          <p:nvPr/>
        </p:nvSpPr>
        <p:spPr>
          <a:xfrm>
            <a:off x="286089" y="1541986"/>
            <a:ext cx="11018520" cy="18288"/>
          </a:xfrm>
          <a:prstGeom prst="rect">
            <a:avLst/>
          </a:prstGeom>
          <a:solidFill>
            <a:srgbClr val="DCE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90C7DE8D-282E-CBA7-40BC-63CC6EA1C032}"/>
              </a:ext>
            </a:extLst>
          </p:cNvPr>
          <p:cNvSpPr/>
          <p:nvPr/>
        </p:nvSpPr>
        <p:spPr>
          <a:xfrm>
            <a:off x="2398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DF24171B-7251-A202-1AA0-560F52F5A405}"/>
              </a:ext>
            </a:extLst>
          </p:cNvPr>
          <p:cNvSpPr/>
          <p:nvPr/>
        </p:nvSpPr>
        <p:spPr>
          <a:xfrm>
            <a:off x="4684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88A24F81-E805-5AEB-171C-D6345D20EA16}"/>
              </a:ext>
            </a:extLst>
          </p:cNvPr>
          <p:cNvSpPr/>
          <p:nvPr/>
        </p:nvSpPr>
        <p:spPr>
          <a:xfrm>
            <a:off x="6970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38D813CB-68A4-7E06-DDE2-024D1BB2AA97}"/>
              </a:ext>
            </a:extLst>
          </p:cNvPr>
          <p:cNvSpPr/>
          <p:nvPr/>
        </p:nvSpPr>
        <p:spPr>
          <a:xfrm>
            <a:off x="9256353" y="4029154"/>
            <a:ext cx="155448" cy="274320"/>
          </a:xfrm>
          <a:prstGeom prst="rightArrow">
            <a:avLst/>
          </a:prstGeom>
          <a:solidFill>
            <a:srgbClr val="B7C2D4"/>
          </a:solidFill>
          <a:ln w="12700">
            <a:solidFill>
              <a:srgbClr val="B7C2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86BD0F3A-62F4-1E7E-563D-4B3F1D279064}"/>
              </a:ext>
            </a:extLst>
          </p:cNvPr>
          <p:cNvSpPr/>
          <p:nvPr/>
        </p:nvSpPr>
        <p:spPr>
          <a:xfrm>
            <a:off x="1058757" y="1706578"/>
            <a:ext cx="548640" cy="548640"/>
          </a:xfrm>
          <a:prstGeom prst="ellipse">
            <a:avLst/>
          </a:prstGeom>
          <a:solidFill>
            <a:srgbClr val="00A5B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7C1C4F6B-0441-5FA5-1883-2B82255B3D60}"/>
              </a:ext>
            </a:extLst>
          </p:cNvPr>
          <p:cNvSpPr/>
          <p:nvPr/>
        </p:nvSpPr>
        <p:spPr>
          <a:xfrm>
            <a:off x="1058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1</a:t>
            </a:r>
            <a:endParaRPr lang="en-US" sz="1550"/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CAAE8BF2-474A-6587-767C-A3F089C81FF4}"/>
              </a:ext>
            </a:extLst>
          </p:cNvPr>
          <p:cNvSpPr/>
          <p:nvPr/>
        </p:nvSpPr>
        <p:spPr>
          <a:xfrm>
            <a:off x="304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5B5"/>
                </a:solidFill>
                <a:ea typeface="Aptos" pitchFamily="34" charset="-122"/>
                <a:cs typeface="Aptos" pitchFamily="34" charset="-120"/>
              </a:rPr>
              <a:t>Step 1</a:t>
            </a:r>
            <a:endParaRPr lang="en-US" sz="105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C87B25E9-0DD5-B0FB-74EA-39298676DBC1}"/>
              </a:ext>
            </a:extLst>
          </p:cNvPr>
          <p:cNvSpPr/>
          <p:nvPr/>
        </p:nvSpPr>
        <p:spPr>
          <a:xfrm>
            <a:off x="331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Network Generation &amp; Import</a:t>
            </a:r>
            <a:endParaRPr lang="en-US" sz="1550"/>
          </a:p>
        </p:txBody>
      </p:sp>
      <p:sp>
        <p:nvSpPr>
          <p:cNvPr id="101" name="Shape 12">
            <a:extLst>
              <a:ext uri="{FF2B5EF4-FFF2-40B4-BE49-F238E27FC236}">
                <a16:creationId xmlns:a16="http://schemas.microsoft.com/office/drawing/2014/main" id="{281A72E6-AD88-53A5-D74C-104F6E67E3C0}"/>
              </a:ext>
            </a:extLst>
          </p:cNvPr>
          <p:cNvSpPr/>
          <p:nvPr/>
        </p:nvSpPr>
        <p:spPr>
          <a:xfrm>
            <a:off x="304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85760BB3-03FB-7F78-0FE6-4C7E80E7DDBB}"/>
              </a:ext>
            </a:extLst>
          </p:cNvPr>
          <p:cNvSpPr/>
          <p:nvPr/>
        </p:nvSpPr>
        <p:spPr>
          <a:xfrm>
            <a:off x="423249" y="3306778"/>
            <a:ext cx="1819656" cy="73152"/>
          </a:xfrm>
          <a:prstGeom prst="rect">
            <a:avLst/>
          </a:prstGeom>
          <a:solidFill>
            <a:srgbClr val="00A5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4">
            <a:extLst>
              <a:ext uri="{FF2B5EF4-FFF2-40B4-BE49-F238E27FC236}">
                <a16:creationId xmlns:a16="http://schemas.microsoft.com/office/drawing/2014/main" id="{6519D419-BEE4-581A-B437-0C6992AFDD99}"/>
              </a:ext>
            </a:extLst>
          </p:cNvPr>
          <p:cNvSpPr/>
          <p:nvPr/>
        </p:nvSpPr>
        <p:spPr>
          <a:xfrm>
            <a:off x="487257" y="3581098"/>
            <a:ext cx="17556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Import an existing network or generate a network for the area of interest using OpenStreetMap data</a:t>
            </a:r>
            <a:endParaRPr lang="en-US" sz="1300"/>
          </a:p>
        </p:txBody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A22055BA-AB7C-AB4A-B830-C40BF1766E9E}"/>
              </a:ext>
            </a:extLst>
          </p:cNvPr>
          <p:cNvSpPr/>
          <p:nvPr/>
        </p:nvSpPr>
        <p:spPr>
          <a:xfrm>
            <a:off x="423249" y="5016706"/>
            <a:ext cx="1819656" cy="36576"/>
          </a:xfrm>
          <a:prstGeom prst="rect">
            <a:avLst/>
          </a:prstGeom>
          <a:solidFill>
            <a:srgbClr val="E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6">
            <a:extLst>
              <a:ext uri="{FF2B5EF4-FFF2-40B4-BE49-F238E27FC236}">
                <a16:creationId xmlns:a16="http://schemas.microsoft.com/office/drawing/2014/main" id="{7CE433DF-5AE3-CE76-7AB8-AD0963E8069A}"/>
              </a:ext>
            </a:extLst>
          </p:cNvPr>
          <p:cNvSpPr/>
          <p:nvPr/>
        </p:nvSpPr>
        <p:spPr>
          <a:xfrm>
            <a:off x="3344757" y="1706578"/>
            <a:ext cx="548640" cy="548640"/>
          </a:xfrm>
          <a:prstGeom prst="ellipse">
            <a:avLst/>
          </a:prstGeom>
          <a:solidFill>
            <a:srgbClr val="2F80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7">
            <a:extLst>
              <a:ext uri="{FF2B5EF4-FFF2-40B4-BE49-F238E27FC236}">
                <a16:creationId xmlns:a16="http://schemas.microsoft.com/office/drawing/2014/main" id="{80C4C1C3-73CF-0AAE-0BE8-69F5FB9968B7}"/>
              </a:ext>
            </a:extLst>
          </p:cNvPr>
          <p:cNvSpPr/>
          <p:nvPr/>
        </p:nvSpPr>
        <p:spPr>
          <a:xfrm>
            <a:off x="3344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2</a:t>
            </a:r>
            <a:endParaRPr lang="en-US" sz="1550"/>
          </a:p>
        </p:txBody>
      </p:sp>
      <p:sp>
        <p:nvSpPr>
          <p:cNvPr id="117" name="Text 18">
            <a:extLst>
              <a:ext uri="{FF2B5EF4-FFF2-40B4-BE49-F238E27FC236}">
                <a16:creationId xmlns:a16="http://schemas.microsoft.com/office/drawing/2014/main" id="{C90E856B-B9DD-2C69-B0AD-7ED7088F2941}"/>
              </a:ext>
            </a:extLst>
          </p:cNvPr>
          <p:cNvSpPr/>
          <p:nvPr/>
        </p:nvSpPr>
        <p:spPr>
          <a:xfrm>
            <a:off x="2590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F80ED"/>
                </a:solidFill>
                <a:ea typeface="Aptos" pitchFamily="34" charset="-122"/>
                <a:cs typeface="Aptos" pitchFamily="34" charset="-120"/>
              </a:rPr>
              <a:t>Step 2</a:t>
            </a:r>
            <a:endParaRPr lang="en-US" sz="105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7B861B53-7B1D-8232-2B71-A6AAC4620CB3}"/>
              </a:ext>
            </a:extLst>
          </p:cNvPr>
          <p:cNvSpPr/>
          <p:nvPr/>
        </p:nvSpPr>
        <p:spPr>
          <a:xfrm>
            <a:off x="2617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Matchup Table Generation</a:t>
            </a:r>
            <a:endParaRPr lang="en-US" sz="1550"/>
          </a:p>
        </p:txBody>
      </p:sp>
      <p:sp>
        <p:nvSpPr>
          <p:cNvPr id="121" name="Shape 20">
            <a:extLst>
              <a:ext uri="{FF2B5EF4-FFF2-40B4-BE49-F238E27FC236}">
                <a16:creationId xmlns:a16="http://schemas.microsoft.com/office/drawing/2014/main" id="{9ABD9EDE-8B51-6675-A22E-A4141CF73F32}"/>
              </a:ext>
            </a:extLst>
          </p:cNvPr>
          <p:cNvSpPr/>
          <p:nvPr/>
        </p:nvSpPr>
        <p:spPr>
          <a:xfrm>
            <a:off x="2590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21">
            <a:extLst>
              <a:ext uri="{FF2B5EF4-FFF2-40B4-BE49-F238E27FC236}">
                <a16:creationId xmlns:a16="http://schemas.microsoft.com/office/drawing/2014/main" id="{4298725E-F33D-0201-4365-935C362C0BF7}"/>
              </a:ext>
            </a:extLst>
          </p:cNvPr>
          <p:cNvSpPr/>
          <p:nvPr/>
        </p:nvSpPr>
        <p:spPr>
          <a:xfrm>
            <a:off x="2709249" y="3306778"/>
            <a:ext cx="1819656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05CFEE71-F644-DE7C-2B6E-12351157C44F}"/>
              </a:ext>
            </a:extLst>
          </p:cNvPr>
          <p:cNvSpPr/>
          <p:nvPr/>
        </p:nvSpPr>
        <p:spPr>
          <a:xfrm>
            <a:off x="2773257" y="3581098"/>
            <a:ext cx="17556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Generate mapping tables that align real-world network elements with their corresponding simulator object IDs</a:t>
            </a:r>
            <a:endParaRPr lang="en-US" sz="13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81F563D0-8160-49A1-7F0E-BA48279FE526}"/>
              </a:ext>
            </a:extLst>
          </p:cNvPr>
          <p:cNvSpPr/>
          <p:nvPr/>
        </p:nvSpPr>
        <p:spPr>
          <a:xfrm>
            <a:off x="2709249" y="5016706"/>
            <a:ext cx="1819656" cy="36576"/>
          </a:xfrm>
          <a:prstGeom prst="rect">
            <a:avLst/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24">
            <a:extLst>
              <a:ext uri="{FF2B5EF4-FFF2-40B4-BE49-F238E27FC236}">
                <a16:creationId xmlns:a16="http://schemas.microsoft.com/office/drawing/2014/main" id="{B6A4D86D-C6DA-750C-2802-29B51D30759A}"/>
              </a:ext>
            </a:extLst>
          </p:cNvPr>
          <p:cNvSpPr/>
          <p:nvPr/>
        </p:nvSpPr>
        <p:spPr>
          <a:xfrm>
            <a:off x="5630757" y="1706578"/>
            <a:ext cx="548640" cy="54864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25">
            <a:extLst>
              <a:ext uri="{FF2B5EF4-FFF2-40B4-BE49-F238E27FC236}">
                <a16:creationId xmlns:a16="http://schemas.microsoft.com/office/drawing/2014/main" id="{0FB0F645-CF60-BCA2-3565-E9BC6BF2DD10}"/>
              </a:ext>
            </a:extLst>
          </p:cNvPr>
          <p:cNvSpPr/>
          <p:nvPr/>
        </p:nvSpPr>
        <p:spPr>
          <a:xfrm>
            <a:off x="5630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3</a:t>
            </a:r>
            <a:endParaRPr lang="en-US" sz="1550"/>
          </a:p>
        </p:txBody>
      </p:sp>
      <p:sp>
        <p:nvSpPr>
          <p:cNvPr id="133" name="Text 26">
            <a:extLst>
              <a:ext uri="{FF2B5EF4-FFF2-40B4-BE49-F238E27FC236}">
                <a16:creationId xmlns:a16="http://schemas.microsoft.com/office/drawing/2014/main" id="{299DBD33-A2E3-7BFF-8B91-798871236388}"/>
              </a:ext>
            </a:extLst>
          </p:cNvPr>
          <p:cNvSpPr/>
          <p:nvPr/>
        </p:nvSpPr>
        <p:spPr>
          <a:xfrm>
            <a:off x="4876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8B5CF6"/>
                </a:solidFill>
                <a:ea typeface="Aptos" pitchFamily="34" charset="-122"/>
                <a:cs typeface="Aptos" pitchFamily="34" charset="-120"/>
              </a:rPr>
              <a:t>Step 3</a:t>
            </a:r>
            <a:endParaRPr lang="en-US" sz="1050"/>
          </a:p>
        </p:txBody>
      </p:sp>
      <p:sp>
        <p:nvSpPr>
          <p:cNvPr id="135" name="Text 27">
            <a:extLst>
              <a:ext uri="{FF2B5EF4-FFF2-40B4-BE49-F238E27FC236}">
                <a16:creationId xmlns:a16="http://schemas.microsoft.com/office/drawing/2014/main" id="{3A2E8E2B-1BAF-376B-AE9B-3C7019C82C41}"/>
              </a:ext>
            </a:extLst>
          </p:cNvPr>
          <p:cNvSpPr/>
          <p:nvPr/>
        </p:nvSpPr>
        <p:spPr>
          <a:xfrm>
            <a:off x="4903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Demand Import</a:t>
            </a:r>
            <a:endParaRPr lang="en-US" sz="1550"/>
          </a:p>
        </p:txBody>
      </p:sp>
      <p:sp>
        <p:nvSpPr>
          <p:cNvPr id="137" name="Shape 28">
            <a:extLst>
              <a:ext uri="{FF2B5EF4-FFF2-40B4-BE49-F238E27FC236}">
                <a16:creationId xmlns:a16="http://schemas.microsoft.com/office/drawing/2014/main" id="{A4640066-5E71-AFF4-EE2F-B20F7FC1BF7F}"/>
              </a:ext>
            </a:extLst>
          </p:cNvPr>
          <p:cNvSpPr/>
          <p:nvPr/>
        </p:nvSpPr>
        <p:spPr>
          <a:xfrm>
            <a:off x="4876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29">
            <a:extLst>
              <a:ext uri="{FF2B5EF4-FFF2-40B4-BE49-F238E27FC236}">
                <a16:creationId xmlns:a16="http://schemas.microsoft.com/office/drawing/2014/main" id="{0864BE96-F05F-3A61-4338-75BB79268CB7}"/>
              </a:ext>
            </a:extLst>
          </p:cNvPr>
          <p:cNvSpPr/>
          <p:nvPr/>
        </p:nvSpPr>
        <p:spPr>
          <a:xfrm>
            <a:off x="4995249" y="3306778"/>
            <a:ext cx="1819656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C2DA4BED-11AC-2980-11A2-954173671ED2}"/>
              </a:ext>
            </a:extLst>
          </p:cNvPr>
          <p:cNvSpPr/>
          <p:nvPr/>
        </p:nvSpPr>
        <p:spPr>
          <a:xfrm>
            <a:off x="5059257" y="3581098"/>
            <a:ext cx="17922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Convert field traffic counts into simulator-ready demand inputs matched to the network</a:t>
            </a:r>
            <a:endParaRPr lang="en-US" sz="1300"/>
          </a:p>
        </p:txBody>
      </p:sp>
      <p:sp>
        <p:nvSpPr>
          <p:cNvPr id="143" name="Shape 31">
            <a:extLst>
              <a:ext uri="{FF2B5EF4-FFF2-40B4-BE49-F238E27FC236}">
                <a16:creationId xmlns:a16="http://schemas.microsoft.com/office/drawing/2014/main" id="{A4253D3C-E80A-0733-FF3B-5BB95A322C3D}"/>
              </a:ext>
            </a:extLst>
          </p:cNvPr>
          <p:cNvSpPr/>
          <p:nvPr/>
        </p:nvSpPr>
        <p:spPr>
          <a:xfrm>
            <a:off x="4995249" y="5016706"/>
            <a:ext cx="1819656" cy="36576"/>
          </a:xfrm>
          <a:prstGeom prst="rect">
            <a:avLst/>
          </a:prstGeom>
          <a:solidFill>
            <a:srgbClr val="F2E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32">
            <a:extLst>
              <a:ext uri="{FF2B5EF4-FFF2-40B4-BE49-F238E27FC236}">
                <a16:creationId xmlns:a16="http://schemas.microsoft.com/office/drawing/2014/main" id="{50E78008-0A1C-50F5-4B6E-A799B311A66C}"/>
              </a:ext>
            </a:extLst>
          </p:cNvPr>
          <p:cNvSpPr/>
          <p:nvPr/>
        </p:nvSpPr>
        <p:spPr>
          <a:xfrm>
            <a:off x="7916757" y="1706578"/>
            <a:ext cx="548640" cy="54864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33">
            <a:extLst>
              <a:ext uri="{FF2B5EF4-FFF2-40B4-BE49-F238E27FC236}">
                <a16:creationId xmlns:a16="http://schemas.microsoft.com/office/drawing/2014/main" id="{4CBEB992-3F9D-E9B7-DF01-B5662C6A9C73}"/>
              </a:ext>
            </a:extLst>
          </p:cNvPr>
          <p:cNvSpPr/>
          <p:nvPr/>
        </p:nvSpPr>
        <p:spPr>
          <a:xfrm>
            <a:off x="7916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4</a:t>
            </a:r>
            <a:endParaRPr lang="en-US" sz="1550"/>
          </a:p>
        </p:txBody>
      </p:sp>
      <p:sp>
        <p:nvSpPr>
          <p:cNvPr id="149" name="Text 34">
            <a:extLst>
              <a:ext uri="{FF2B5EF4-FFF2-40B4-BE49-F238E27FC236}">
                <a16:creationId xmlns:a16="http://schemas.microsoft.com/office/drawing/2014/main" id="{C8DD19A6-CCE3-FACF-C815-36DA120C2FAA}"/>
              </a:ext>
            </a:extLst>
          </p:cNvPr>
          <p:cNvSpPr/>
          <p:nvPr/>
        </p:nvSpPr>
        <p:spPr>
          <a:xfrm>
            <a:off x="7162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Step 4</a:t>
            </a:r>
            <a:endParaRPr lang="en-US" sz="1050"/>
          </a:p>
        </p:txBody>
      </p:sp>
      <p:sp>
        <p:nvSpPr>
          <p:cNvPr id="151" name="Text 35">
            <a:extLst>
              <a:ext uri="{FF2B5EF4-FFF2-40B4-BE49-F238E27FC236}">
                <a16:creationId xmlns:a16="http://schemas.microsoft.com/office/drawing/2014/main" id="{FC460401-46F9-59F2-A2C5-D9DC6045BBAD}"/>
              </a:ext>
            </a:extLst>
          </p:cNvPr>
          <p:cNvSpPr/>
          <p:nvPr/>
        </p:nvSpPr>
        <p:spPr>
          <a:xfrm>
            <a:off x="7189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Signal Import</a:t>
            </a:r>
            <a:endParaRPr lang="en-US" sz="1550"/>
          </a:p>
        </p:txBody>
      </p:sp>
      <p:sp>
        <p:nvSpPr>
          <p:cNvPr id="153" name="Shape 36">
            <a:extLst>
              <a:ext uri="{FF2B5EF4-FFF2-40B4-BE49-F238E27FC236}">
                <a16:creationId xmlns:a16="http://schemas.microsoft.com/office/drawing/2014/main" id="{DC110129-4A21-0A29-B17C-DD57621ED26C}"/>
              </a:ext>
            </a:extLst>
          </p:cNvPr>
          <p:cNvSpPr/>
          <p:nvPr/>
        </p:nvSpPr>
        <p:spPr>
          <a:xfrm>
            <a:off x="7162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37">
            <a:extLst>
              <a:ext uri="{FF2B5EF4-FFF2-40B4-BE49-F238E27FC236}">
                <a16:creationId xmlns:a16="http://schemas.microsoft.com/office/drawing/2014/main" id="{9574BCFD-03F6-EF96-3FB5-3756102C658C}"/>
              </a:ext>
            </a:extLst>
          </p:cNvPr>
          <p:cNvSpPr/>
          <p:nvPr/>
        </p:nvSpPr>
        <p:spPr>
          <a:xfrm>
            <a:off x="7281249" y="3306778"/>
            <a:ext cx="1819656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38">
            <a:extLst>
              <a:ext uri="{FF2B5EF4-FFF2-40B4-BE49-F238E27FC236}">
                <a16:creationId xmlns:a16="http://schemas.microsoft.com/office/drawing/2014/main" id="{FE1204BD-12C6-466E-C7BE-774FFCED17CD}"/>
              </a:ext>
            </a:extLst>
          </p:cNvPr>
          <p:cNvSpPr/>
          <p:nvPr/>
        </p:nvSpPr>
        <p:spPr>
          <a:xfrm>
            <a:off x="7345257" y="3581098"/>
            <a:ext cx="17922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Import signal timing and control data, then automatically configure the corresponding signal plans in the traffic simulator</a:t>
            </a:r>
            <a:endParaRPr lang="en-US" sz="1300"/>
          </a:p>
        </p:txBody>
      </p:sp>
      <p:sp>
        <p:nvSpPr>
          <p:cNvPr id="159" name="Shape 39">
            <a:extLst>
              <a:ext uri="{FF2B5EF4-FFF2-40B4-BE49-F238E27FC236}">
                <a16:creationId xmlns:a16="http://schemas.microsoft.com/office/drawing/2014/main" id="{7FA4BB94-9950-6DB4-D165-4BD8F9B95F18}"/>
              </a:ext>
            </a:extLst>
          </p:cNvPr>
          <p:cNvSpPr/>
          <p:nvPr/>
        </p:nvSpPr>
        <p:spPr>
          <a:xfrm>
            <a:off x="7281249" y="5016706"/>
            <a:ext cx="1819656" cy="36576"/>
          </a:xfrm>
          <a:prstGeom prst="rect">
            <a:avLst/>
          </a:prstGeom>
          <a:solidFill>
            <a:srgbClr val="FFF5D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40">
            <a:extLst>
              <a:ext uri="{FF2B5EF4-FFF2-40B4-BE49-F238E27FC236}">
                <a16:creationId xmlns:a16="http://schemas.microsoft.com/office/drawing/2014/main" id="{9D99F42A-4B17-B182-E178-30939714C837}"/>
              </a:ext>
            </a:extLst>
          </p:cNvPr>
          <p:cNvSpPr/>
          <p:nvPr/>
        </p:nvSpPr>
        <p:spPr>
          <a:xfrm>
            <a:off x="10202757" y="1706578"/>
            <a:ext cx="548640" cy="548640"/>
          </a:xfrm>
          <a:prstGeom prst="ellipse">
            <a:avLst/>
          </a:prstGeom>
          <a:solidFill>
            <a:srgbClr val="20B48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41">
            <a:extLst>
              <a:ext uri="{FF2B5EF4-FFF2-40B4-BE49-F238E27FC236}">
                <a16:creationId xmlns:a16="http://schemas.microsoft.com/office/drawing/2014/main" id="{8B6B201C-41AC-8B02-62C3-1C0186C8A749}"/>
              </a:ext>
            </a:extLst>
          </p:cNvPr>
          <p:cNvSpPr/>
          <p:nvPr/>
        </p:nvSpPr>
        <p:spPr>
          <a:xfrm>
            <a:off x="10202757" y="18071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5</a:t>
            </a:r>
            <a:endParaRPr lang="en-US" sz="1550"/>
          </a:p>
        </p:txBody>
      </p:sp>
      <p:sp>
        <p:nvSpPr>
          <p:cNvPr id="165" name="Text 42">
            <a:extLst>
              <a:ext uri="{FF2B5EF4-FFF2-40B4-BE49-F238E27FC236}">
                <a16:creationId xmlns:a16="http://schemas.microsoft.com/office/drawing/2014/main" id="{C46C1876-A8E2-D403-C378-21E98FED7673}"/>
              </a:ext>
            </a:extLst>
          </p:cNvPr>
          <p:cNvSpPr/>
          <p:nvPr/>
        </p:nvSpPr>
        <p:spPr>
          <a:xfrm>
            <a:off x="9448377" y="231922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0B486"/>
                </a:solidFill>
                <a:ea typeface="Aptos" pitchFamily="34" charset="-122"/>
                <a:cs typeface="Aptos" pitchFamily="34" charset="-120"/>
              </a:rPr>
              <a:t>Step 5</a:t>
            </a:r>
            <a:endParaRPr lang="en-US" sz="1050"/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C2FFCED3-7B16-BC07-9A65-4428C029A0CB}"/>
              </a:ext>
            </a:extLst>
          </p:cNvPr>
          <p:cNvSpPr/>
          <p:nvPr/>
        </p:nvSpPr>
        <p:spPr>
          <a:xfrm>
            <a:off x="9475809" y="2511250"/>
            <a:ext cx="2002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2304A"/>
                </a:solidFill>
                <a:ea typeface="Aptos Display" pitchFamily="34" charset="-122"/>
                <a:cs typeface="Aptos Display" pitchFamily="34" charset="-120"/>
              </a:rPr>
              <a:t>Simulation Generation and Calibration</a:t>
            </a:r>
            <a:endParaRPr lang="en-US" sz="1550"/>
          </a:p>
        </p:txBody>
      </p:sp>
      <p:sp>
        <p:nvSpPr>
          <p:cNvPr id="169" name="Shape 44">
            <a:extLst>
              <a:ext uri="{FF2B5EF4-FFF2-40B4-BE49-F238E27FC236}">
                <a16:creationId xmlns:a16="http://schemas.microsoft.com/office/drawing/2014/main" id="{F4F4B4D9-F7A8-89C8-DDE3-C27C56C9B7D7}"/>
              </a:ext>
            </a:extLst>
          </p:cNvPr>
          <p:cNvSpPr/>
          <p:nvPr/>
        </p:nvSpPr>
        <p:spPr>
          <a:xfrm>
            <a:off x="9448377" y="3151330"/>
            <a:ext cx="205740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45">
            <a:extLst>
              <a:ext uri="{FF2B5EF4-FFF2-40B4-BE49-F238E27FC236}">
                <a16:creationId xmlns:a16="http://schemas.microsoft.com/office/drawing/2014/main" id="{A9C2DAC3-F802-EC2C-C5D9-DE9E6B286F33}"/>
              </a:ext>
            </a:extLst>
          </p:cNvPr>
          <p:cNvSpPr/>
          <p:nvPr/>
        </p:nvSpPr>
        <p:spPr>
          <a:xfrm>
            <a:off x="9567249" y="3306778"/>
            <a:ext cx="1819656" cy="73152"/>
          </a:xfrm>
          <a:prstGeom prst="rect">
            <a:avLst/>
          </a:prstGeom>
          <a:solidFill>
            <a:srgbClr val="20B4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46">
            <a:extLst>
              <a:ext uri="{FF2B5EF4-FFF2-40B4-BE49-F238E27FC236}">
                <a16:creationId xmlns:a16="http://schemas.microsoft.com/office/drawing/2014/main" id="{73E8CD8F-F34B-ED8A-2D5F-38D4B047437E}"/>
              </a:ext>
            </a:extLst>
          </p:cNvPr>
          <p:cNvSpPr/>
          <p:nvPr/>
        </p:nvSpPr>
        <p:spPr>
          <a:xfrm>
            <a:off x="9631257" y="3581098"/>
            <a:ext cx="17556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F2937"/>
                </a:solidFill>
                <a:ea typeface="Aptos" pitchFamily="34" charset="-122"/>
                <a:cs typeface="Aptos" pitchFamily="34" charset="-120"/>
              </a:rPr>
              <a:t>Generate simulation scenarios and calibrate the model (e.g., demand and driving behavior) against field observations</a:t>
            </a:r>
            <a:endParaRPr lang="en-US" sz="1300"/>
          </a:p>
        </p:txBody>
      </p:sp>
      <p:sp>
        <p:nvSpPr>
          <p:cNvPr id="175" name="Shape 47">
            <a:extLst>
              <a:ext uri="{FF2B5EF4-FFF2-40B4-BE49-F238E27FC236}">
                <a16:creationId xmlns:a16="http://schemas.microsoft.com/office/drawing/2014/main" id="{C4AC1707-4ED9-96DC-BFC6-8E4B8D8CFA01}"/>
              </a:ext>
            </a:extLst>
          </p:cNvPr>
          <p:cNvSpPr/>
          <p:nvPr/>
        </p:nvSpPr>
        <p:spPr>
          <a:xfrm>
            <a:off x="9567249" y="5016706"/>
            <a:ext cx="1819656" cy="36576"/>
          </a:xfrm>
          <a:prstGeom prst="rect">
            <a:avLst/>
          </a:prstGeom>
          <a:solidFill>
            <a:srgbClr val="E8F8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48">
            <a:extLst>
              <a:ext uri="{FF2B5EF4-FFF2-40B4-BE49-F238E27FC236}">
                <a16:creationId xmlns:a16="http://schemas.microsoft.com/office/drawing/2014/main" id="{AC0C1A66-0E2F-AFF8-7E81-80219E902B33}"/>
              </a:ext>
            </a:extLst>
          </p:cNvPr>
          <p:cNvSpPr/>
          <p:nvPr/>
        </p:nvSpPr>
        <p:spPr>
          <a:xfrm>
            <a:off x="1056403" y="5505910"/>
            <a:ext cx="10058400" cy="493776"/>
          </a:xfrm>
          <a:prstGeom prst="roundRect">
            <a:avLst>
              <a:gd name="adj" fmla="val 33333"/>
            </a:avLst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49">
            <a:extLst>
              <a:ext uri="{FF2B5EF4-FFF2-40B4-BE49-F238E27FC236}">
                <a16:creationId xmlns:a16="http://schemas.microsoft.com/office/drawing/2014/main" id="{D41E0B0B-DB09-FB70-6577-03979D7A4DF3}"/>
              </a:ext>
            </a:extLst>
          </p:cNvPr>
          <p:cNvSpPr/>
          <p:nvPr/>
        </p:nvSpPr>
        <p:spPr>
          <a:xfrm>
            <a:off x="1175275" y="5643070"/>
            <a:ext cx="9829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calibrated traffic scenarios for SUMO / Aimsun / VISSIM</a:t>
            </a:r>
            <a:endParaRPr lang="en-US" sz="160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073B572-DA60-9BF6-F0EB-75C3B2193A00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Real-Twin Automation Workflow Overview </a:t>
            </a:r>
          </a:p>
        </p:txBody>
      </p:sp>
      <p:sp>
        <p:nvSpPr>
          <p:cNvPr id="182" name="Title 1">
            <a:extLst>
              <a:ext uri="{FF2B5EF4-FFF2-40B4-BE49-F238E27FC236}">
                <a16:creationId xmlns:a16="http://schemas.microsoft.com/office/drawing/2014/main" id="{8BE06D73-C342-5F69-6585-7C899B44F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/>
              <a:t>Real-Twin Automation Workflow for VISSIM </a:t>
            </a:r>
          </a:p>
        </p:txBody>
      </p:sp>
    </p:spTree>
    <p:extLst>
      <p:ext uri="{BB962C8B-B14F-4D97-AF65-F5344CB8AC3E}">
        <p14:creationId xmlns:p14="http://schemas.microsoft.com/office/powerpoint/2010/main" val="587052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3BA7-2D98-B968-AC3B-D139253E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13E3-F8F9-9BF4-3B67-11E76BB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0FA39-2770-3871-CBF9-3AB72EFA3CFE}"/>
              </a:ext>
            </a:extLst>
          </p:cNvPr>
          <p:cNvSpPr txBox="1"/>
          <p:nvPr/>
        </p:nvSpPr>
        <p:spPr>
          <a:xfrm>
            <a:off x="446239" y="1597674"/>
            <a:ext cx="11360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Complete the development of automation functions for VISSIM in the Real-Twin tool.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latin typeface="Aptos" panose="020B0004020202020204" pitchFamily="34" charset="0"/>
              </a:rPr>
              <a:t>Vissim</a:t>
            </a:r>
            <a:r>
              <a:rPr lang="en-US" sz="2000">
                <a:latin typeface="Aptos" panose="020B0004020202020204" pitchFamily="34" charset="0"/>
              </a:rPr>
              <a:t> license access was confirmed, and the purchase order was processed late July.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Development of VISSIM-specific automation functions on track to complete by end of August.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Integrate </a:t>
            </a:r>
            <a:r>
              <a:rPr lang="en-US" sz="2000" err="1">
                <a:latin typeface="Aptos" panose="020B0004020202020204" pitchFamily="34" charset="0"/>
              </a:rPr>
              <a:t>Aimsun</a:t>
            </a:r>
            <a:r>
              <a:rPr lang="en-US" sz="2000">
                <a:latin typeface="Aptos" panose="020B0004020202020204" pitchFamily="34" charset="0"/>
              </a:rPr>
              <a:t> and VISSIM automation functions into the Real-Twin tool.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Release a new Real-Twin version on GitHub/GitLab.</a:t>
            </a:r>
          </a:p>
        </p:txBody>
      </p:sp>
    </p:spTree>
    <p:extLst>
      <p:ext uri="{BB962C8B-B14F-4D97-AF65-F5344CB8AC3E}">
        <p14:creationId xmlns:p14="http://schemas.microsoft.com/office/powerpoint/2010/main" val="66075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2358-336A-F1B9-2E7E-41EACDD7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Updates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EFFB4-3836-FA7F-A8AA-DB830A5B1A62}"/>
              </a:ext>
            </a:extLst>
          </p:cNvPr>
          <p:cNvSpPr txBox="1"/>
          <p:nvPr/>
        </p:nvSpPr>
        <p:spPr>
          <a:xfrm>
            <a:off x="384876" y="1251522"/>
            <a:ext cx="114222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Presented 5 posters at ASCE ICTD; 2 papers from this published. </a:t>
            </a:r>
          </a:p>
          <a:p>
            <a:pPr>
              <a:spcAft>
                <a:spcPts val="1200"/>
              </a:spcAft>
            </a:pPr>
            <a:endParaRPr lang="en-US" sz="2000">
              <a:latin typeface="Aptos" panose="020B00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Submitted 3 papers for 2027 TRB Annual Meeting: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“</a:t>
            </a:r>
            <a:r>
              <a:rPr lang="en-US" sz="2000" err="1">
                <a:latin typeface="Aptos" panose="020B0004020202020204" pitchFamily="34" charset="0"/>
              </a:rPr>
              <a:t>LaneTop</a:t>
            </a:r>
            <a:r>
              <a:rPr lang="en-US" sz="2000">
                <a:latin typeface="Aptos" panose="020B0004020202020204" pitchFamily="34" charset="0"/>
              </a:rPr>
              <a:t>: Agentic Vision-Language Extraction of Lane-Level Intersection Topology”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“Evaluating Agentic Artificial Intelligence in Transportation: A Multidimensional Framework and Reproducible Benchmark for AI-Assisted Traffic Simulation”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“Control-Aware Capacity-Constrained Route-Flow Estimation for Microscopic Traffic Simulation”</a:t>
            </a:r>
          </a:p>
        </p:txBody>
      </p:sp>
    </p:spTree>
    <p:extLst>
      <p:ext uri="{BB962C8B-B14F-4D97-AF65-F5344CB8AC3E}">
        <p14:creationId xmlns:p14="http://schemas.microsoft.com/office/powerpoint/2010/main" val="3766518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A9CF-8994-3102-99E7-A27D917D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Milestone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DF411932-884F-BDDB-7494-56DA8C716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1002792"/>
              </p:ext>
            </p:extLst>
          </p:nvPr>
        </p:nvGraphicFramePr>
        <p:xfrm>
          <a:off x="467337" y="1123483"/>
          <a:ext cx="10855319" cy="4384943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4343202">
                  <a:extLst>
                    <a:ext uri="{9D8B030D-6E8A-4147-A177-3AD203B41FA5}">
                      <a16:colId xmlns:a16="http://schemas.microsoft.com/office/drawing/2014/main" val="4087491247"/>
                    </a:ext>
                  </a:extLst>
                </a:gridCol>
                <a:gridCol w="3783720">
                  <a:extLst>
                    <a:ext uri="{9D8B030D-6E8A-4147-A177-3AD203B41FA5}">
                      <a16:colId xmlns:a16="http://schemas.microsoft.com/office/drawing/2014/main" val="1836666115"/>
                    </a:ext>
                  </a:extLst>
                </a:gridCol>
                <a:gridCol w="1393490">
                  <a:extLst>
                    <a:ext uri="{9D8B030D-6E8A-4147-A177-3AD203B41FA5}">
                      <a16:colId xmlns:a16="http://schemas.microsoft.com/office/drawing/2014/main" val="81719192"/>
                    </a:ext>
                  </a:extLst>
                </a:gridCol>
                <a:gridCol w="1334907">
                  <a:extLst>
                    <a:ext uri="{9D8B030D-6E8A-4147-A177-3AD203B41FA5}">
                      <a16:colId xmlns:a16="http://schemas.microsoft.com/office/drawing/2014/main" val="3811349088"/>
                    </a:ext>
                  </a:extLst>
                </a:gridCol>
              </a:tblGrid>
              <a:tr h="4454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Milestone Name/Description*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Criteria*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Date*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Type*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50658663"/>
                  </a:ext>
                </a:extLst>
              </a:tr>
              <a:tr h="1313149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Develop and demonstrate the Real-Twin advanced automation workflow and functionality with at least 2 example microscopic simulators. Subtask 3.2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Presentation documenting and demonstrating Real-Twin automation workflow in </a:t>
                      </a:r>
                      <a:r>
                        <a:rPr lang="en-US" sz="1600" b="1" kern="120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 additional simulator (AIMSUN)</a:t>
                      </a: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6/30/2026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Go/No Go Decision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8951704"/>
                  </a:ext>
                </a:extLst>
              </a:tr>
              <a:tr h="1313149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Develop and demonstrate the Real-Twin advanced automation workflow and functionality with at least 2 example microscopic simulators. Subtask 3.2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Presentation documenting and demonstrating Real-Twin automation workflow </a:t>
                      </a:r>
                      <a:r>
                        <a:rPr lang="en-US" sz="1600" b="1" kern="120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 1 additional simulator (VISSIM).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20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8/31/2026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Go/No Go Decision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73211480"/>
                  </a:ext>
                </a:extLst>
              </a:tr>
              <a:tr h="1313149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Integrated advanced Real-Twin automation workflow for additional simulators into Real-Twin Python package. Subtask 2.3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Release of new Real-Twin version on GitHub/GitLab.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09/30/2026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</a:rPr>
                        <a:t>Quarterly Progress Measure (Regular)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22087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915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2B40-23BE-8C0C-F377-EEDE5F3C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C352-51D6-BB83-34A2-2472525C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83961"/>
          </a:xfrm>
        </p:spPr>
        <p:txBody>
          <a:bodyPr/>
          <a:lstStyle/>
          <a:p>
            <a:r>
              <a:rPr lang="en-US"/>
              <a:t>Real-Twin Automation Workflow for Aimsun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CD58F2-5CA8-F602-C2A1-0C8E1D6D5DA0}"/>
              </a:ext>
            </a:extLst>
          </p:cNvPr>
          <p:cNvSpPr txBox="1"/>
          <p:nvPr/>
        </p:nvSpPr>
        <p:spPr>
          <a:xfrm>
            <a:off x="286089" y="993846"/>
            <a:ext cx="1045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54D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 5 Simulation Generation and Calibration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051F23-A341-4EC7-316C-2CA8F27252C3}"/>
              </a:ext>
            </a:extLst>
          </p:cNvPr>
          <p:cNvGrpSpPr/>
          <p:nvPr/>
        </p:nvGrpSpPr>
        <p:grpSpPr>
          <a:xfrm>
            <a:off x="7250341" y="1655730"/>
            <a:ext cx="3029893" cy="2009172"/>
            <a:chOff x="326424" y="3433458"/>
            <a:chExt cx="2038956" cy="85332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C51A73C-8EB1-E45E-7842-529E9DAAA932}"/>
                </a:ext>
              </a:extLst>
            </p:cNvPr>
            <p:cNvGrpSpPr/>
            <p:nvPr/>
          </p:nvGrpSpPr>
          <p:grpSpPr>
            <a:xfrm>
              <a:off x="326424" y="3433458"/>
              <a:ext cx="2034540" cy="159237"/>
              <a:chOff x="906780" y="2674620"/>
              <a:chExt cx="2034540" cy="15923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0E1F16-8C05-556F-A95D-28C6F3D1ECD0}"/>
                  </a:ext>
                </a:extLst>
              </p:cNvPr>
              <p:cNvSpPr/>
              <p:nvPr/>
            </p:nvSpPr>
            <p:spPr>
              <a:xfrm>
                <a:off x="906780" y="2674620"/>
                <a:ext cx="2034540" cy="159237"/>
              </a:xfrm>
              <a:prstGeom prst="rect">
                <a:avLst/>
              </a:prstGeom>
              <a:solidFill>
                <a:srgbClr val="7030A0"/>
              </a:solidFill>
              <a:ln w="19050">
                <a:solidFill>
                  <a:srgbClr val="7030A0"/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C946DF-A7AB-0207-7350-267B65E08B44}"/>
                  </a:ext>
                </a:extLst>
              </p:cNvPr>
              <p:cNvSpPr txBox="1"/>
              <p:nvPr/>
            </p:nvSpPr>
            <p:spPr>
              <a:xfrm>
                <a:off x="1061856" y="2688705"/>
                <a:ext cx="1714500" cy="13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Aimsun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52F0077-EC9C-DD37-5686-FAB6C84DD71F}"/>
                </a:ext>
              </a:extLst>
            </p:cNvPr>
            <p:cNvGrpSpPr/>
            <p:nvPr/>
          </p:nvGrpSpPr>
          <p:grpSpPr>
            <a:xfrm>
              <a:off x="326424" y="3592695"/>
              <a:ext cx="2038956" cy="694092"/>
              <a:chOff x="906780" y="2826237"/>
              <a:chExt cx="2038956" cy="69409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43E370-F9A2-B63D-2ED7-4BC34C47CE0E}"/>
                  </a:ext>
                </a:extLst>
              </p:cNvPr>
              <p:cNvSpPr/>
              <p:nvPr/>
            </p:nvSpPr>
            <p:spPr>
              <a:xfrm>
                <a:off x="906780" y="2826237"/>
                <a:ext cx="2034540" cy="69409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1BF6B50-6167-7E12-2BC0-CB37F166CE2A}"/>
                  </a:ext>
                </a:extLst>
              </p:cNvPr>
              <p:cNvSpPr/>
              <p:nvPr/>
            </p:nvSpPr>
            <p:spPr>
              <a:xfrm>
                <a:off x="906780" y="2851167"/>
                <a:ext cx="2038956" cy="62754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7030A0"/>
                    </a:solidFill>
                    <a:cs typeface="Arial" panose="020B0604020202020204" pitchFamily="34" charset="0"/>
                  </a:rPr>
                  <a:t>Import new set of parameters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7030A0"/>
                    </a:solidFill>
                    <a:cs typeface="Arial" panose="020B0604020202020204" pitchFamily="34" charset="0"/>
                  </a:rPr>
                  <a:t>Generate new traffic states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7030A0"/>
                    </a:solidFill>
                    <a:cs typeface="Arial" panose="020B0604020202020204" pitchFamily="34" charset="0"/>
                  </a:rPr>
                  <a:t>Save the model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250E1B-2802-9BE0-F75F-2EB3C28A3F6E}"/>
              </a:ext>
            </a:extLst>
          </p:cNvPr>
          <p:cNvGrpSpPr/>
          <p:nvPr/>
        </p:nvGrpSpPr>
        <p:grpSpPr>
          <a:xfrm>
            <a:off x="9281166" y="4178994"/>
            <a:ext cx="2839770" cy="2009172"/>
            <a:chOff x="326424" y="3433458"/>
            <a:chExt cx="2038956" cy="85332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7ECFD40-AF80-79ED-A55F-AC6B2AB7575F}"/>
                </a:ext>
              </a:extLst>
            </p:cNvPr>
            <p:cNvGrpSpPr/>
            <p:nvPr/>
          </p:nvGrpSpPr>
          <p:grpSpPr>
            <a:xfrm>
              <a:off x="326424" y="3433458"/>
              <a:ext cx="2034540" cy="159237"/>
              <a:chOff x="906780" y="2674620"/>
              <a:chExt cx="2034540" cy="15923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E56FE62-39CC-F600-AD1D-BB15E2B4962E}"/>
                  </a:ext>
                </a:extLst>
              </p:cNvPr>
              <p:cNvSpPr/>
              <p:nvPr/>
            </p:nvSpPr>
            <p:spPr>
              <a:xfrm>
                <a:off x="906780" y="2674620"/>
                <a:ext cx="2034540" cy="159237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4A974F-67F9-4BEE-B553-4DFB33141A81}"/>
                  </a:ext>
                </a:extLst>
              </p:cNvPr>
              <p:cNvSpPr txBox="1"/>
              <p:nvPr/>
            </p:nvSpPr>
            <p:spPr>
              <a:xfrm>
                <a:off x="1061856" y="2688705"/>
                <a:ext cx="1714500" cy="13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Command Prompt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8D3065-4592-229A-34A4-11171D889DED}"/>
                </a:ext>
              </a:extLst>
            </p:cNvPr>
            <p:cNvGrpSpPr/>
            <p:nvPr/>
          </p:nvGrpSpPr>
          <p:grpSpPr>
            <a:xfrm>
              <a:off x="326424" y="3592695"/>
              <a:ext cx="2038956" cy="694092"/>
              <a:chOff x="906780" y="2826237"/>
              <a:chExt cx="2038956" cy="69409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BD3624-CB64-ECA2-22EF-8F8734B7E188}"/>
                  </a:ext>
                </a:extLst>
              </p:cNvPr>
              <p:cNvSpPr/>
              <p:nvPr/>
            </p:nvSpPr>
            <p:spPr>
              <a:xfrm>
                <a:off x="906780" y="2826237"/>
                <a:ext cx="2034540" cy="69409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4A9F9F9-909F-9DF9-9BFB-F5B1B4FD9F2D}"/>
                  </a:ext>
                </a:extLst>
              </p:cNvPr>
              <p:cNvSpPr/>
              <p:nvPr/>
            </p:nvSpPr>
            <p:spPr>
              <a:xfrm>
                <a:off x="906780" y="2851167"/>
                <a:ext cx="2038956" cy="62754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chemeClr val="accent4">
                        <a:lumMod val="75000"/>
                      </a:schemeClr>
                    </a:solidFill>
                    <a:cs typeface="Arial" panose="020B0604020202020204" pitchFamily="34" charset="0"/>
                  </a:rPr>
                  <a:t>Launch Aimsun in a console window with no UI.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chemeClr val="accent4">
                        <a:lumMod val="75000"/>
                      </a:schemeClr>
                    </a:solidFill>
                    <a:cs typeface="Arial" panose="020B0604020202020204" pitchFamily="34" charset="0"/>
                  </a:rPr>
                  <a:t>Run the new simulation in Aimsun.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chemeClr val="accent4">
                        <a:lumMod val="75000"/>
                      </a:schemeClr>
                    </a:solidFill>
                    <a:cs typeface="Arial" panose="020B0604020202020204" pitchFamily="34" charset="0"/>
                  </a:rPr>
                  <a:t>Save the simulation results. 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E93E3C-158F-CC0B-F45F-77217F24A243}"/>
              </a:ext>
            </a:extLst>
          </p:cNvPr>
          <p:cNvGrpSpPr/>
          <p:nvPr/>
        </p:nvGrpSpPr>
        <p:grpSpPr>
          <a:xfrm>
            <a:off x="6171064" y="4178994"/>
            <a:ext cx="2627250" cy="2009172"/>
            <a:chOff x="326424" y="3433458"/>
            <a:chExt cx="2038956" cy="85332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BC8629C-4287-4854-1066-2A1EBC00DAD0}"/>
                </a:ext>
              </a:extLst>
            </p:cNvPr>
            <p:cNvGrpSpPr/>
            <p:nvPr/>
          </p:nvGrpSpPr>
          <p:grpSpPr>
            <a:xfrm>
              <a:off x="326424" y="3433458"/>
              <a:ext cx="2034540" cy="159237"/>
              <a:chOff x="906780" y="2674620"/>
              <a:chExt cx="2034540" cy="15923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4913B7F-E207-62E4-9FC6-FE44C2112A46}"/>
                  </a:ext>
                </a:extLst>
              </p:cNvPr>
              <p:cNvSpPr/>
              <p:nvPr/>
            </p:nvSpPr>
            <p:spPr>
              <a:xfrm>
                <a:off x="906780" y="2674620"/>
                <a:ext cx="2034540" cy="159237"/>
              </a:xfrm>
              <a:prstGeom prst="rect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73407-725D-F192-7C20-A50E4A72CAE3}"/>
                  </a:ext>
                </a:extLst>
              </p:cNvPr>
              <p:cNvSpPr txBox="1"/>
              <p:nvPr/>
            </p:nvSpPr>
            <p:spPr>
              <a:xfrm>
                <a:off x="1061856" y="2688705"/>
                <a:ext cx="1714500" cy="13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Python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B6D6D7-8CF5-7E1E-4494-897E68148FD1}"/>
                </a:ext>
              </a:extLst>
            </p:cNvPr>
            <p:cNvGrpSpPr/>
            <p:nvPr/>
          </p:nvGrpSpPr>
          <p:grpSpPr>
            <a:xfrm>
              <a:off x="326424" y="3592695"/>
              <a:ext cx="2038956" cy="694092"/>
              <a:chOff x="906780" y="2826237"/>
              <a:chExt cx="2038956" cy="69409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F6C5DCB-7F69-45F0-7E9D-61018D60C12C}"/>
                  </a:ext>
                </a:extLst>
              </p:cNvPr>
              <p:cNvSpPr/>
              <p:nvPr/>
            </p:nvSpPr>
            <p:spPr>
              <a:xfrm>
                <a:off x="906780" y="2826237"/>
                <a:ext cx="2034540" cy="69409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08055AE-6ECC-BB96-E002-7E92AE2273FB}"/>
                  </a:ext>
                </a:extLst>
              </p:cNvPr>
              <p:cNvSpPr/>
              <p:nvPr/>
            </p:nvSpPr>
            <p:spPr>
              <a:xfrm>
                <a:off x="906780" y="2851167"/>
                <a:ext cx="2038956" cy="62754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C00000"/>
                    </a:solidFill>
                    <a:cs typeface="Arial" panose="020B0604020202020204" pitchFamily="34" charset="0"/>
                  </a:rPr>
                  <a:t>Analyze simulation results (“SQLite” format)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C00000"/>
                    </a:solidFill>
                    <a:cs typeface="Arial" panose="020B0604020202020204" pitchFamily="34" charset="0"/>
                  </a:rPr>
                  <a:t>Run calibration algorithm (e.g., GA)</a:t>
                </a:r>
              </a:p>
            </p:txBody>
          </p:sp>
        </p:grp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2540DA-3EB0-F51E-C1AB-872A6B1038A4}"/>
              </a:ext>
            </a:extLst>
          </p:cNvPr>
          <p:cNvCxnSpPr>
            <a:cxnSpLocks/>
          </p:cNvCxnSpPr>
          <p:nvPr/>
        </p:nvCxnSpPr>
        <p:spPr>
          <a:xfrm>
            <a:off x="9893427" y="3664902"/>
            <a:ext cx="0" cy="4862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CDCA9F-6880-F1EF-752B-23FF0442E020}"/>
              </a:ext>
            </a:extLst>
          </p:cNvPr>
          <p:cNvCxnSpPr>
            <a:cxnSpLocks/>
            <a:stCxn id="21" idx="1"/>
            <a:endCxn id="28" idx="3"/>
          </p:cNvCxnSpPr>
          <p:nvPr/>
        </p:nvCxnSpPr>
        <p:spPr>
          <a:xfrm flipH="1">
            <a:off x="8792624" y="5371043"/>
            <a:ext cx="48854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23C86D6-69E1-5341-531A-4D7775F68747}"/>
              </a:ext>
            </a:extLst>
          </p:cNvPr>
          <p:cNvSpPr/>
          <p:nvPr/>
        </p:nvSpPr>
        <p:spPr>
          <a:xfrm>
            <a:off x="3802456" y="3538120"/>
            <a:ext cx="1474448" cy="65546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>
                <a:solidFill>
                  <a:srgbClr val="002060"/>
                </a:solidFill>
                <a:cs typeface="Arial" panose="020B0604020202020204" pitchFamily="34" charset="0"/>
              </a:rPr>
              <a:t>New set of parameters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6A9F5E1-DC7A-DFB6-A3C2-527B1071B47B}"/>
              </a:ext>
            </a:extLst>
          </p:cNvPr>
          <p:cNvCxnSpPr>
            <a:cxnSpLocks/>
          </p:cNvCxnSpPr>
          <p:nvPr/>
        </p:nvCxnSpPr>
        <p:spPr>
          <a:xfrm flipV="1">
            <a:off x="5276903" y="2607398"/>
            <a:ext cx="1973437" cy="1140737"/>
          </a:xfrm>
          <a:prstGeom prst="bentConnector3">
            <a:avLst>
              <a:gd name="adj1" fmla="val 22015"/>
            </a:avLst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6C4E3FF-8E15-46E2-77B6-DAF289D6D926}"/>
              </a:ext>
            </a:extLst>
          </p:cNvPr>
          <p:cNvCxnSpPr>
            <a:cxnSpLocks/>
          </p:cNvCxnSpPr>
          <p:nvPr/>
        </p:nvCxnSpPr>
        <p:spPr>
          <a:xfrm rot="10800000">
            <a:off x="5276904" y="3924221"/>
            <a:ext cx="882470" cy="141363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C1B0807-0B30-DC89-FDCC-08AA32330675}"/>
              </a:ext>
            </a:extLst>
          </p:cNvPr>
          <p:cNvGrpSpPr/>
          <p:nvPr/>
        </p:nvGrpSpPr>
        <p:grpSpPr>
          <a:xfrm>
            <a:off x="88293" y="2609694"/>
            <a:ext cx="3116286" cy="2520244"/>
            <a:chOff x="326424" y="3433458"/>
            <a:chExt cx="2038956" cy="85332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403D0DF-DC01-A831-2F37-9926644F35EC}"/>
                </a:ext>
              </a:extLst>
            </p:cNvPr>
            <p:cNvGrpSpPr/>
            <p:nvPr/>
          </p:nvGrpSpPr>
          <p:grpSpPr>
            <a:xfrm>
              <a:off x="326424" y="3433458"/>
              <a:ext cx="2034540" cy="159237"/>
              <a:chOff x="906780" y="2674620"/>
              <a:chExt cx="2034540" cy="159237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736709B-95F9-8077-D761-44DA044D8D1F}"/>
                  </a:ext>
                </a:extLst>
              </p:cNvPr>
              <p:cNvSpPr/>
              <p:nvPr/>
            </p:nvSpPr>
            <p:spPr>
              <a:xfrm>
                <a:off x="906780" y="2674620"/>
                <a:ext cx="2034540" cy="159237"/>
              </a:xfrm>
              <a:prstGeom prst="rect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B003DF8-BD3B-178C-4962-F89A43E71E7C}"/>
                  </a:ext>
                </a:extLst>
              </p:cNvPr>
              <p:cNvSpPr txBox="1"/>
              <p:nvPr/>
            </p:nvSpPr>
            <p:spPr>
              <a:xfrm>
                <a:off x="1061856" y="2688705"/>
                <a:ext cx="1714500" cy="13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Python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EBF8DB2-5C65-8F2F-DFCD-3D4A301F489A}"/>
                </a:ext>
              </a:extLst>
            </p:cNvPr>
            <p:cNvGrpSpPr/>
            <p:nvPr/>
          </p:nvGrpSpPr>
          <p:grpSpPr>
            <a:xfrm>
              <a:off x="326424" y="3592695"/>
              <a:ext cx="2038956" cy="694092"/>
              <a:chOff x="906780" y="2826237"/>
              <a:chExt cx="2038956" cy="694092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3E9A770-59DB-0380-86AF-D02A538B9CD6}"/>
                  </a:ext>
                </a:extLst>
              </p:cNvPr>
              <p:cNvSpPr/>
              <p:nvPr/>
            </p:nvSpPr>
            <p:spPr>
              <a:xfrm>
                <a:off x="906780" y="2826237"/>
                <a:ext cx="2034540" cy="69409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57CE620-C926-867B-D04D-98667C272ECC}"/>
                  </a:ext>
                </a:extLst>
              </p:cNvPr>
              <p:cNvSpPr/>
              <p:nvPr/>
            </p:nvSpPr>
            <p:spPr>
              <a:xfrm>
                <a:off x="906780" y="2851167"/>
                <a:ext cx="2038956" cy="627541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C00000"/>
                    </a:solidFill>
                    <a:cs typeface="Arial" panose="020B0604020202020204" pitchFamily="34" charset="0"/>
                  </a:rPr>
                  <a:t>Generate new SUMO route file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C00000"/>
                    </a:solidFill>
                    <a:cs typeface="Arial" panose="020B0604020202020204" pitchFamily="34" charset="0"/>
                  </a:rPr>
                  <a:t>Run SUMO simulation using TRACI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C00000"/>
                    </a:solidFill>
                    <a:cs typeface="Arial" panose="020B0604020202020204" pitchFamily="34" charset="0"/>
                  </a:rPr>
                  <a:t>Analyze simulation results (‘.xml’ file)</a:t>
                </a:r>
              </a:p>
              <a:p>
                <a:pPr marL="285750" indent="-285750" algn="l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C00000"/>
                    </a:solidFill>
                    <a:cs typeface="Arial" panose="020B0604020202020204" pitchFamily="34" charset="0"/>
                  </a:rPr>
                  <a:t>Run calibration algorithm (e.g., GA)</a:t>
                </a:r>
              </a:p>
            </p:txBody>
          </p:sp>
        </p:grp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9BE6AC6-9808-F6B2-732F-B91D7915FDB6}"/>
              </a:ext>
            </a:extLst>
          </p:cNvPr>
          <p:cNvCxnSpPr>
            <a:cxnSpLocks/>
          </p:cNvCxnSpPr>
          <p:nvPr/>
        </p:nvCxnSpPr>
        <p:spPr>
          <a:xfrm flipH="1">
            <a:off x="3213980" y="3766241"/>
            <a:ext cx="57942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5B37A5B-96F4-3603-E8FC-30B2526A674F}"/>
              </a:ext>
            </a:extLst>
          </p:cNvPr>
          <p:cNvCxnSpPr>
            <a:cxnSpLocks/>
          </p:cNvCxnSpPr>
          <p:nvPr/>
        </p:nvCxnSpPr>
        <p:spPr>
          <a:xfrm>
            <a:off x="3210085" y="3965419"/>
            <a:ext cx="59237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108967"/>
      </p:ext>
    </p:extLst>
  </p:cSld>
  <p:clrMapOvr>
    <a:masterClrMapping/>
  </p:clrMapOvr>
</p:sld>
</file>

<file path=ppt/theme/theme1.xml><?xml version="1.0" encoding="utf-8"?>
<a:theme xmlns:a="http://schemas.openxmlformats.org/drawingml/2006/main" name="ORNL Presentation">
  <a:themeElements>
    <a:clrScheme name="ORNL-OCT2024">
      <a:dk1>
        <a:srgbClr val="00454D"/>
      </a:dk1>
      <a:lt1>
        <a:srgbClr val="FFFFFF"/>
      </a:lt1>
      <a:dk2>
        <a:srgbClr val="00662C"/>
      </a:dk2>
      <a:lt2>
        <a:srgbClr val="DBDCDB"/>
      </a:lt2>
      <a:accent1>
        <a:srgbClr val="373A36"/>
      </a:accent1>
      <a:accent2>
        <a:srgbClr val="005776"/>
      </a:accent2>
      <a:accent3>
        <a:srgbClr val="006BA6"/>
      </a:accent3>
      <a:accent4>
        <a:srgbClr val="7DBA00"/>
      </a:accent4>
      <a:accent5>
        <a:srgbClr val="00BDB5"/>
      </a:accent5>
      <a:accent6>
        <a:srgbClr val="00B38F"/>
      </a:accent6>
      <a:hlink>
        <a:srgbClr val="00444D"/>
      </a:hlink>
      <a:folHlink>
        <a:srgbClr val="00662C"/>
      </a:folHlink>
    </a:clrScheme>
    <a:fontScheme name="ORNL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ORNL">
      <a:srgbClr val="00662C"/>
    </a:custClr>
    <a:custClr name="ORNL">
      <a:srgbClr val="00454D"/>
    </a:custClr>
    <a:custClr name="ORNL">
      <a:srgbClr val="DBDCD8"/>
    </a:custClr>
    <a:custClr name="ORNL">
      <a:srgbClr val="373A36"/>
    </a:custClr>
    <a:custClr name="ORNL">
      <a:srgbClr val="FFFFFF"/>
    </a:custClr>
    <a:custClr name="ORNL">
      <a:srgbClr val="005776"/>
    </a:custClr>
    <a:custClr name="ORNL">
      <a:srgbClr val="006BA6"/>
    </a:custClr>
    <a:custClr name="ORNL">
      <a:srgbClr val="7DBA00"/>
    </a:custClr>
    <a:custClr name="ORNL">
      <a:srgbClr val="00BDB5"/>
    </a:custClr>
    <a:custClr name="ORNL">
      <a:srgbClr val="00B38F"/>
    </a:custClr>
    <a:custClr name="ORNL">
      <a:srgbClr val="00492E"/>
    </a:custClr>
    <a:custClr name="ORNL">
      <a:srgbClr val="00572E"/>
    </a:custClr>
    <a:custClr name="ORNL">
      <a:srgbClr val="28A351"/>
    </a:custClr>
    <a:custClr name="ORNL">
      <a:srgbClr val="53D170"/>
    </a:custClr>
    <a:custClr name="ORNL">
      <a:srgbClr val="8FEF9C"/>
    </a:custClr>
    <a:custClr name="ORNL">
      <a:srgbClr val="002837"/>
    </a:custClr>
    <a:custClr name="ORNL">
      <a:srgbClr val="003542"/>
    </a:custClr>
    <a:custClr name="ORNL">
      <a:srgbClr val="259194"/>
    </a:custClr>
    <a:custClr name="ORNL">
      <a:srgbClr val="50C9C2"/>
    </a:custClr>
    <a:custClr name="ORNL">
      <a:srgbClr val="8EEDE0"/>
    </a:custClr>
  </a:custClrLst>
  <a:extLst>
    <a:ext uri="{05A4C25C-085E-4340-85A3-A5531E510DB2}">
      <thm15:themeFamily xmlns:thm15="http://schemas.microsoft.com/office/thememl/2012/main" name="ORNL-Presentation-16x9-Template" id="{212E2FFC-9BA1-2C4E-A636-8C01E485DB51}" vid="{BB20B00B-A94C-8E47-8444-E1BBEE430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3c7b53-f640-4d00-8515-39163e402b6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42995F48605641897C479CE9B25F82" ma:contentTypeVersion="12" ma:contentTypeDescription="Create a new document." ma:contentTypeScope="" ma:versionID="a7dfb3b918bc7acbb3ebf2bd848459e2">
  <xsd:schema xmlns:xsd="http://www.w3.org/2001/XMLSchema" xmlns:xs="http://www.w3.org/2001/XMLSchema" xmlns:p="http://schemas.microsoft.com/office/2006/metadata/properties" xmlns:ns2="743c7b53-f640-4d00-8515-39163e402b67" targetNamespace="http://schemas.microsoft.com/office/2006/metadata/properties" ma:root="true" ma:fieldsID="3920128abad732a753b9bc3565583da8" ns2:_="">
    <xsd:import namespace="743c7b53-f640-4d00-8515-39163e402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3c7b53-f640-4d00-8515-39163e402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8ac8405-059b-47f8-b48a-bbaeae0205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7EDF46-6E43-4F82-8C93-162D27FFCF81}">
  <ds:schemaRefs>
    <ds:schemaRef ds:uri="743c7b53-f640-4d00-8515-39163e402b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9A2000-E3B9-4651-8BE6-61018097E30E}">
  <ds:schemaRefs>
    <ds:schemaRef ds:uri="743c7b53-f640-4d00-8515-39163e402b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B1B9CC-5C07-40DB-B570-AD7CD97CA43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b3dbd43-4c4b-4544-9f8a-0553f9f5f25e}" enabled="0" method="" siteId="{db3dbd43-4c4b-4544-9f8a-0553f9f5f2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ORNL Presentation</Template>
  <TotalTime>22</TotalTime>
  <Words>1278</Words>
  <Application>Microsoft Office PowerPoint</Application>
  <PresentationFormat>Widescreen</PresentationFormat>
  <Paragraphs>166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Roboto</vt:lpstr>
      <vt:lpstr>Roboto Light</vt:lpstr>
      <vt:lpstr>Verdana</vt:lpstr>
      <vt:lpstr>ORNL Presentation</vt:lpstr>
      <vt:lpstr>Real-Twin Monthly Meeting </vt:lpstr>
      <vt:lpstr>Current Milestone(s)</vt:lpstr>
      <vt:lpstr>Real-Twin Automation Workflow for Vissim</vt:lpstr>
      <vt:lpstr>Real-Twin Automation Workflow for Vissim vs SUMO </vt:lpstr>
      <vt:lpstr>Real-Twin Automation Workflow for Vissim</vt:lpstr>
      <vt:lpstr>Real-Twin Automation Workflow for Aimsun vs SUMO </vt:lpstr>
      <vt:lpstr>Real-Twin Automation Workflow for Aimsun vs SUMO </vt:lpstr>
      <vt:lpstr>Real-Twin Automation Workflow for Aimsun vs SUMO </vt:lpstr>
      <vt:lpstr>Real-Twin Automation Workflow for Aimsun vs SUMO </vt:lpstr>
      <vt:lpstr>Real-Twin Automation Workflow for VISSIM </vt:lpstr>
      <vt:lpstr>Next Steps</vt:lpstr>
      <vt:lpstr>Other Updates</vt:lpstr>
      <vt:lpstr>Next Milestone</vt:lpstr>
      <vt:lpstr>Real-Twin Automation Workflow for Aimsun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Ozpineci, Burak</dc:creator>
  <cp:lastModifiedBy>Saroj, Abhilasha</cp:lastModifiedBy>
  <cp:revision>2</cp:revision>
  <dcterms:created xsi:type="dcterms:W3CDTF">2024-10-22T20:39:21Z</dcterms:created>
  <dcterms:modified xsi:type="dcterms:W3CDTF">2026-08-31T14:16:32Z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0x0101001242995F48605641897C479CE9B25F82</vt:lpwstr>
  </property>
  <property fmtid="{D5CDD505-2E9C-101B-9397-08002B2CF9AE}" pid="3" name="MediaServiceImageTags">
    <vt:lpwstr/>
  </property>
</Properties>
</file>