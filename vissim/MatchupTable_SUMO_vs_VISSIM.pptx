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downstream - vehicle inputs, routing, signal timings - is keyed on these rows. If a row is wrong, the model is wrong in a way that still runs.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get_net_connections in rt_matchup_table_generation.py. The direction_mapping dictionary is the whole of RealTwin's turn logic on the SUMO side. L and R are 'partially left/right' in SUMO and fold into plain left/right.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Bearings are measured from the last two shape points of the incoming lane. The 337.5 degree origin makes a road pointing just west of north sort first, so northbound legs are listed before eastbound.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RealTwin renames every SUMO edge to -&lt;n&gt; in parse_SUMO_ID, so stripping the minus sign is the whole conversion. The SUMO pipeline never leaves SUMO's ID space - netconvert is run, but nothing downstream reads OpenDRIVE ids back. The _OpenDrive suffix is vestigial.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design decision. Everything else follows from it. The Vissim pipeline is standalone after the OpenDRIVE import.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Vissim does name each link after the OpenDRIVE road it came from, and --junction-source name uses that. But the naming convention is PTV's, not the standard's, so nothing guarantees it survives. Geometry was measured identical to the name route on every link of three networks: Chattanooga 186, a synthetic grid 84, an OSM extract 516.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Chattanooga: 441 Vissim objects = 186 links + 255 connectors. Of the 186 links, 127 are junction-internal and 59 are ordinary roads.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failures were on approaches where nothing was straighter, so SUMO's 44 degree band kept them as through movements while a 20 degree cut did not. A naive 'straightest wins' rule is worse, not better: it scores 100/104, because at a T-junction with no through movement it promotes a genuine 89 degree right turn to thru. The conjunction of both tests is what works.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the same sort order as the SUMO table so the two can be read side by side. Columns A-N are positionally identical; a Vissim-only column recording the junction-internal links a movement crosses is parked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RealTwin's SUMO flow asks for exactly the same 13. This is not a Vissim limitation - it is the irreducible human input. Six of Chattanooga's ten junctions carry a camera file; the other four are minor nodes and are left blank in both tables.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why the junction coordinates matter more than the seeding does. For a new corridor there is nothing to copy from, so the artefact that helps is junction_locations.csv: every junction with its latitude, longitude and a map link, so you can see which intersection you are filling 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mapping was already being written to &lt;name&gt;_junctions.csv - stage 2 simply never read it. netconvert writes the SUMO junction id into the OpenDRIVE junction's name attribute, which is where the translation comes from. Seeding went from 3 junctions to 6, and derived codes from 32 to 80.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one real difference is the ID space, which is why the junction mapping exists as an artefact.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mapping was checked geometrically as well as by id: for all ten junctions the mapped SUMO junction is the nearest one, and the runner-up is between 9 and 686 times further away. The camera file assignment also transfers 10 of 10, with the same four junctions deliberately blank in both.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junction_locations.csv is the one that matters for a new corridor: it needs no SUMO network at 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194560"/>
            <a:ext cx="12191695" cy="246888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468880"/>
            <a:ext cx="10698480" cy="1463040"/>
          </a:xfrm>
          <a:prstGeom prst="rect">
            <a:avLst/>
          </a:prstGeom>
          <a:noFill/>
        </p:spPr>
        <p:txBody>
          <a:bodyPr wrap="square">
            <a:spAutoFit/>
          </a:bodyPr>
          <a:lstStyle/>
          <a:p>
            <a:pPr>
              <a:spcAft>
                <a:spcPts val="1000"/>
              </a:spcAft>
            </a:pPr>
            <a:r>
              <a:rPr sz="4000" b="1">
                <a:solidFill>
                  <a:srgbClr val="FFFFFF"/>
                </a:solidFill>
                <a:latin typeface="Calibri"/>
              </a:rPr>
              <a:t>Building the MatchupTable</a:t>
            </a:r>
          </a:p>
        </p:txBody>
      </p:sp>
      <p:sp>
        <p:nvSpPr>
          <p:cNvPr id="4" name="TextBox 3"/>
          <p:cNvSpPr txBox="1"/>
          <p:nvPr/>
        </p:nvSpPr>
        <p:spPr>
          <a:xfrm>
            <a:off x="731520" y="4709160"/>
            <a:ext cx="10698480" cy="731520"/>
          </a:xfrm>
          <a:prstGeom prst="rect">
            <a:avLst/>
          </a:prstGeom>
          <a:noFill/>
        </p:spPr>
        <p:txBody>
          <a:bodyPr wrap="square">
            <a:spAutoFit/>
          </a:bodyPr>
          <a:lstStyle/>
          <a:p>
            <a:pPr>
              <a:spcAft>
                <a:spcPts val="1000"/>
              </a:spcAft>
            </a:pPr>
            <a:r>
              <a:rPr sz="2000" b="1">
                <a:solidFill>
                  <a:srgbClr val="2166AC"/>
                </a:solidFill>
                <a:latin typeface="Calibri"/>
              </a:rPr>
              <a:t>How SUMO does it, how the VISSIM pipeline does it, and why they agree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What a MatchupTable is</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One row per movement - one line for each turn at each intersection</a:t>
            </a:r>
          </a:p>
          <a:p>
            <a:pPr>
              <a:spcAft>
                <a:spcPts val="1000"/>
              </a:spcAft>
            </a:pPr>
            <a:r>
              <a:rPr sz="1800" b="0">
                <a:solidFill>
                  <a:srgbClr val="1A1A1A"/>
                </a:solidFill>
                <a:latin typeface="Calibri"/>
              </a:rPr>
              <a:t>• It ties three separate worlds together so they can refer to each other:</a:t>
            </a:r>
          </a:p>
          <a:p>
            <a:pPr lvl="1">
              <a:spcAft>
                <a:spcPts val="1000"/>
              </a:spcAft>
            </a:pPr>
            <a:r>
              <a:rPr sz="1600" b="0">
                <a:solidFill>
                  <a:srgbClr val="5A5A5A"/>
                </a:solidFill>
                <a:latin typeface="Calibri"/>
              </a:rPr>
              <a:t>Network - which road or link the traffic comes from and goes to</a:t>
            </a:r>
          </a:p>
          <a:p>
            <a:pPr lvl="1">
              <a:spcAft>
                <a:spcPts val="1000"/>
              </a:spcAft>
            </a:pPr>
            <a:r>
              <a:rPr sz="1600" b="0">
                <a:solidFill>
                  <a:srgbClr val="5A5A5A"/>
                </a:solidFill>
                <a:latin typeface="Calibri"/>
              </a:rPr>
              <a:t>Demand - which camera file, and which turn within it</a:t>
            </a:r>
          </a:p>
          <a:p>
            <a:pPr lvl="1">
              <a:spcAft>
                <a:spcPts val="1000"/>
              </a:spcAft>
            </a:pPr>
            <a:r>
              <a:rPr sz="1600" b="0">
                <a:solidFill>
                  <a:srgbClr val="5A5A5A"/>
                </a:solidFill>
                <a:latin typeface="Calibri"/>
              </a:rPr>
              <a:t>Signal - which Synchro intersection, and which phase</a:t>
            </a:r>
          </a:p>
          <a:p>
            <a:pPr>
              <a:spcAft>
                <a:spcPts val="1000"/>
              </a:spcAft>
            </a:pPr>
            <a:r>
              <a:rPr sz="1800" b="0">
                <a:solidFill>
                  <a:srgbClr val="1A1A1A"/>
                </a:solidFill>
                <a:latin typeface="Calibri"/>
              </a:rPr>
              <a:t>• 104 rows for Chattanooga. It is the only file a person edits</a:t>
            </a:r>
          </a:p>
          <a:p>
            <a:pPr>
              <a:spcAft>
                <a:spcPts val="1000"/>
              </a:spcAft>
            </a:pPr>
            <a:r>
              <a:rPr sz="1800" b="0">
                <a:solidFill>
                  <a:srgbClr val="1A1A1A"/>
                </a:solidFill>
                <a:latin typeface="Calibri"/>
              </a:rPr>
              <a:t>• Both pipelines build one. Same purpose, same layout, different ID spaces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0"/>
            <a:ext cx="10515600" cy="914400"/>
          </a:xfrm>
          <a:prstGeom prst="rect">
            <a:avLst/>
          </a:prstGeom>
          <a:noFill/>
        </p:spPr>
        <p:txBody>
          <a:bodyPr wrap="square">
            <a:spAutoFit/>
          </a:bodyPr>
          <a:lstStyle/>
          <a:p>
            <a:pPr>
              <a:spcAft>
                <a:spcPts val="1000"/>
              </a:spcAft>
            </a:pPr>
            <a:r>
              <a:rPr sz="3400" b="1">
                <a:solidFill>
                  <a:srgbClr val="FFFFFF"/>
                </a:solidFill>
                <a:latin typeface="Calibri"/>
              </a:rPr>
              <a:t>SUMO</a:t>
            </a:r>
          </a:p>
        </p:txBody>
      </p:sp>
      <p:sp>
        <p:nvSpPr>
          <p:cNvPr id="4" name="TextBox 3"/>
          <p:cNvSpPr txBox="1"/>
          <p:nvPr/>
        </p:nvSpPr>
        <p:spPr>
          <a:xfrm>
            <a:off x="822960" y="4023360"/>
            <a:ext cx="10515600" cy="731520"/>
          </a:xfrm>
          <a:prstGeom prst="rect">
            <a:avLst/>
          </a:prstGeom>
          <a:noFill/>
        </p:spPr>
        <p:txBody>
          <a:bodyPr wrap="square">
            <a:spAutoFit/>
          </a:bodyPr>
          <a:lstStyle/>
          <a:p>
            <a:pPr>
              <a:spcAft>
                <a:spcPts val="1000"/>
              </a:spcAft>
            </a:pPr>
            <a:r>
              <a:rPr sz="1800" b="0">
                <a:solidFill>
                  <a:srgbClr val="BBCCE0"/>
                </a:solidFill>
                <a:latin typeface="Calibri"/>
              </a:rPr>
              <a:t>How RealTwin builds it today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SUMO does not classify turns - it reads them</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netconvert has already decided every turn and written it into the network</a:t>
            </a:r>
          </a:p>
          <a:p>
            <a:pPr>
              <a:spcAft>
                <a:spcPts val="1000"/>
              </a:spcAft>
            </a:pPr>
            <a:r>
              <a:rPr sz="1800" b="0">
                <a:solidFill>
                  <a:srgbClr val="1A1A1A"/>
                </a:solidFill>
                <a:latin typeface="Calibri"/>
              </a:rPr>
              <a:t>• Each &lt;connection&gt; carries a dir attribute: s, l, L, r, R or t</a:t>
            </a:r>
          </a:p>
          <a:p>
            <a:pPr>
              <a:spcAft>
                <a:spcPts val="1000"/>
              </a:spcAft>
            </a:pPr>
            <a:r>
              <a:rPr sz="1800" b="0">
                <a:solidFill>
                  <a:srgbClr val="1A1A1A"/>
                </a:solidFill>
                <a:latin typeface="Calibri"/>
              </a:rPr>
              <a:t>• RealTwin just translates those letters:</a:t>
            </a:r>
          </a:p>
          <a:p>
            <a:pPr lvl="1">
              <a:spcAft>
                <a:spcPts val="1000"/>
              </a:spcAft>
            </a:pPr>
            <a:r>
              <a:rPr sz="1600" b="0">
                <a:solidFill>
                  <a:srgbClr val="5A5A5A"/>
                </a:solidFill>
                <a:latin typeface="Calibri"/>
              </a:rPr>
              <a:t>s -&gt; thru      l, L -&gt; left      r, R -&gt; right      t -&gt; Uturn</a:t>
            </a:r>
          </a:p>
          <a:p>
            <a:pPr>
              <a:spcAft>
                <a:spcPts val="1000"/>
              </a:spcAft>
            </a:pPr>
            <a:r>
              <a:rPr sz="1800" b="0">
                <a:solidFill>
                  <a:srgbClr val="1A1A1A"/>
                </a:solidFill>
                <a:latin typeface="Calibri"/>
              </a:rPr>
              <a:t>• So the turn labels come from SUMO's own geometry engine, not from RealTwin</a:t>
            </a:r>
          </a:p>
          <a:p>
            <a:pPr>
              <a:spcAft>
                <a:spcPts val="1000"/>
              </a:spcAft>
            </a:pPr>
            <a:r>
              <a:rPr sz="1800" b="0">
                <a:solidFill>
                  <a:srgbClr val="1A1A1A"/>
                </a:solidFill>
                <a:latin typeface="Calibri"/>
              </a:rPr>
              <a:t>• This matters: there is no threshold in RealTwin to get wrong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How the SUMO table is assembled</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200"/>
              </a:spcAft>
            </a:pPr>
            <a:r>
              <a:rPr sz="1500" b="0">
                <a:solidFill>
                  <a:srgbClr val="1A1A1A"/>
                </a:solidFill>
                <a:latin typeface="Consolas"/>
              </a:rPr>
              <a:t>chatt.net.xml   (the SUMO network)</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generate_junction_bearing()</a:t>
            </a:r>
          </a:p>
          <a:p>
            <a:pPr lvl="1">
              <a:spcAft>
                <a:spcPts val="200"/>
              </a:spcAft>
            </a:pPr>
            <a:r>
              <a:rPr sz="1300" b="0">
                <a:solidFill>
                  <a:srgbClr val="5A5A5A"/>
                </a:solidFill>
                <a:latin typeface="Consolas"/>
              </a:rPr>
              <a:t>|      approach bearings from the lane shapes</a:t>
            </a:r>
          </a:p>
          <a:p>
            <a:pPr lvl="1">
              <a:spcAft>
                <a:spcPts val="200"/>
              </a:spcAft>
            </a:pPr>
            <a:r>
              <a:rPr sz="1300" b="0">
                <a:solidFill>
                  <a:srgbClr val="5A5A5A"/>
                </a:solidFill>
                <a:latin typeface="Consolas"/>
              </a:rPr>
              <a:t>|      -&gt; Junction ID, Degree, Approach Edge</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get_net_connections()</a:t>
            </a:r>
          </a:p>
          <a:p>
            <a:pPr lvl="1">
              <a:spcAft>
                <a:spcPts val="200"/>
              </a:spcAft>
            </a:pPr>
            <a:r>
              <a:rPr sz="1300" b="0">
                <a:solidFill>
                  <a:srgbClr val="5A5A5A"/>
                </a:solidFill>
                <a:latin typeface="Consolas"/>
              </a:rPr>
              <a:t>|      reads &lt;connection from= to= dir=&gt;</a:t>
            </a:r>
          </a:p>
          <a:p>
            <a:pPr lvl="1">
              <a:spcAft>
                <a:spcPts val="200"/>
              </a:spcAft>
            </a:pPr>
            <a:r>
              <a:rPr sz="1300" b="0">
                <a:solidFill>
                  <a:srgbClr val="5A5A5A"/>
                </a:solidFill>
                <a:latin typeface="Consolas"/>
              </a:rPr>
              <a:t>|      -&gt; FromEdge, ToEdge, Turn</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format_junction_bearing()</a:t>
            </a:r>
          </a:p>
          <a:p>
            <a:pPr lvl="1">
              <a:spcAft>
                <a:spcPts val="200"/>
              </a:spcAft>
            </a:pPr>
            <a:r>
              <a:rPr sz="1300" b="0">
                <a:solidFill>
                  <a:srgbClr val="5A5A5A"/>
                </a:solidFill>
                <a:latin typeface="Consolas"/>
              </a:rPr>
              <a:t>merges the two, renames the columns,</a:t>
            </a:r>
          </a:p>
          <a:p>
            <a:pPr lvl="1">
              <a:spcAft>
                <a:spcPts val="200"/>
              </a:spcAft>
            </a:pPr>
            <a:r>
              <a:rPr sz="1300" b="0">
                <a:solidFill>
                  <a:srgbClr val="5A5A5A"/>
                </a:solidFill>
                <a:latin typeface="Consolas"/>
              </a:rPr>
              <a:t>strips the leading '-' from every edge id,</a:t>
            </a:r>
          </a:p>
          <a:p>
            <a:pPr lvl="1">
              <a:spcAft>
                <a:spcPts val="200"/>
              </a:spcAft>
            </a:pPr>
            <a:r>
              <a:rPr sz="1300" b="0">
                <a:solidFill>
                  <a:srgbClr val="5A5A5A"/>
                </a:solidFill>
                <a:latin typeface="Consolas"/>
              </a:rPr>
              <a:t>sorts by junction, then bearing from 337.5 deg, then turn</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v</a:t>
            </a:r>
          </a:p>
          <a:p>
            <a:pPr>
              <a:spcAft>
                <a:spcPts val="200"/>
              </a:spcAft>
            </a:pPr>
            <a:r>
              <a:rPr sz="1500" b="0">
                <a:solidFill>
                  <a:srgbClr val="1A1A1A"/>
                </a:solidFill>
                <a:latin typeface="Consolas"/>
              </a:rPr>
              <a:t>MatchupTable.xlsx        demand and signal columns BLANK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A trap in the column names</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The SUMO table's columns are called JunctionID_OpenDrive, FromRoadID_OpenDrive</a:t>
            </a:r>
          </a:p>
          <a:p>
            <a:pPr>
              <a:spcAft>
                <a:spcPts val="1000"/>
              </a:spcAft>
            </a:pPr>
            <a:r>
              <a:rPr sz="1800" b="0">
                <a:solidFill>
                  <a:srgbClr val="1A1A1A"/>
                </a:solidFill>
                <a:latin typeface="Calibri"/>
              </a:rPr>
              <a:t>• They do not contain OpenDRIVE IDs. They contain SUMO IDs</a:t>
            </a:r>
          </a:p>
          <a:p>
            <a:pPr>
              <a:spcAft>
                <a:spcPts val="1000"/>
              </a:spcAft>
            </a:pPr>
            <a:r>
              <a:rPr sz="1800" b="0">
                <a:solidFill>
                  <a:srgbClr val="1A1A1A"/>
                </a:solidFill>
                <a:latin typeface="Calibri"/>
              </a:rPr>
              <a:t>• format_junction_bearing simply renames the columns and strips a minus sign</a:t>
            </a:r>
          </a:p>
          <a:p>
            <a:pPr lvl="1">
              <a:spcAft>
                <a:spcPts val="1000"/>
              </a:spcAft>
            </a:pPr>
            <a:r>
              <a:rPr sz="1600" b="0">
                <a:solidFill>
                  <a:srgbClr val="5A5A5A"/>
                </a:solidFill>
                <a:latin typeface="Calibri"/>
              </a:rPr>
              <a:t>Junction ID -&gt; JunctionID_OpenDrive      FromEdge -&gt; FromRoadID_OpenDrive</a:t>
            </a:r>
          </a:p>
          <a:p>
            <a:pPr>
              <a:spcAft>
                <a:spcPts val="1000"/>
              </a:spcAft>
            </a:pPr>
            <a:r>
              <a:rPr sz="1800" b="0">
                <a:solidFill>
                  <a:srgbClr val="1A1A1A"/>
                </a:solidFill>
                <a:latin typeface="Calibri"/>
              </a:rPr>
              <a:t>• Measured: the table's road ids run 280-3271, exactly SUMO's edge range</a:t>
            </a:r>
          </a:p>
          <a:p>
            <a:pPr>
              <a:spcAft>
                <a:spcPts val="1000"/>
              </a:spcAft>
            </a:pPr>
            <a:r>
              <a:rPr sz="1800" b="0">
                <a:solidFill>
                  <a:srgbClr val="1A1A1A"/>
                </a:solidFill>
                <a:latin typeface="Calibri"/>
              </a:rPr>
              <a:t>• The real OpenDRIVE road ids in the same network run 449-575. No overlap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0"/>
            <a:ext cx="10515600" cy="914400"/>
          </a:xfrm>
          <a:prstGeom prst="rect">
            <a:avLst/>
          </a:prstGeom>
          <a:noFill/>
        </p:spPr>
        <p:txBody>
          <a:bodyPr wrap="square">
            <a:spAutoFit/>
          </a:bodyPr>
          <a:lstStyle/>
          <a:p>
            <a:pPr>
              <a:spcAft>
                <a:spcPts val="1000"/>
              </a:spcAft>
            </a:pPr>
            <a:r>
              <a:rPr sz="3400" b="1">
                <a:solidFill>
                  <a:srgbClr val="FFFFFF"/>
                </a:solidFill>
                <a:latin typeface="Calibri"/>
              </a:rPr>
              <a:t>VISSIM</a:t>
            </a:r>
          </a:p>
        </p:txBody>
      </p:sp>
      <p:sp>
        <p:nvSpPr>
          <p:cNvPr id="4" name="TextBox 3"/>
          <p:cNvSpPr txBox="1"/>
          <p:nvPr/>
        </p:nvSpPr>
        <p:spPr>
          <a:xfrm>
            <a:off x="822960" y="4023360"/>
            <a:ext cx="10515600" cy="731520"/>
          </a:xfrm>
          <a:prstGeom prst="rect">
            <a:avLst/>
          </a:prstGeom>
          <a:noFill/>
        </p:spPr>
        <p:txBody>
          <a:bodyPr wrap="square">
            <a:spAutoFit/>
          </a:bodyPr>
          <a:lstStyle/>
          <a:p>
            <a:pPr>
              <a:spcAft>
                <a:spcPts val="1000"/>
              </a:spcAft>
            </a:pPr>
            <a:r>
              <a:rPr sz="1800" b="0">
                <a:solidFill>
                  <a:srgbClr val="BBCCE0"/>
                </a:solidFill>
                <a:latin typeface="Calibri"/>
              </a:rPr>
              <a:t>Why it has to start again, and how it does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Why the Vissim side cannot reuse any of it</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Vissim renumbers the whole network when it imports OpenDRIVE</a:t>
            </a:r>
          </a:p>
          <a:p>
            <a:pPr lvl="1">
              <a:spcAft>
                <a:spcPts val="1000"/>
              </a:spcAft>
            </a:pPr>
            <a:r>
              <a:rPr sz="1600" b="0">
                <a:solidFill>
                  <a:srgbClr val="5A5A5A"/>
                </a:solidFill>
                <a:latin typeface="Calibri"/>
              </a:rPr>
              <a:t>OpenDRIVE roads 390-575  become  Vissim links 1-186</a:t>
            </a:r>
          </a:p>
          <a:p>
            <a:pPr>
              <a:spcAft>
                <a:spcPts val="1000"/>
              </a:spcAft>
            </a:pPr>
            <a:r>
              <a:rPr sz="1800" b="0">
                <a:solidFill>
                  <a:srgbClr val="1A1A1A"/>
                </a:solidFill>
                <a:latin typeface="Calibri"/>
              </a:rPr>
              <a:t>• The SUMO table's ids are SUMO edge ids, so they never matched anyway</a:t>
            </a:r>
          </a:p>
          <a:p>
            <a:pPr>
              <a:spcAft>
                <a:spcPts val="1000"/>
              </a:spcAft>
            </a:pPr>
            <a:r>
              <a:rPr sz="1800" b="0">
                <a:solidFill>
                  <a:srgbClr val="1A1A1A"/>
                </a:solidFill>
                <a:latin typeface="Calibri"/>
              </a:rPr>
              <a:t>• And they are not durable: regenerating the .xodr with SUMO 1.24 instead of</a:t>
            </a:r>
          </a:p>
          <a:p>
            <a:pPr lvl="1">
              <a:spcAft>
                <a:spcPts val="1000"/>
              </a:spcAft>
            </a:pPr>
            <a:r>
              <a:rPr sz="1600" b="0">
                <a:solidFill>
                  <a:srgbClr val="5A5A5A"/>
                </a:solidFill>
                <a:latin typeface="Calibri"/>
              </a:rPr>
              <a:t>1.21 shifted every road id, with ZERO overlap with the committed table</a:t>
            </a:r>
          </a:p>
          <a:p>
            <a:pPr>
              <a:spcAft>
                <a:spcPts val="1000"/>
              </a:spcAft>
            </a:pPr>
            <a:r>
              <a:rPr sz="1800" b="0">
                <a:solidFill>
                  <a:srgbClr val="1A1A1A"/>
                </a:solidFill>
                <a:latin typeface="Calibri"/>
              </a:rPr>
              <a:t>• So the pipeline re-derives its own junctions, bearings and turns from Vissim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Finding junctions - by geometry, the default</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Every &lt;road&gt; in an OpenDRIVE file carries a junction attribute: an id, or -1</a:t>
            </a:r>
          </a:p>
          <a:p>
            <a:pPr>
              <a:spcAft>
                <a:spcPts val="1000"/>
              </a:spcAft>
            </a:pPr>
            <a:r>
              <a:rPr sz="1800" b="0">
                <a:solidFill>
                  <a:srgbClr val="1A1A1A"/>
                </a:solidFill>
                <a:latin typeface="Calibri"/>
              </a:rPr>
              <a:t>• Both that attribute and the junction's id are REQUIRED by the standard</a:t>
            </a:r>
          </a:p>
          <a:p>
            <a:pPr>
              <a:spcAft>
                <a:spcPts val="1000"/>
              </a:spcAft>
            </a:pPr>
            <a:r>
              <a:rPr sz="1800" b="0">
                <a:solidFill>
                  <a:srgbClr val="1A1A1A"/>
                </a:solidFill>
                <a:latin typeface="Calibri"/>
              </a:rPr>
              <a:t>• Each Vissim link is matched back to its OpenDRIVE road by its shape</a:t>
            </a:r>
          </a:p>
          <a:p>
            <a:pPr lvl="1">
              <a:spcAft>
                <a:spcPts val="1000"/>
              </a:spcAft>
            </a:pPr>
            <a:r>
              <a:rPr sz="1600" b="0">
                <a:solidFill>
                  <a:srgbClr val="5A5A5A"/>
                </a:solidFill>
                <a:latin typeface="Calibri"/>
              </a:rPr>
              <a:t>one link per drivable road, so it is a 1:1 assignment, not a nearest search</a:t>
            </a:r>
          </a:p>
          <a:p>
            <a:pPr lvl="1">
              <a:spcAft>
                <a:spcPts val="1000"/>
              </a:spcAft>
            </a:pPr>
            <a:r>
              <a:rPr sz="1600" b="0">
                <a:solidFill>
                  <a:srgbClr val="5A5A5A"/>
                </a:solidFill>
                <a:latin typeface="Calibri"/>
              </a:rPr>
              <a:t>cost combines shape, length and lane count; solved optimally</a:t>
            </a:r>
          </a:p>
          <a:p>
            <a:pPr>
              <a:spcAft>
                <a:spcPts val="1000"/>
              </a:spcAft>
            </a:pPr>
            <a:r>
              <a:rPr sz="1800" b="0">
                <a:solidFill>
                  <a:srgbClr val="1A1A1A"/>
                </a:solidFill>
                <a:latin typeface="Calibri"/>
              </a:rPr>
              <a:t>• The road's junction attribute then gives the junction. No link names read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From links to movements</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200"/>
              </a:spcAft>
            </a:pPr>
            <a:r>
              <a:rPr sz="1500" b="0">
                <a:solidFill>
                  <a:srgbClr val="1A1A1A"/>
                </a:solidFill>
                <a:latin typeface="Consolas"/>
              </a:rPr>
              <a:t>junction 15  -&gt;  interior Vissim links {101, 102, 103, 104}</a:t>
            </a:r>
          </a:p>
          <a:p>
            <a:pPr>
              <a:spcAft>
                <a:spcPts val="200"/>
              </a:spcAft>
            </a:pPr>
            <a:r>
              <a:rPr sz="1500" b="0">
                <a:solidFill>
                  <a:srgbClr val="1A1A1A"/>
                </a:solidFill>
                <a:latin typeface="Consolas"/>
              </a:rPr>
              <a:t/>
            </a:r>
          </a:p>
          <a:p>
            <a:pPr>
              <a:spcAft>
                <a:spcPts val="200"/>
              </a:spcAft>
            </a:pPr>
            <a:r>
              <a:rPr sz="1500" b="0">
                <a:solidFill>
                  <a:srgbClr val="1A1A1A"/>
                </a:solidFill>
                <a:latin typeface="Consolas"/>
              </a:rPr>
              <a:t>  APPROACHES - links feeding an interior link from OUTSIDE the group</a:t>
            </a:r>
          </a:p>
          <a:p>
            <a:pPr lvl="1">
              <a:spcAft>
                <a:spcPts val="200"/>
              </a:spcAft>
            </a:pPr>
            <a:r>
              <a:rPr sz="1300" b="0">
                <a:solidFill>
                  <a:srgbClr val="5A5A5A"/>
                </a:solidFill>
                <a:latin typeface="Consolas"/>
              </a:rPr>
              <a:t>link 27 --conn--&gt; 103        27 is outside  -&gt; approach</a:t>
            </a:r>
          </a:p>
          <a:p>
            <a:pPr lvl="1">
              <a:spcAft>
                <a:spcPts val="200"/>
              </a:spcAft>
            </a:pPr>
            <a:r>
              <a:rPr sz="1300" b="0">
                <a:solidFill>
                  <a:srgbClr val="5A5A5A"/>
                </a:solidFill>
                <a:latin typeface="Consolas"/>
              </a:rPr>
              <a:t>link 41 --conn--&gt; 101        41 is outside  -&gt; approach</a:t>
            </a:r>
          </a:p>
          <a:p>
            <a:pPr lvl="1">
              <a:spcAft>
                <a:spcPts val="200"/>
              </a:spcAft>
            </a:pPr>
            <a:r>
              <a:rPr sz="1300" b="0">
                <a:solidFill>
                  <a:srgbClr val="5A5A5A"/>
                </a:solidFill>
                <a:latin typeface="Consolas"/>
              </a:rPr>
              <a:t>link 46 --conn--&gt; 102        46 is outside  -&gt; approach</a:t>
            </a:r>
          </a:p>
          <a:p>
            <a:pPr lvl="1">
              <a:spcAft>
                <a:spcPts val="200"/>
              </a:spcAft>
            </a:pPr>
            <a:r>
              <a:rPr sz="1300" b="0">
                <a:solidFill>
                  <a:srgbClr val="5A5A5A"/>
                </a:solidFill>
                <a:latin typeface="Consolas"/>
              </a:rPr>
              <a:t>101 --conn--&gt; link 47        leaving        -&gt; exit, not an approach</a:t>
            </a:r>
          </a:p>
          <a:p>
            <a:pPr>
              <a:spcAft>
                <a:spcPts val="200"/>
              </a:spcAft>
            </a:pPr>
            <a:r>
              <a:rPr sz="1500" b="0">
                <a:solidFill>
                  <a:srgbClr val="1A1A1A"/>
                </a:solidFill>
                <a:latin typeface="Consolas"/>
              </a:rPr>
              <a:t/>
            </a:r>
          </a:p>
          <a:p>
            <a:pPr>
              <a:spcAft>
                <a:spcPts val="200"/>
              </a:spcAft>
            </a:pPr>
            <a:r>
              <a:rPr sz="1500" b="0">
                <a:solidFill>
                  <a:srgbClr val="1A1A1A"/>
                </a:solidFill>
                <a:latin typeface="Consolas"/>
              </a:rPr>
              <a:t>  FILTER - fewer than 3 approaches is a mid-block joint, not an intersection</a:t>
            </a:r>
          </a:p>
          <a:p>
            <a:pPr lvl="1">
              <a:spcAft>
                <a:spcPts val="200"/>
              </a:spcAft>
            </a:pPr>
            <a:r>
              <a:rPr sz="1300" b="0">
                <a:solidFill>
                  <a:srgbClr val="5A5A5A"/>
                </a:solidFill>
                <a:latin typeface="Consolas"/>
              </a:rPr>
              <a:t>17 groups  -&gt;  10 real intersections</a:t>
            </a:r>
          </a:p>
          <a:p>
            <a:pPr>
              <a:spcAft>
                <a:spcPts val="200"/>
              </a:spcAft>
            </a:pPr>
            <a:r>
              <a:rPr sz="1500" b="0">
                <a:solidFill>
                  <a:srgbClr val="1A1A1A"/>
                </a:solidFill>
                <a:latin typeface="Consolas"/>
              </a:rPr>
              <a:t/>
            </a:r>
          </a:p>
          <a:p>
            <a:pPr>
              <a:spcAft>
                <a:spcPts val="200"/>
              </a:spcAft>
            </a:pPr>
            <a:r>
              <a:rPr sz="1500" b="0">
                <a:solidFill>
                  <a:srgbClr val="1A1A1A"/>
                </a:solidFill>
                <a:latin typeface="Consolas"/>
              </a:rPr>
              <a:t>  MOVEMENTS - walk each approach through the interior to every exit</a:t>
            </a:r>
          </a:p>
          <a:p>
            <a:pPr lvl="1">
              <a:spcAft>
                <a:spcPts val="200"/>
              </a:spcAft>
            </a:pPr>
            <a:r>
              <a:rPr sz="1300" b="0">
                <a:solidFill>
                  <a:srgbClr val="5A5A5A"/>
                </a:solidFill>
                <a:latin typeface="Consolas"/>
              </a:rPr>
              <a:t>46 -&gt; [102] -&gt; 49      27 -&gt; [103] -&gt; 50</a:t>
            </a:r>
          </a:p>
          <a:p>
            <a:pPr lvl="1">
              <a:spcAft>
                <a:spcPts val="200"/>
              </a:spcAft>
            </a:pPr>
            <a:r>
              <a:rPr sz="1300" b="0">
                <a:solidFill>
                  <a:srgbClr val="5A5A5A"/>
                </a:solidFill>
                <a:latin typeface="Consolas"/>
              </a:rPr>
              <a:t>27 -&gt; [104] -&gt; 49      41 -&gt; [101] -&gt; 47</a:t>
            </a:r>
          </a:p>
          <a:p>
            <a:pPr>
              <a:spcAft>
                <a:spcPts val="200"/>
              </a:spcAft>
            </a:pPr>
            <a:r>
              <a:rPr sz="1500" b="0">
                <a:solidFill>
                  <a:srgbClr val="1A1A1A"/>
                </a:solidFill>
                <a:latin typeface="Consolas"/>
              </a:rPr>
              <a:t/>
            </a:r>
          </a:p>
          <a:p>
            <a:pPr>
              <a:spcAft>
                <a:spcPts val="200"/>
              </a:spcAft>
            </a:pPr>
            <a:r>
              <a:rPr sz="1500" b="0">
                <a:solidFill>
                  <a:srgbClr val="1A1A1A"/>
                </a:solidFill>
                <a:latin typeface="Consolas"/>
              </a:rPr>
              <a:t>  34 approaches  -&gt;  104 movements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Turns - the same rule SUMO uses</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A turn cannot be classified from its own angle alone</a:t>
            </a:r>
          </a:p>
          <a:p>
            <a:pPr>
              <a:spcAft>
                <a:spcPts val="1000"/>
              </a:spcAft>
            </a:pPr>
            <a:r>
              <a:rPr sz="1800" b="0">
                <a:solidFill>
                  <a:srgbClr val="1A1A1A"/>
                </a:solidFill>
                <a:latin typeface="Calibri"/>
              </a:rPr>
              <a:t>• SUMO's NBNode::getDirection, which is what wrote those dir attributes:</a:t>
            </a:r>
          </a:p>
          <a:p>
            <a:pPr lvl="1">
              <a:spcAft>
                <a:spcPts val="1000"/>
              </a:spcAft>
            </a:pPr>
            <a:r>
              <a:rPr sz="1600" b="0">
                <a:solidFill>
                  <a:srgbClr val="5A5A5A"/>
                </a:solidFill>
                <a:latin typeface="Calibri"/>
              </a:rPr>
              <a:t>inside 44 deg -&gt; straight, UNLESS another movement off the approach is straighter</a:t>
            </a:r>
          </a:p>
          <a:p>
            <a:pPr lvl="1">
              <a:spcAft>
                <a:spcPts val="1000"/>
              </a:spcAft>
            </a:pPr>
            <a:r>
              <a:rPr sz="1600" b="0">
                <a:solidFill>
                  <a:srgbClr val="5A5A5A"/>
                </a:solidFill>
                <a:latin typeface="Calibri"/>
              </a:rPr>
              <a:t>beyond 44 deg -&gt; left or right      U-turn is decided structurally</a:t>
            </a:r>
          </a:p>
          <a:p>
            <a:pPr>
              <a:spcAft>
                <a:spcPts val="1000"/>
              </a:spcAft>
            </a:pPr>
            <a:r>
              <a:rPr sz="1800" b="0">
                <a:solidFill>
                  <a:srgbClr val="1A1A1A"/>
                </a:solidFill>
                <a:latin typeface="Calibri"/>
              </a:rPr>
              <a:t>• We previously used a symmetric 20 deg cut, and it broke on two skewed approaches</a:t>
            </a:r>
          </a:p>
          <a:p>
            <a:pPr lvl="1">
              <a:spcAft>
                <a:spcPts val="1000"/>
              </a:spcAft>
            </a:pPr>
            <a:r>
              <a:rPr sz="1600" b="0">
                <a:solidFill>
                  <a:srgbClr val="5A5A5A"/>
                </a:solidFill>
                <a:latin typeface="Calibri"/>
              </a:rPr>
              <a:t>-21.3 and -28.4 deg were called left; SUMO calls both thru</a:t>
            </a:r>
          </a:p>
          <a:p>
            <a:pPr>
              <a:spcAft>
                <a:spcPts val="1000"/>
              </a:spcAft>
            </a:pPr>
            <a:r>
              <a:rPr sz="1800" b="0">
                <a:solidFill>
                  <a:srgbClr val="1A1A1A"/>
                </a:solidFill>
                <a:latin typeface="Calibri"/>
              </a:rPr>
              <a:t>• Porting the real rule took the movement table from 102/104 to 104/104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How the Vissim table is assembled</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200"/>
              </a:spcAft>
            </a:pPr>
            <a:r>
              <a:rPr sz="1500" b="0">
                <a:solidFill>
                  <a:srgbClr val="1A1A1A"/>
                </a:solidFill>
                <a:latin typeface="Consolas"/>
              </a:rPr>
              <a:t>chatt.net.xml  -&gt;  netconvert  -&gt;  chatt.xodr  -&gt;  Vissim COM import</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match each Vissim link to its OpenDRIVE road by geometry</a:t>
            </a:r>
          </a:p>
          <a:p>
            <a:pPr lvl="1">
              <a:spcAft>
                <a:spcPts val="200"/>
              </a:spcAft>
            </a:pPr>
            <a:r>
              <a:rPr sz="1300" b="0">
                <a:solidFill>
                  <a:srgbClr val="5A5A5A"/>
                </a:solidFill>
                <a:latin typeface="Consolas"/>
              </a:rPr>
              <a:t>|      -&gt; the road's junction attribute gives the junction</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approaches from the connectors, filtered at 3 legs</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bearings from the Vissim link polylines</a:t>
            </a:r>
          </a:p>
          <a:p>
            <a:pPr lvl="1">
              <a:spcAft>
                <a:spcPts val="200"/>
              </a:spcAft>
            </a:pPr>
            <a:r>
              <a:rPr sz="1300" b="0">
                <a:solidFill>
                  <a:srgbClr val="5A5A5A"/>
                </a:solidFill>
                <a:latin typeface="Consolas"/>
              </a:rPr>
              <a:t>|      approach: last two points   exit: first two points</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turns by SUMO's rule, per approach</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 sorted by junction, bearing from 337.5 deg, then turn</a:t>
            </a:r>
          </a:p>
          <a:p>
            <a:pPr lvl="1">
              <a:spcAft>
                <a:spcPts val="200"/>
              </a:spcAft>
            </a:pPr>
            <a:r>
              <a:rPr sz="1300" b="0">
                <a:solidFill>
                  <a:srgbClr val="5A5A5A"/>
                </a:solidFill>
                <a:latin typeface="Consolas"/>
              </a:rPr>
              <a:t>|</a:t>
            </a:r>
          </a:p>
          <a:p>
            <a:pPr lvl="1">
              <a:spcAft>
                <a:spcPts val="200"/>
              </a:spcAft>
            </a:pPr>
            <a:r>
              <a:rPr sz="1300" b="0">
                <a:solidFill>
                  <a:srgbClr val="5A5A5A"/>
                </a:solidFill>
                <a:latin typeface="Consolas"/>
              </a:rPr>
              <a:t>v</a:t>
            </a:r>
          </a:p>
          <a:p>
            <a:pPr>
              <a:spcAft>
                <a:spcPts val="200"/>
              </a:spcAft>
            </a:pPr>
            <a:r>
              <a:rPr sz="1500" b="0">
                <a:solidFill>
                  <a:srgbClr val="1A1A1A"/>
                </a:solidFill>
                <a:latin typeface="Consolas"/>
              </a:rPr>
              <a:t>MatchupTable.xlsx        demand and signal columns BLANK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743200"/>
            <a:ext cx="10515600" cy="914400"/>
          </a:xfrm>
          <a:prstGeom prst="rect">
            <a:avLst/>
          </a:prstGeom>
          <a:noFill/>
        </p:spPr>
        <p:txBody>
          <a:bodyPr wrap="square">
            <a:spAutoFit/>
          </a:bodyPr>
          <a:lstStyle/>
          <a:p>
            <a:pPr>
              <a:spcAft>
                <a:spcPts val="1000"/>
              </a:spcAft>
            </a:pPr>
            <a:r>
              <a:rPr sz="3400" b="1">
                <a:solidFill>
                  <a:srgbClr val="FFFFFF"/>
                </a:solidFill>
                <a:latin typeface="Calibri"/>
              </a:rPr>
              <a:t>The hand input</a:t>
            </a:r>
          </a:p>
        </p:txBody>
      </p:sp>
      <p:sp>
        <p:nvSpPr>
          <p:cNvPr id="4" name="TextBox 3"/>
          <p:cNvSpPr txBox="1"/>
          <p:nvPr/>
        </p:nvSpPr>
        <p:spPr>
          <a:xfrm>
            <a:off x="822960" y="4023360"/>
            <a:ext cx="10515600" cy="731520"/>
          </a:xfrm>
          <a:prstGeom prst="rect">
            <a:avLst/>
          </a:prstGeom>
          <a:noFill/>
        </p:spPr>
        <p:txBody>
          <a:bodyPr wrap="square">
            <a:spAutoFit/>
          </a:bodyPr>
          <a:lstStyle/>
          <a:p>
            <a:pPr>
              <a:spcAft>
                <a:spcPts val="1000"/>
              </a:spcAft>
            </a:pPr>
            <a:r>
              <a:rPr sz="1800" b="0">
                <a:solidFill>
                  <a:srgbClr val="BBCCE0"/>
                </a:solidFill>
                <a:latin typeface="Calibri"/>
              </a:rPr>
              <a:t>The part no file can tell you</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13 cells, and they are the same 13 in both pipelines</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Three things cannot be derived from any network file - they are field knowledge:</a:t>
            </a:r>
          </a:p>
          <a:p>
            <a:pPr lvl="1">
              <a:spcAft>
                <a:spcPts val="1000"/>
              </a:spcAft>
            </a:pPr>
            <a:r>
              <a:rPr sz="1600" b="0">
                <a:solidFill>
                  <a:srgbClr val="5A5A5A"/>
                </a:solidFill>
                <a:latin typeface="Calibri"/>
              </a:rPr>
              <a:t>File_GridSmart          which camera file watches this junction</a:t>
            </a:r>
          </a:p>
          <a:p>
            <a:pPr lvl="1">
              <a:spcAft>
                <a:spcPts val="1000"/>
              </a:spcAft>
            </a:pPr>
            <a:r>
              <a:rPr sz="1600" b="0">
                <a:solidFill>
                  <a:srgbClr val="5A5A5A"/>
                </a:solidFill>
                <a:latin typeface="Calibri"/>
              </a:rPr>
              <a:t>IntersectionID_Synchro  which Synchro INTID is this junction</a:t>
            </a:r>
          </a:p>
          <a:p>
            <a:pPr lvl="1">
              <a:spcAft>
                <a:spcPts val="1000"/>
              </a:spcAft>
            </a:pPr>
            <a:r>
              <a:rPr sz="1600" b="0">
                <a:solidFill>
                  <a:srgbClr val="5A5A5A"/>
                </a:solidFill>
                <a:latin typeface="Calibri"/>
              </a:rPr>
              <a:t>File_Synchro            the one UTDF file for the whole network</a:t>
            </a:r>
          </a:p>
          <a:p>
            <a:pPr>
              <a:spcAft>
                <a:spcPts val="1000"/>
              </a:spcAft>
            </a:pPr>
            <a:r>
              <a:rPr sz="1800" b="0">
                <a:solidFill>
                  <a:srgbClr val="1A1A1A"/>
                </a:solidFill>
                <a:latin typeface="Calibri"/>
              </a:rPr>
              <a:t>• Chattanooga: 13 cells out of 104 rows. Everything else is derived from them</a:t>
            </a:r>
          </a:p>
          <a:p>
            <a:pPr>
              <a:spcAft>
                <a:spcPts val="1000"/>
              </a:spcAft>
            </a:pPr>
            <a:r>
              <a:rPr sz="1800" b="0">
                <a:solidFill>
                  <a:srgbClr val="1A1A1A"/>
                </a:solidFill>
                <a:latin typeface="Calibri"/>
              </a:rPr>
              <a:t>• The intersection name, the date, and all 80 turn codes come for free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Typing them, or copying them</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Normally you type those 13 cells. That is the real workflow, in both pipelines</a:t>
            </a:r>
          </a:p>
          <a:p>
            <a:pPr>
              <a:spcAft>
                <a:spcPts val="1000"/>
              </a:spcAft>
            </a:pPr>
            <a:r>
              <a:rPr sz="1800" b="0">
                <a:solidFill>
                  <a:srgbClr val="1A1A1A"/>
                </a:solidFill>
                <a:latin typeface="Calibri"/>
              </a:rPr>
              <a:t>• --seed-from is a TESTING shortcut on the Vissim side only:</a:t>
            </a:r>
          </a:p>
          <a:p>
            <a:pPr lvl="1">
              <a:spcAft>
                <a:spcPts val="1000"/>
              </a:spcAft>
            </a:pPr>
            <a:r>
              <a:rPr sz="1600" b="0">
                <a:solidFill>
                  <a:srgbClr val="5A5A5A"/>
                </a:solidFill>
                <a:latin typeface="Calibri"/>
              </a:rPr>
              <a:t>it copies the 13 cells out of an already-filled SUMO MatchupTable</a:t>
            </a:r>
          </a:p>
          <a:p>
            <a:pPr lvl="1">
              <a:spcAft>
                <a:spcPts val="1000"/>
              </a:spcAft>
            </a:pPr>
            <a:r>
              <a:rPr sz="1600" b="0">
                <a:solidFill>
                  <a:srgbClr val="5A5A5A"/>
                </a:solidFill>
                <a:latin typeface="Calibri"/>
              </a:rPr>
              <a:t>so the two tables can be compared without re-typing anything</a:t>
            </a:r>
          </a:p>
          <a:p>
            <a:pPr>
              <a:spcAft>
                <a:spcPts val="1000"/>
              </a:spcAft>
            </a:pPr>
            <a:r>
              <a:rPr sz="1800" b="0">
                <a:solidFill>
                  <a:srgbClr val="1A1A1A"/>
                </a:solidFill>
                <a:latin typeface="Calibri"/>
              </a:rPr>
              <a:t>• RealTwin's SUMO flow has no equivalent - there is no other table to copy from</a:t>
            </a:r>
          </a:p>
          <a:p>
            <a:pPr>
              <a:spcAft>
                <a:spcPts val="1000"/>
              </a:spcAft>
            </a:pPr>
            <a:r>
              <a:rPr sz="1800" b="0">
                <a:solidFill>
                  <a:srgbClr val="1A1A1A"/>
                </a:solidFill>
                <a:latin typeface="Calibri"/>
              </a:rPr>
              <a:t>• In a standalone Vissim run there is no --seed-from at 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Copying needs the junction mapping</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The two tables number junctions differently, and the numbers overlap misleadingly</a:t>
            </a:r>
          </a:p>
          <a:p>
            <a:pPr lvl="1">
              <a:spcAft>
                <a:spcPts val="1000"/>
              </a:spcAft>
            </a:pPr>
            <a:r>
              <a:rPr sz="1600" b="0">
                <a:solidFill>
                  <a:srgbClr val="5A5A5A"/>
                </a:solidFill>
                <a:latin typeface="Calibri"/>
              </a:rPr>
              <a:t>OpenDRIVE 2 is SUMO 2, but OpenDRIVE 10 is SUMO 8, and 11 is SUMO 10</a:t>
            </a:r>
          </a:p>
          <a:p>
            <a:pPr>
              <a:spcAft>
                <a:spcPts val="1000"/>
              </a:spcAft>
            </a:pPr>
            <a:r>
              <a:rPr sz="1800" b="0">
                <a:solidFill>
                  <a:srgbClr val="1A1A1A"/>
                </a:solidFill>
                <a:latin typeface="Calibri"/>
              </a:rPr>
              <a:t>• Matching by the bare number handed junction 10 the wrong intersection's counts</a:t>
            </a:r>
          </a:p>
          <a:p>
            <a:pPr lvl="1">
              <a:spcAft>
                <a:spcPts val="1000"/>
              </a:spcAft>
            </a:pPr>
            <a:r>
              <a:rPr sz="1600" b="0">
                <a:solidFill>
                  <a:srgbClr val="5A5A5A"/>
                </a:solidFill>
                <a:latin typeface="Calibri"/>
              </a:rPr>
              <a:t>it got Shallowford &amp; Napier, a 4-leg intersection; it is the 3-leg I-75 ramp</a:t>
            </a:r>
          </a:p>
          <a:p>
            <a:pPr>
              <a:spcAft>
                <a:spcPts val="1000"/>
              </a:spcAft>
            </a:pPr>
            <a:r>
              <a:rPr sz="1800" b="0">
                <a:solidFill>
                  <a:srgbClr val="1A1A1A"/>
                </a:solidFill>
                <a:latin typeface="Calibri"/>
              </a:rPr>
              <a:t>• The only symptom was a warning about 3 approaches against 4 reported directions</a:t>
            </a:r>
          </a:p>
          <a:p>
            <a:pPr>
              <a:spcAft>
                <a:spcPts val="1000"/>
              </a:spcAft>
            </a:pPr>
            <a:r>
              <a:rPr sz="1800" b="0">
                <a:solidFill>
                  <a:srgbClr val="1A1A1A"/>
                </a:solidFill>
                <a:latin typeface="Calibri"/>
              </a:rPr>
              <a:t>• Fixed: seeds now translate through the mapping stage 1 records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The two methods side by side</a:t>
            </a:r>
          </a:p>
        </p:txBody>
      </p:sp>
      <p:graphicFrame>
        <p:nvGraphicFramePr>
          <p:cNvPr id="4" name="Table 3"/>
          <p:cNvGraphicFramePr>
            <a:graphicFrameLocks noGrp="1"/>
          </p:cNvGraphicFramePr>
          <p:nvPr/>
        </p:nvGraphicFramePr>
        <p:xfrm>
          <a:off x="548640" y="1371600"/>
          <a:ext cx="11064240" cy="2926080"/>
        </p:xfrm>
        <a:graphic>
          <a:graphicData uri="http://schemas.openxmlformats.org/drawingml/2006/table">
            <a:tbl>
              <a:tblPr firstRow="1" bandRow="1">
                <a:tableStyleId>{5C22544A-7EE6-4342-B048-85BDC9FD1C3A}</a:tableStyleId>
              </a:tblPr>
              <a:tblGrid>
                <a:gridCol w="2743200"/>
                <a:gridCol w="4114800"/>
                <a:gridCol w="4206240"/>
              </a:tblGrid>
              <a:tr h="365760">
                <a:tc>
                  <a:txBody>
                    <a:bodyPr/>
                    <a:lstStyle/>
                    <a:p>
                      <a:r>
                        <a:rPr sz="1400" b="1">
                          <a:solidFill>
                            <a:srgbClr val="FFFFFF"/>
                          </a:solidFill>
                          <a:latin typeface="Calibri"/>
                        </a:rPr>
                        <a:t> </a:t>
                      </a:r>
                    </a:p>
                  </a:txBody>
                  <a:tcPr>
                    <a:solidFill>
                      <a:srgbClr val="14375E"/>
                    </a:solidFill>
                  </a:tcPr>
                </a:tc>
                <a:tc>
                  <a:txBody>
                    <a:bodyPr/>
                    <a:lstStyle/>
                    <a:p>
                      <a:r>
                        <a:rPr sz="1400" b="1">
                          <a:solidFill>
                            <a:srgbClr val="FFFFFF"/>
                          </a:solidFill>
                          <a:latin typeface="Calibri"/>
                        </a:rPr>
                        <a:t>SUMO</a:t>
                      </a:r>
                    </a:p>
                  </a:txBody>
                  <a:tcPr>
                    <a:solidFill>
                      <a:srgbClr val="14375E"/>
                    </a:solidFill>
                  </a:tcPr>
                </a:tc>
                <a:tc>
                  <a:txBody>
                    <a:bodyPr/>
                    <a:lstStyle/>
                    <a:p>
                      <a:r>
                        <a:rPr sz="1400" b="1">
                          <a:solidFill>
                            <a:srgbClr val="FFFFFF"/>
                          </a:solidFill>
                          <a:latin typeface="Calibri"/>
                        </a:rPr>
                        <a:t>VISSIM (default)</a:t>
                      </a:r>
                    </a:p>
                  </a:txBody>
                  <a:tcPr>
                    <a:solidFill>
                      <a:srgbClr val="14375E"/>
                    </a:solidFill>
                  </a:tcPr>
                </a:tc>
              </a:tr>
              <a:tr h="365760">
                <a:tc>
                  <a:txBody>
                    <a:bodyPr/>
                    <a:lstStyle/>
                    <a:p>
                      <a:r>
                        <a:rPr sz="1300" b="0">
                          <a:solidFill>
                            <a:srgbClr val="1A1A1A"/>
                          </a:solidFill>
                          <a:latin typeface="Calibri"/>
                        </a:rPr>
                        <a:t>Junctions from</a:t>
                      </a:r>
                    </a:p>
                  </a:txBody>
                  <a:tcPr/>
                </a:tc>
                <a:tc>
                  <a:txBody>
                    <a:bodyPr/>
                    <a:lstStyle/>
                    <a:p>
                      <a:r>
                        <a:rPr sz="1300" b="0">
                          <a:solidFill>
                            <a:srgbClr val="1A1A1A"/>
                          </a:solidFill>
                          <a:latin typeface="Calibri"/>
                        </a:rPr>
                        <a:t>SUMO net.xml junctions</a:t>
                      </a:r>
                    </a:p>
                  </a:txBody>
                  <a:tcPr/>
                </a:tc>
                <a:tc>
                  <a:txBody>
                    <a:bodyPr/>
                    <a:lstStyle/>
                    <a:p>
                      <a:r>
                        <a:rPr sz="1300" b="0">
                          <a:solidFill>
                            <a:srgbClr val="1A1A1A"/>
                          </a:solidFill>
                          <a:latin typeface="Calibri"/>
                        </a:rPr>
                        <a:t>OpenDRIVE &lt;road junction&gt;</a:t>
                      </a:r>
                    </a:p>
                  </a:txBody>
                  <a:tcPr/>
                </a:tc>
              </a:tr>
              <a:tr h="365760">
                <a:tc>
                  <a:txBody>
                    <a:bodyPr/>
                    <a:lstStyle/>
                    <a:p>
                      <a:r>
                        <a:rPr sz="1300" b="0">
                          <a:solidFill>
                            <a:srgbClr val="1A1A1A"/>
                          </a:solidFill>
                          <a:latin typeface="Calibri"/>
                        </a:rPr>
                        <a:t>Links matched by</a:t>
                      </a:r>
                    </a:p>
                  </a:txBody>
                  <a:tcPr/>
                </a:tc>
                <a:tc>
                  <a:txBody>
                    <a:bodyPr/>
                    <a:lstStyle/>
                    <a:p>
                      <a:r>
                        <a:rPr sz="1300" b="0">
                          <a:solidFill>
                            <a:srgbClr val="1A1A1A"/>
                          </a:solidFill>
                          <a:latin typeface="Calibri"/>
                        </a:rPr>
                        <a:t>n/a - stays in SUMO</a:t>
                      </a:r>
                    </a:p>
                  </a:txBody>
                  <a:tcPr/>
                </a:tc>
                <a:tc>
                  <a:txBody>
                    <a:bodyPr/>
                    <a:lstStyle/>
                    <a:p>
                      <a:r>
                        <a:rPr sz="1300" b="0">
                          <a:solidFill>
                            <a:srgbClr val="1A1A1A"/>
                          </a:solidFill>
                          <a:latin typeface="Calibri"/>
                        </a:rPr>
                        <a:t>geometry, 1:1 assignment</a:t>
                      </a:r>
                    </a:p>
                  </a:txBody>
                  <a:tcPr/>
                </a:tc>
              </a:tr>
              <a:tr h="365760">
                <a:tc>
                  <a:txBody>
                    <a:bodyPr/>
                    <a:lstStyle/>
                    <a:p>
                      <a:r>
                        <a:rPr sz="1300" b="0">
                          <a:solidFill>
                            <a:srgbClr val="1A1A1A"/>
                          </a:solidFill>
                          <a:latin typeface="Calibri"/>
                        </a:rPr>
                        <a:t>Bearings from</a:t>
                      </a:r>
                    </a:p>
                  </a:txBody>
                  <a:tcPr/>
                </a:tc>
                <a:tc>
                  <a:txBody>
                    <a:bodyPr/>
                    <a:lstStyle/>
                    <a:p>
                      <a:r>
                        <a:rPr sz="1300" b="0">
                          <a:solidFill>
                            <a:srgbClr val="1A1A1A"/>
                          </a:solidFill>
                          <a:latin typeface="Calibri"/>
                        </a:rPr>
                        <a:t>lane shape, last 2 points</a:t>
                      </a:r>
                    </a:p>
                  </a:txBody>
                  <a:tcPr/>
                </a:tc>
                <a:tc>
                  <a:txBody>
                    <a:bodyPr/>
                    <a:lstStyle/>
                    <a:p>
                      <a:r>
                        <a:rPr sz="1300" b="0">
                          <a:solidFill>
                            <a:srgbClr val="1A1A1A"/>
                          </a:solidFill>
                          <a:latin typeface="Calibri"/>
                        </a:rPr>
                        <a:t>link polyline, last 2 points</a:t>
                      </a:r>
                    </a:p>
                  </a:txBody>
                  <a:tcPr/>
                </a:tc>
              </a:tr>
              <a:tr h="365760">
                <a:tc>
                  <a:txBody>
                    <a:bodyPr/>
                    <a:lstStyle/>
                    <a:p>
                      <a:r>
                        <a:rPr sz="1300" b="0">
                          <a:solidFill>
                            <a:srgbClr val="1A1A1A"/>
                          </a:solidFill>
                          <a:latin typeface="Calibri"/>
                        </a:rPr>
                        <a:t>Turns from</a:t>
                      </a:r>
                    </a:p>
                  </a:txBody>
                  <a:tcPr/>
                </a:tc>
                <a:tc>
                  <a:txBody>
                    <a:bodyPr/>
                    <a:lstStyle/>
                    <a:p>
                      <a:r>
                        <a:rPr sz="1300" b="0">
                          <a:solidFill>
                            <a:srgbClr val="1A1A1A"/>
                          </a:solidFill>
                          <a:latin typeface="Calibri"/>
                        </a:rPr>
                        <a:t>netconvert's dir attribute</a:t>
                      </a:r>
                    </a:p>
                  </a:txBody>
                  <a:tcPr/>
                </a:tc>
                <a:tc>
                  <a:txBody>
                    <a:bodyPr/>
                    <a:lstStyle/>
                    <a:p>
                      <a:r>
                        <a:rPr sz="1300" b="0">
                          <a:solidFill>
                            <a:srgbClr val="1A1A1A"/>
                          </a:solidFill>
                          <a:latin typeface="Calibri"/>
                        </a:rPr>
                        <a:t>same rule, ported</a:t>
                      </a:r>
                    </a:p>
                  </a:txBody>
                  <a:tcPr/>
                </a:tc>
              </a:tr>
              <a:tr h="365760">
                <a:tc>
                  <a:txBody>
                    <a:bodyPr/>
                    <a:lstStyle/>
                    <a:p>
                      <a:r>
                        <a:rPr sz="1300" b="0">
                          <a:solidFill>
                            <a:srgbClr val="1A1A1A"/>
                          </a:solidFill>
                          <a:latin typeface="Calibri"/>
                        </a:rPr>
                        <a:t>ID space</a:t>
                      </a:r>
                    </a:p>
                  </a:txBody>
                  <a:tcPr/>
                </a:tc>
                <a:tc>
                  <a:txBody>
                    <a:bodyPr/>
                    <a:lstStyle/>
                    <a:p>
                      <a:r>
                        <a:rPr sz="1300" b="0">
                          <a:solidFill>
                            <a:srgbClr val="1A1A1A"/>
                          </a:solidFill>
                          <a:latin typeface="Calibri"/>
                        </a:rPr>
                        <a:t>SUMO edge / junction ids</a:t>
                      </a:r>
                    </a:p>
                  </a:txBody>
                  <a:tcPr/>
                </a:tc>
                <a:tc>
                  <a:txBody>
                    <a:bodyPr/>
                    <a:lstStyle/>
                    <a:p>
                      <a:r>
                        <a:rPr sz="1300" b="0">
                          <a:solidFill>
                            <a:srgbClr val="1A1A1A"/>
                          </a:solidFill>
                          <a:latin typeface="Calibri"/>
                        </a:rPr>
                        <a:t>OpenDRIVE road / junction ids</a:t>
                      </a:r>
                    </a:p>
                  </a:txBody>
                  <a:tcPr/>
                </a:tc>
              </a:tr>
              <a:tr h="365760">
                <a:tc>
                  <a:txBody>
                    <a:bodyPr/>
                    <a:lstStyle/>
                    <a:p>
                      <a:r>
                        <a:rPr sz="1300" b="0">
                          <a:solidFill>
                            <a:srgbClr val="1A1A1A"/>
                          </a:solidFill>
                          <a:latin typeface="Calibri"/>
                        </a:rPr>
                        <a:t>Hand input</a:t>
                      </a:r>
                    </a:p>
                  </a:txBody>
                  <a:tcPr/>
                </a:tc>
                <a:tc>
                  <a:txBody>
                    <a:bodyPr/>
                    <a:lstStyle/>
                    <a:p>
                      <a:r>
                        <a:rPr sz="1300" b="0">
                          <a:solidFill>
                            <a:srgbClr val="1A1A1A"/>
                          </a:solidFill>
                          <a:latin typeface="Calibri"/>
                        </a:rPr>
                        <a:t>13 cells</a:t>
                      </a:r>
                    </a:p>
                  </a:txBody>
                  <a:tcPr/>
                </a:tc>
                <a:tc>
                  <a:txBody>
                    <a:bodyPr/>
                    <a:lstStyle/>
                    <a:p>
                      <a:r>
                        <a:rPr sz="1300" b="0">
                          <a:solidFill>
                            <a:srgbClr val="1A1A1A"/>
                          </a:solidFill>
                          <a:latin typeface="Calibri"/>
                        </a:rPr>
                        <a:t>13 cells</a:t>
                      </a:r>
                    </a:p>
                  </a:txBody>
                  <a:tcPr/>
                </a:tc>
              </a:tr>
              <a:tr h="365760">
                <a:tc>
                  <a:txBody>
                    <a:bodyPr/>
                    <a:lstStyle/>
                    <a:p>
                      <a:r>
                        <a:rPr sz="1300" b="0">
                          <a:solidFill>
                            <a:srgbClr val="1A1A1A"/>
                          </a:solidFill>
                          <a:latin typeface="Calibri"/>
                        </a:rPr>
                        <a:t>Turn codes derived</a:t>
                      </a:r>
                    </a:p>
                  </a:txBody>
                  <a:tcPr/>
                </a:tc>
                <a:tc>
                  <a:txBody>
                    <a:bodyPr/>
                    <a:lstStyle/>
                    <a:p>
                      <a:r>
                        <a:rPr sz="1300" b="0">
                          <a:solidFill>
                            <a:srgbClr val="1A1A1A"/>
                          </a:solidFill>
                          <a:latin typeface="Calibri"/>
                        </a:rPr>
                        <a:t>positionally</a:t>
                      </a:r>
                    </a:p>
                  </a:txBody>
                  <a:tcPr/>
                </a:tc>
                <a:tc>
                  <a:txBody>
                    <a:bodyPr/>
                    <a:lstStyle/>
                    <a:p>
                      <a:r>
                        <a:rPr sz="1300" b="0">
                          <a:solidFill>
                            <a:srgbClr val="1A1A1A"/>
                          </a:solidFill>
                          <a:latin typeface="Calibri"/>
                        </a:rPr>
                        <a:t>per row, from its own bearing</a:t>
                      </a:r>
                    </a:p>
                  </a:txBody>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They agree</a:t>
            </a:r>
          </a:p>
        </p:txBody>
      </p:sp>
      <p:sp>
        <p:nvSpPr>
          <p:cNvPr id="4" name="TextBox 3"/>
          <p:cNvSpPr txBox="1"/>
          <p:nvPr/>
        </p:nvSpPr>
        <p:spPr>
          <a:xfrm>
            <a:off x="640080" y="1325880"/>
            <a:ext cx="10972800" cy="5120640"/>
          </a:xfrm>
          <a:prstGeom prst="rect">
            <a:avLst/>
          </a:prstGeom>
          <a:noFill/>
        </p:spPr>
        <p:txBody>
          <a:bodyPr wrap="square">
            <a:spAutoFit/>
          </a:bodyPr>
          <a:lstStyle/>
          <a:p>
            <a:pPr>
              <a:spcAft>
                <a:spcPts val="1000"/>
              </a:spcAft>
            </a:pPr>
            <a:r>
              <a:rPr sz="1800" b="0">
                <a:solidFill>
                  <a:srgbClr val="1A1A1A"/>
                </a:solidFill>
                <a:latin typeface="Calibri"/>
              </a:rPr>
              <a:t>• Junctions        10  =  10</a:t>
            </a:r>
          </a:p>
          <a:p>
            <a:pPr>
              <a:spcAft>
                <a:spcPts val="1000"/>
              </a:spcAft>
            </a:pPr>
            <a:r>
              <a:rPr sz="1800" b="0">
                <a:solidFill>
                  <a:srgbClr val="1A1A1A"/>
                </a:solidFill>
                <a:latin typeface="Calibri"/>
              </a:rPr>
              <a:t>• Approaches       34  =  34</a:t>
            </a:r>
          </a:p>
          <a:p>
            <a:pPr>
              <a:spcAft>
                <a:spcPts val="1000"/>
              </a:spcAft>
            </a:pPr>
            <a:r>
              <a:rPr sz="1800" b="0">
                <a:solidFill>
                  <a:srgbClr val="1A1A1A"/>
                </a:solidFill>
                <a:latin typeface="Calibri"/>
              </a:rPr>
              <a:t>• Movements       104  =  104</a:t>
            </a:r>
          </a:p>
          <a:p>
            <a:pPr>
              <a:spcAft>
                <a:spcPts val="1000"/>
              </a:spcAft>
            </a:pPr>
            <a:r>
              <a:rPr sz="1800" b="0">
                <a:solidFill>
                  <a:srgbClr val="1A1A1A"/>
                </a:solidFill>
                <a:latin typeface="Calibri"/>
              </a:rPr>
              <a:t>• Turn labels     104 / 104 identical</a:t>
            </a:r>
          </a:p>
          <a:p>
            <a:pPr>
              <a:spcAft>
                <a:spcPts val="1000"/>
              </a:spcAft>
            </a:pPr>
            <a:r>
              <a:rPr sz="1800" b="0">
                <a:solidFill>
                  <a:srgbClr val="1A1A1A"/>
                </a:solidFill>
                <a:latin typeface="Calibri"/>
              </a:rPr>
              <a:t>• Turn mix        thru 30, right 28, left 24, Uturn 22 on both sides</a:t>
            </a:r>
          </a:p>
          <a:p>
            <a:pPr>
              <a:spcAft>
                <a:spcPts val="1000"/>
              </a:spcAft>
            </a:pPr>
            <a:r>
              <a:rPr sz="1800" b="0">
                <a:solidFill>
                  <a:srgbClr val="1A1A1A"/>
                </a:solidFill>
                <a:latin typeface="Calibri"/>
              </a:rPr>
              <a:t>• Junction mapping confirmed by coordinates - worst separation 1.98 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437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64592"/>
            <a:ext cx="11247120" cy="731520"/>
          </a:xfrm>
          <a:prstGeom prst="rect">
            <a:avLst/>
          </a:prstGeom>
          <a:noFill/>
        </p:spPr>
        <p:txBody>
          <a:bodyPr wrap="square">
            <a:spAutoFit/>
          </a:bodyPr>
          <a:lstStyle/>
          <a:p>
            <a:pPr>
              <a:spcAft>
                <a:spcPts val="1000"/>
              </a:spcAft>
            </a:pPr>
            <a:r>
              <a:rPr sz="2600" b="1">
                <a:solidFill>
                  <a:srgbClr val="FFFFFF"/>
                </a:solidFill>
                <a:latin typeface="Calibri"/>
              </a:rPr>
              <a:t>What to open and check</a:t>
            </a:r>
          </a:p>
        </p:txBody>
      </p:sp>
      <p:graphicFrame>
        <p:nvGraphicFramePr>
          <p:cNvPr id="4" name="Table 3"/>
          <p:cNvGraphicFramePr>
            <a:graphicFrameLocks noGrp="1"/>
          </p:cNvGraphicFramePr>
          <p:nvPr/>
        </p:nvGraphicFramePr>
        <p:xfrm>
          <a:off x="548640" y="1371600"/>
          <a:ext cx="11064240" cy="2194560"/>
        </p:xfrm>
        <a:graphic>
          <a:graphicData uri="http://schemas.openxmlformats.org/drawingml/2006/table">
            <a:tbl>
              <a:tblPr firstRow="1" bandRow="1">
                <a:tableStyleId>{5C22544A-7EE6-4342-B048-85BDC9FD1C3A}</a:tableStyleId>
              </a:tblPr>
              <a:tblGrid>
                <a:gridCol w="6035040"/>
                <a:gridCol w="5029200"/>
              </a:tblGrid>
              <a:tr h="365760">
                <a:tc>
                  <a:txBody>
                    <a:bodyPr/>
                    <a:lstStyle/>
                    <a:p>
                      <a:r>
                        <a:rPr sz="1400" b="1">
                          <a:solidFill>
                            <a:srgbClr val="FFFFFF"/>
                          </a:solidFill>
                          <a:latin typeface="Calibri"/>
                        </a:rPr>
                        <a:t>File</a:t>
                      </a:r>
                    </a:p>
                  </a:txBody>
                  <a:tcPr>
                    <a:solidFill>
                      <a:srgbClr val="14375E"/>
                    </a:solidFill>
                  </a:tcPr>
                </a:tc>
                <a:tc>
                  <a:txBody>
                    <a:bodyPr/>
                    <a:lstStyle/>
                    <a:p>
                      <a:r>
                        <a:rPr sz="1400" b="1">
                          <a:solidFill>
                            <a:srgbClr val="FFFFFF"/>
                          </a:solidFill>
                          <a:latin typeface="Calibri"/>
                        </a:rPr>
                        <a:t>What it holds</a:t>
                      </a:r>
                    </a:p>
                  </a:txBody>
                  <a:tcPr>
                    <a:solidFill>
                      <a:srgbClr val="14375E"/>
                    </a:solidFill>
                  </a:tcPr>
                </a:tc>
              </a:tr>
              <a:tr h="365760">
                <a:tc>
                  <a:txBody>
                    <a:bodyPr/>
                    <a:lstStyle/>
                    <a:p>
                      <a:r>
                        <a:rPr sz="1200" b="0">
                          <a:solidFill>
                            <a:srgbClr val="1A1A1A"/>
                          </a:solidFill>
                          <a:latin typeface="Calibri"/>
                        </a:rPr>
                        <a:t>datasets/example1/updated_net/MatchupTable_updated.xlsx</a:t>
                      </a:r>
                    </a:p>
                  </a:txBody>
                  <a:tcPr/>
                </a:tc>
                <a:tc>
                  <a:txBody>
                    <a:bodyPr/>
                    <a:lstStyle/>
                    <a:p>
                      <a:r>
                        <a:rPr sz="1200" b="0">
                          <a:solidFill>
                            <a:srgbClr val="1A1A1A"/>
                          </a:solidFill>
                          <a:latin typeface="Calibri"/>
                        </a:rPr>
                        <a:t>the SUMO table, in SUMO ids</a:t>
                      </a:r>
                    </a:p>
                  </a:txBody>
                  <a:tcPr/>
                </a:tc>
              </a:tr>
              <a:tr h="365760">
                <a:tc>
                  <a:txBody>
                    <a:bodyPr/>
                    <a:lstStyle/>
                    <a:p>
                      <a:r>
                        <a:rPr sz="1200" b="0">
                          <a:solidFill>
                            <a:srgbClr val="1A1A1A"/>
                          </a:solidFill>
                          <a:latin typeface="Calibri"/>
                        </a:rPr>
                        <a:t>vissim/work/chattanooga/MatchupTable.xlsx</a:t>
                      </a:r>
                    </a:p>
                  </a:txBody>
                  <a:tcPr/>
                </a:tc>
                <a:tc>
                  <a:txBody>
                    <a:bodyPr/>
                    <a:lstStyle/>
                    <a:p>
                      <a:r>
                        <a:rPr sz="1200" b="0">
                          <a:solidFill>
                            <a:srgbClr val="1A1A1A"/>
                          </a:solidFill>
                          <a:latin typeface="Calibri"/>
                        </a:rPr>
                        <a:t>the Vissim table, in OpenDRIVE ids</a:t>
                      </a:r>
                    </a:p>
                  </a:txBody>
                  <a:tcPr/>
                </a:tc>
              </a:tr>
              <a:tr h="365760">
                <a:tc>
                  <a:txBody>
                    <a:bodyPr/>
                    <a:lstStyle/>
                    <a:p>
                      <a:r>
                        <a:rPr sz="1200" b="0">
                          <a:solidFill>
                            <a:srgbClr val="1A1A1A"/>
                          </a:solidFill>
                          <a:latin typeface="Calibri"/>
                        </a:rPr>
                        <a:t>vissim/work/chattanooga/junction_mapping.csv</a:t>
                      </a:r>
                    </a:p>
                  </a:txBody>
                  <a:tcPr/>
                </a:tc>
                <a:tc>
                  <a:txBody>
                    <a:bodyPr/>
                    <a:lstStyle/>
                    <a:p>
                      <a:r>
                        <a:rPr sz="1200" b="0">
                          <a:solidFill>
                            <a:srgbClr val="1A1A1A"/>
                          </a:solidFill>
                          <a:latin typeface="Calibri"/>
                        </a:rPr>
                        <a:t>OpenDRIVE &lt;-&gt; SUMO ids, coordinates, Vissim links</a:t>
                      </a:r>
                    </a:p>
                  </a:txBody>
                  <a:tcPr/>
                </a:tc>
              </a:tr>
              <a:tr h="365760">
                <a:tc>
                  <a:txBody>
                    <a:bodyPr/>
                    <a:lstStyle/>
                    <a:p>
                      <a:r>
                        <a:rPr sz="1200" b="0">
                          <a:solidFill>
                            <a:srgbClr val="1A1A1A"/>
                          </a:solidFill>
                          <a:latin typeface="Calibri"/>
                        </a:rPr>
                        <a:t>vissim/work/chattanooga/movement_mapping.csv</a:t>
                      </a:r>
                    </a:p>
                  </a:txBody>
                  <a:tcPr/>
                </a:tc>
                <a:tc>
                  <a:txBody>
                    <a:bodyPr/>
                    <a:lstStyle/>
                    <a:p>
                      <a:r>
                        <a:rPr sz="1200" b="0">
                          <a:solidFill>
                            <a:srgbClr val="1A1A1A"/>
                          </a:solidFill>
                          <a:latin typeface="Calibri"/>
                        </a:rPr>
                        <a:t>all 104 movements, both tables side by side</a:t>
                      </a:r>
                    </a:p>
                  </a:txBody>
                  <a:tcPr/>
                </a:tc>
              </a:tr>
              <a:tr h="365760">
                <a:tc>
                  <a:txBody>
                    <a:bodyPr/>
                    <a:lstStyle/>
                    <a:p>
                      <a:r>
                        <a:rPr sz="1200" b="0">
                          <a:solidFill>
                            <a:srgbClr val="1A1A1A"/>
                          </a:solidFill>
                          <a:latin typeface="Calibri"/>
                        </a:rPr>
                        <a:t>vissim/work/chattanooga/junction_locations.csv</a:t>
                      </a:r>
                    </a:p>
                  </a:txBody>
                  <a:tcPr/>
                </a:tc>
                <a:tc>
                  <a:txBody>
                    <a:bodyPr/>
                    <a:lstStyle/>
                    <a:p>
                      <a:r>
                        <a:rPr sz="1200" b="0">
                          <a:solidFill>
                            <a:srgbClr val="1A1A1A"/>
                          </a:solidFill>
                          <a:latin typeface="Calibri"/>
                        </a:rPr>
                        <a:t>each junction's latitude, longitude and map link</a:t>
                      </a:r>
                    </a:p>
                  </a:txBody>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