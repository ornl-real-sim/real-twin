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1" d="100"/>
          <a:sy n="101" d="100"/>
        </p:scale>
        <p:origin x="876" y="10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Relationship Id="rId38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roj, Abhilasha" userId="d67c2eea-89d4-45fa-9ce0-c1ad439feab6" providerId="ADAL" clId="{1F9C6C7C-1283-4544-9D6E-4D9C42D7FCA5}"/>
    <pc:docChg chg="undo custSel modSld">
      <pc:chgData name="Saroj, Abhilasha" userId="d67c2eea-89d4-45fa-9ce0-c1ad439feab6" providerId="ADAL" clId="{1F9C6C7C-1283-4544-9D6E-4D9C42D7FCA5}" dt="2026-08-03T16:11:05.842" v="1" actId="1076"/>
      <pc:docMkLst>
        <pc:docMk/>
      </pc:docMkLst>
      <pc:sldChg chg="modSp mod">
        <pc:chgData name="Saroj, Abhilasha" userId="d67c2eea-89d4-45fa-9ce0-c1ad439feab6" providerId="ADAL" clId="{1F9C6C7C-1283-4544-9D6E-4D9C42D7FCA5}" dt="2026-08-03T16:11:05.842" v="1" actId="1076"/>
        <pc:sldMkLst>
          <pc:docMk/>
          <pc:sldMk cId="0" sldId="263"/>
        </pc:sldMkLst>
        <pc:spChg chg="mod">
          <ac:chgData name="Saroj, Abhilasha" userId="d67c2eea-89d4-45fa-9ce0-c1ad439feab6" providerId="ADAL" clId="{1F9C6C7C-1283-4544-9D6E-4D9C42D7FCA5}" dt="2026-08-03T16:11:05.842" v="1" actId="1076"/>
          <ac:spMkLst>
            <pc:docMk/>
            <pc:sldMk cId="0" sldId="263"/>
            <ac:spMk id="4" creationId="{00000000-0000-0000-0000-000000000000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746374-63FF-4111-BF39-48D6FBF9F56E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3617A4-BF09-45DD-AF45-8EA5D79A63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8556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goal is parity with the SUMO pipeline: same inputs, same logic, same numbers - so results can be compared simulator to simulator.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Stages 1-4 are complete and validated against SUMO. Stages 5-6 remain.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single most important design decision. Any approach that carries IDs across tools breaks the first time a file is regenerated.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Both were discovered by comparing the imported network against the SUMO network, not by reading documentation.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These terms recur throughout. 'Movement' is the atom of the whole pipeline: the Chattanooga network has 104 of them across 10 junctions.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Same idea as the SUMO MatchupTable so a user moving between the two finds the same field in the same column. One extra Vissim-only column sits at the end, holding the junction-internal links a movement uses - needed later for placing signal heads.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20 degree threshold is the one judgement call, but it was NOT the cause of the two Chattanooga movements that came out wrong: those turn through 117 and 123 degrees, nowhere near the boundary. The real cause was the order movements were listed in - see the slide on movement codes.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mirrors what RealTwin does on the SUMO side. A three-leg junction can legitimately be NB / EB / WB with no southbound leg at all - only the count file knows that, so it is the authority on naming.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Sorted clockwise from 337.5 degrees. The count file for this intersection reports EB, SB and WB movements - no northbound leg exists - so the three legs take those three names in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ordering rule is not cosmetic. Junctions 8 and 9 each had two movements off one approach carrying the same code, so one camera count was joined to both and inflated that approach by 60 percent.</a:t>
            </a:r>
          </a:p>
          <a:p/>
          <a:p>
            <a:r>
              <a:t>Fixing it needed two things. First the codes must ascend R, T, L, U. Second - and this was missed at first - the movements have to be sorted by turning angle, not just by turn label. Without that the correction landed on whichever movement happened to be listed first, which at junction 8 was a 117 degree hard left rather than the 28 degree movement that is really the through.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Only 13 cells out of 104 rows are hand-entered. Everything per-movement is derived. This matches how the SUMO side works.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Generated independently from the Vissim network, then compared with the hand-curated SUMO MatchupTable. Complete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Volumes are stochastic (Poisson) arrivals, which is what a turn count implies. Periods with no data are written as zero rather than left blank, so a gap cannot silently inherit the previous period's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SUMO's network has 18 links with nothing feeding them, but its flow file only writes 16 - it omits the same two stubs. Matching that behaviour was a useful confirmation the rule is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bug hid a real error: one entry link was left with no traffic at all, and the demand that should have entered there was loaded onto a junction approach further downstream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entry link that SUMO gives traffic to now has a Vissim vehicle input with an identical 15-minute profile. Before the two fixes this was 9 of 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That last rule drives the whole design. If a marker is placed inside a stretch where vehicles are still following an earlier route, its turn shares are silently thrown away and the model quietly misrepresents the traffic.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also makes calibration easy: changing a turn percentage later is editing one number, not adding network objects and re-checking placement.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Rules 1 and 2 are quoted directly from manual section 2.16.3.3. The gap is computed from the network's top speed and the simulation step rate, not chosen by hand.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Junction 4's decision gained 110 m of advance notice, junction 2's gained 348 m. The remaining decisions were already as far upstream as the rules allow.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Vissim's own formula: 5 m of road per lane change, plus a base distance. Link 47 is five lanes in thirteen metres, so a vehicle needing the far lane cannot get there. The simulation reported 56 warnings of vehicles failing to reach their turn.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strongest argument for end-to-end routing: it is not a preference, it is what the network geometry requires. Kept as the next option to build, with the current per-approach mode retained as a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Everything through stage 4 is written into the Vissim model and reproducible from scripts. Signal control is the next substantial piece after routing.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SUMO comparison caught an upstream-tracing failure, a double-counted turn inflating an approach by 60 percent, and a missing entry link.</a:t>
            </a:r>
          </a:p>
          <a:p/>
          <a:p>
            <a:r>
              <a:t>It also showed how a comparison can mislead: matching the movement codes row by row agreed while a code was attached to the wrong movement. Comparing approach by approach, matched on bearing, is what exposed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194560"/>
            <a:ext cx="12191695" cy="246888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RealTwin VISSIM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09160"/>
            <a:ext cx="106984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000" b="1">
                <a:solidFill>
                  <a:srgbClr val="2166AC"/>
                </a:solidFill>
                <a:latin typeface="Calibri"/>
              </a:rPr>
              <a:t>Network import, MatchupTable, demand and turn routing  |  Oak Ridge National Laboratory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BBCCE0"/>
                </a:solidFill>
                <a:latin typeface="Calibri"/>
              </a:rPr>
              <a:t>What the pipeline does and why it is standalone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we are building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A VISSIM version of the RealTwin SUMO workflow, driven over the Vissim COM API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Same method and same stages as SUMO - only the simulator changes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Input: a road network, turn counts from GridSmart cameras, signal timings from Synchro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Output: a Vissim model loaded with traffic demand, ready to simulate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Developed and tested against PTV Vissim 2026 on the Chattanooga corridor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stages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304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What it produces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Import network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Vissim network + list of turn movements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 err="1">
                          <a:solidFill>
                            <a:srgbClr val="1A1A1A"/>
                          </a:solidFill>
                        </a:rPr>
                        <a:t>MatchupTable</a:t>
                      </a:r>
                      <a:endParaRPr sz="1300" dirty="0">
                        <a:solidFill>
                          <a:srgbClr val="1A1A1A"/>
                        </a:solidFill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Spreadsheet linking network, counts, signals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Ingest demand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Vehicle inputs (traffic entering the model)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Turn routes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Routing decisions (which way traffic turns)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Signal control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Traffic signal timings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Not started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RTOR / stop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Right turn on red, stop signs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dirty="0">
                          <a:solidFill>
                            <a:srgbClr val="1A1A1A"/>
                          </a:solidFill>
                        </a:rPr>
                        <a:t>Not started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Why the VISSIM pipeline is standalone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First plan was to reuse the IDs already in the SUMO MatchupTable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Those IDs are not stable: they are SUMO edge names, not permanent road IDs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Rebuilding the network file with a newer SUMO renumbered every road (280-331 became 390-575)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Zero overlap with the old numbers - and Vissim renumbers again when it imports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So the pipeline re-derives junctions, directions and turns from the Vissim network itself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BBCCE0"/>
                </a:solidFill>
                <a:latin typeface="Calibri"/>
              </a:rPr>
              <a:t>Importing the network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problems that had to be solved on import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1. The network landed in the wrong place on the map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SUMO stores coordinates relative to a local origin and keeps the true origin separately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Vissim's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importer ignores that, dropping the network near (0,0)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Fixed by reading the offset and shifting the network back before import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2. A turn is not a single connector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Vissim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turns every road into a link, including the small roads inside a junction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A turn is therefore a path: approach -&gt; internal link(s) -&gt; exit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Treating connectors as turns gave 241 'straight ahead' and only 8 lefts - obviously wrong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Key terms, in plain words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Link - a piece of road.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Vissim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splits the network into many short links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Connector - a short stitch that joins one link to the next (about 1.5 m here)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Junction - an intersection. Inside it, 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>Vissim</a:t>
            </a:r>
            <a:r>
              <a:rPr sz="1800" b="0" dirty="0">
                <a:solidFill>
                  <a:srgbClr val="1A1A1A"/>
                </a:solidFill>
                <a:latin typeface="Calibri"/>
              </a:rPr>
              <a:t> creates small internal links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Approach - the link a vehicle arrives on at a junction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Movement - one turn at a junction: from one approach to one exit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Bearing - the compass direction a road points, in degrees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BBCCE0"/>
                </a:solidFill>
                <a:latin typeface="Calibri"/>
              </a:rPr>
              <a:t>The MatchupTable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the MatchupTable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One spreadsheet row per movement - per turn at each junction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It ties three separate worlds together so they can talk to each other: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Network - which links the movement uses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Demand - which camera count file and which turn in it</a:t>
            </a:r>
          </a:p>
          <a:p>
            <a:pPr lvl="1"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– Signal - which Synchro intersection and which phase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It is the only hand-touched file in the pipeline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• Laid out so columns A-N match the SUMO table position for position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How a turn is classified as left / straight /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Each approach and each exit has a bearing - the compass direction of the road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Compare the two: how much does the vehicle's direction change?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Change of 20 degrees or less  -&gt;  straight ahead ('thru')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Change of about 180 degrees  -&gt;  U-turn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Otherwise turning clockwise -&gt; right, counter-clockwise -&gt; left</a:t>
            </a:r>
          </a:p>
          <a:p>
            <a:pPr algn="l">
              <a:spcAft>
                <a:spcPts val="800"/>
              </a:spcAft>
            </a:pPr>
            <a:r>
              <a:rPr sz="1800" b="0" dirty="0">
                <a:solidFill>
                  <a:srgbClr val="1A1A1A"/>
                </a:solidFill>
                <a:latin typeface="Calibri"/>
              </a:rPr>
              <a:t>Movements are then sorted by that angle, which later checks depend on</a:t>
            </a:r>
            <a:r>
              <a:rPr sz="1800" b="0" dirty="0" err="1">
                <a:solidFill>
                  <a:srgbClr val="1A1A1A"/>
                </a:solidFill>
                <a:latin typeface="Calibri"/>
              </a:rPr>
              <a:t/>
            </a:r>
            <a:r>
              <a:rPr sz="1800" b="0" dirty="0">
                <a:solidFill>
                  <a:srgbClr val="1A1A1A"/>
                </a:solidFill>
                <a:latin typeface="Calibri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How we know which approach is 'Northbound'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NOT by absolute compass direction - that fails on skewed intersections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Junction 8 has legs at 52 and 114 degrees: both would count as 'eastbound'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and nothing would be northbound, which is wrong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Instead: sort the junction's legs going clockwise from the north-west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Then the 1st leg takes the 1st direction the count file reports, 2nd takes 2nd, and so on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 count file decides the names; the geometry only decides the order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Worked example: junction 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Leg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Bearing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Rank order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Named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link 22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111.5 deg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1st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EB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link 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235.1 deg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SB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link 8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292.0 deg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3rd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WB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Turning the direction into a movement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Code = direction + turn letter.  R = right, T = through, L = left, U = U-turn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So the left turn off the southbound leg becomes 'SBL'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That code is the column heading in the camera count file - so the count can be read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Safety rule: within one approach, codes must run in order R, T, L, U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Because movements are sorted by turning angle, so their codes cannot jump around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This catches the case where two movements are accidentally given the same code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you fill in, and what is generated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Column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Who provides it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Chattanooga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Which count file for each junction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You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6 cells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Which Synchro intersection 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You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6 cells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Which Synchro file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You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 cell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Intersection name and 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auto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Turn code for each movement (counts)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Generated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80 rows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Turn code for each movement (signals)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Generated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80 rows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MatchupTable checked against SUMO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532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Result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Movements found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104 - same as SUMO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Junctions found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10 - same IDs as 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Movements per junction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Identical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Count turn codes matching 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104 / 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Signal turn codes matching SUMO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104 / 104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BBCCE0"/>
                </a:solidFill>
                <a:latin typeface="Calibri"/>
              </a:rPr>
              <a:t>Vehicle inputs - getting traffic into the model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a vehicle input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 point where traffic enters the model, and how much of 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Placed on 'entry links' - roads at the edge of the network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Given a volume in vehicles per hour, for each 15-minute period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Camera counts are in 15-minute bins, so the model follows the real profile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Chattanooga 07:00-09:00 = 8 periods, 7,499 vehicles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counts as an entry link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A link that nothing feeds into - no connector arrives at it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AND that leads somewhere - it must feed something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 second half matters: the import leaves two disconnected stubs behind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Traffic injected on a stub could never reach the network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Result: 16 entry links - exactly the 16 SUMO uses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Finding the right entry link - and a bug worth knowing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Counts are measured AT junctions, but traffic ENTERS at the network edge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So from each counted approach we walk upstream to find the true entry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 walk kept failing and every count was left at the junction where it was measured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Cause: Vissim splits a junction into several internal links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One road upstream then looks like several different roads arriving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 walk read that as 'roads merge here, stop' - so it never went anywhere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Fix: step over the internal links. 186 Vissim links resolve to 59 real roads - SUMO also has 59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Vehicle inputs checked against SUMO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SUMO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VISSIM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Entry links written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16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Entry links carrying traffic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Volume profiles matching exactly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12 of 12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Vehicles, 07:00-09:00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7,499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Stage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02336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0">
                <a:solidFill>
                  <a:srgbClr val="BBCCE0"/>
                </a:solidFill>
                <a:latin typeface="Calibri"/>
              </a:rPr>
              <a:t>Routing decisions - telling traffic which way to turn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a routing decision 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A marker on the road. A vehicle crossing it is assigned a route to follow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Each route ends somewhere downstream and carries a share of the traffic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Shares come straight from the camera counts, so the split matches reality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Vissim normalises the shares, so raw counts can be used - easy to check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Important rule: a vehicle already on a route IGNORES any further markers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The integrated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One decision per approach, carrying a route to EVERY exit it can reach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Not one decision per turn - that multiplies markers and risks them being ignored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Turns with no count data get a route with share 0, rather than no route at all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Why: a turn with no route is not 'unknown' to Vissim - it is forbidden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A zero is visible, honest, and becomes live the moment a number is entered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Chattanooga: 34 decisions, 104 routes, 346 of 832 shares currently zero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Placement rules, taken from the Vissim manual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Rule 1 - a route must finish before the next decision starts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Otherwise the next decision is ignored, as above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Rule 2 - a minimum gap is required between a route end and the next marker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A marker only takes effect on the NEXT simulation time step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So the gap must cover the fastest vehicle in one step: 3.33 m here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Rule 3 - give vehicles as much warning as possible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They need distance to change into the correct turning lane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Placing decisions as early as legally possible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First version put every decision just inside its own approach link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That wasted all the road between the previous junction and this one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Now: walk back upstream until reaching the point where the previous routes end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Place the decision just after that, so vehicles learn their turn as early as possible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Only crosses a road where traffic cannot branch off - otherwise some vehicles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would be assigned a turn they were never going to make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Result: 7 of 34 decisions moved upstream, 741 m of extra warning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Where this hits a physical limit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Link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Lanes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Length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Distance needed to cross lanes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47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12.98 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22.5 m  - impossible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7.51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7.5 m  - exactly the length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38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24.96 m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12.5 m  - tight under congestion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What that limit means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Vissim lets vehicles sort into lanes up to 200 m ahead - but only once on a route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With one decision per junction, a vehicle joins its route a few metres before the turn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So the 200 m of sorting distance cannot be used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This is not fixable by moving markers or changing settings on short links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 real fix is routes that run end to end across the whole corridor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Then a vehicle is assigned at entry and can sort lanes the whole way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Where we are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371600"/>
          <a:ext cx="110642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88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Stage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State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Evidence</a:t>
                      </a:r>
                    </a:p>
                  </a:txBody>
                  <a:tcPr>
                    <a:solidFill>
                      <a:srgbClr val="1437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Network import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104 movements, 10 junctions - matches SUMO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MatchupTable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104/104 turn codes match SUMO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Vehicle inputs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12/12 volume profiles match SUMO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Routing decisions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Done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34 decisions, 104 routes, rules verified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End-to-end routing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Next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Needed for lane sorting on short links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Signal control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Not started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Format already understood (.prbc)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Right turn on red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Not started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1A1A1A"/>
                          </a:solidFill>
                        </a:rPr>
                        <a:t>Must be designed for Vissim, not ported</a:t>
                      </a:r>
                    </a:p>
                  </a:txBody>
                  <a:tcPr>
                    <a:solidFill>
                      <a:srgbClr val="F4F7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437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Two things worth remembering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Nothing is trusted until it is checked against SUMO on the same network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Three real bugs were found only by comparing numbers, not by reading code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• Right turn on red will NOT be a port of the SUMO logic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SUMO has no such concept - it folds it into the signal state</a:t>
            </a:r>
          </a:p>
          <a:p>
            <a:pPr lvl="1" algn="l">
              <a:spcAft>
                <a:spcPts val="800"/>
              </a:spcAft>
            </a:pPr>
            <a:r>
              <a:rPr sz="1800" b="0">
                <a:solidFill>
                  <a:srgbClr val="1A1A1A"/>
                </a:solidFill>
                <a:latin typeface="Calibri"/>
              </a:rPr>
              <a:t>– Vissim models it physically, so that stage must be designed fresh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2733</Words>
  <Application>Microsoft Office PowerPoint</Application>
  <PresentationFormat>Widescreen</PresentationFormat>
  <Paragraphs>295</Paragraphs>
  <Slides>31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Saroj, Abhilasha</cp:lastModifiedBy>
  <cp:revision>1</cp:revision>
  <dcterms:created xsi:type="dcterms:W3CDTF">2013-01-27T09:14:16Z</dcterms:created>
  <dcterms:modified xsi:type="dcterms:W3CDTF">2026-08-03T16:11:31Z</dcterms:modified>
  <cp:category/>
</cp:coreProperties>
</file>