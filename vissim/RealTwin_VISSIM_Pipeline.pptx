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1" d="100"/>
          <a:sy n="101" d="100"/>
        </p:scale>
        <p:origin x="876"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4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roj, Abhilasha" userId="d67c2eea-89d4-45fa-9ce0-c1ad439feab6" providerId="ADAL" clId="{1F9C6C7C-1283-4544-9D6E-4D9C42D7FCA5}"/>
    <pc:docChg chg="modSld">
      <pc:chgData name="Saroj, Abhilasha" userId="d67c2eea-89d4-45fa-9ce0-c1ad439feab6" providerId="ADAL" clId="{1F9C6C7C-1283-4544-9D6E-4D9C42D7FCA5}" dt="2026-08-10T15:13:29.144" v="0" actId="20577"/>
      <pc:docMkLst>
        <pc:docMk/>
      </pc:docMkLst>
      <pc:sldChg chg="modSp mod">
        <pc:chgData name="Saroj, Abhilasha" userId="d67c2eea-89d4-45fa-9ce0-c1ad439feab6" providerId="ADAL" clId="{1F9C6C7C-1283-4544-9D6E-4D9C42D7FCA5}" dt="2026-08-10T15:13:29.144" v="0" actId="20577"/>
        <pc:sldMkLst>
          <pc:docMk/>
          <pc:sldMk cId="0" sldId="262"/>
        </pc:sldMkLst>
        <pc:spChg chg="mod">
          <ac:chgData name="Saroj, Abhilasha" userId="d67c2eea-89d4-45fa-9ce0-c1ad439feab6" providerId="ADAL" clId="{1F9C6C7C-1283-4544-9D6E-4D9C42D7FCA5}" dt="2026-08-10T15:13:29.144" v="0" actId="20577"/>
          <ac:spMkLst>
            <pc:docMk/>
            <pc:sldMk cId="0" sldId="262"/>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626DEF-B097-4EE9-9BB3-D8BB4D65195D}" type="datetimeFigureOut">
              <a:rPr lang="en-US" smtClean="0"/>
              <a:t>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445110-32E5-458A-900D-E00E6F521F09}" type="slidenum">
              <a:rPr lang="en-US" smtClean="0"/>
              <a:t>‹#›</a:t>
            </a:fld>
            <a:endParaRPr lang="en-US"/>
          </a:p>
        </p:txBody>
      </p:sp>
    </p:spTree>
    <p:extLst>
      <p:ext uri="{BB962C8B-B14F-4D97-AF65-F5344CB8AC3E}">
        <p14:creationId xmlns:p14="http://schemas.microsoft.com/office/powerpoint/2010/main" val="28495138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aim is parity: same inputs, same logic, same numbers. That is what lets a difference in results be attributed to the simulator rather than to the model build.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Stages 1 to 4 are complete and checked against the SUMO pipeline on the same corridor.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Chattanooga has 10 junctions, 34 approaches and 104 movements. Every later stage is expressed per movement.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name-based method was a dead end for anyone not starting from SUMO. Worse, it would have failed silently and fallen back to guessing by distance.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key portability change. Chattanooga: 186 roads, 17 junctions, 127 roads inside one and 59 ordinary roads - which matches exactly what the old method found, from a completely different source.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two methods partition the links identically. Only the labels differ, because OpenDRIVE numbers junctions its own way.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Node membership is 25 links at the largest junction against 17 internal ones, because a node is a polygon over the intersection and approaches poke into it. Useful as a check, not as the source.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Measuring at the two ends nearest the junction gives a clean angle for the manoeuvre. Our bearings agree with SUMO's to a mean of 0.07 degrees, computed completely independently.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20 degree cut is the one judgement call, inherited from the SUMO side. It is worth revisiting on a network where it can be checked.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337.5 is where a 45-degree sector centred on north begins, so a road pointing 350 degrees sorts first with the other northbound legs instead of last. The formula is taken from RealTwin's SUMO code so both tables sort the same way.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camera file for this intersection reports EB, SB and WB movements and no northbound ones, so those three names are handed out in order. Note link 17 points south-WEST but is called southbound - because that is what the camera operator called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purpose as the SUMO MatchupTable, and laid out so columns A to N sit in the same order, with one Vissim-only column parked at the end for the internal links a movement crosses.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ordering rule is what catches a misclassified turn without needing anything to compare against.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 cells out of 104 rows. Those 13 are field knowledge - which camera watches which intersection - and cannot be derived. RealTwin's SUMO flow asks for exactly the same 13.</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Running RealTwin's own generator over the committed SUMO table changes 11 cells, so that file is not purely generated either. Any pipeline of this kind needs a durable escape hatch.</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Recording the mapping rather than depending on it. netconvert happens to write the SUMO junction ID into the OpenDRIVE junction's name field, which is where the translation comes from - but that field is optional in the standard, so the pipeline never reads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Written by stage 1 as &lt;name&gt;_junctions.csv. The seven 'J' entries are places SUMO created a node for a lane drop or name change, not intersections; they fail the three-approach test.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Generated with no SUMO file open: 13 cells typed by hand, everything else from the Vissim network and the raw camera and Synchro files. The SUMO table was opened afterwards only to score the result.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Periods with no data are written as zero rather than left blank, so a gap cannot silently inherit the previous period's volume.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SUMO's network has 18 links nothing feeds, but its flow file writes only 16 - it skips the same two stubs.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bug that left entry link 2 empty while overloading the two counted approaches downstream of it.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entry link SUMO gives traffic to has a Vissim vehicle input with an identical 15-minute profile, to the vehicle. Before the fixes this was 9 of 12.</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last rule drives the whole design. A marker placed where vehicles are still on an earlier route has its turn shares silently discarded.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also makes calibration easy: changing a turn percentage later is editing one number, not adding network objects and re-checking placement.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Recomputed from the committed code: junction 2's marker gains 353 m, junction 5's 115 m, junction 10's 83 m, junction 9's 81 m, junction 15's 80 m, junction 4's 43 m and junction 7's 23 m. The walk only crosses a road where traffic cannot branch off, or vehicles not heading for the junction would be given a turn through it. Notice is measured from the decision to the stop bar, so it includes the length of the links skipped plus where the marker now sits on the one it landed 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Vissim's own formula: 5 m of road per lane change plus a base distance. Link 47 is five lanes in thirteen metres. The simulation reported 56 warnings of vehicles failing to reach their turn.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documented answer to the 45.8 m median approach against a 200 m lane-change distance. It is the modeller's call, so the pipeline never turns it on by itself. Verified: 34 of 34 decisions combined when asked, 0 when not. Combined and uncombined are different models, so they are written to chatt_demand_combined.inpx and chatt_demand.inpx and can be opened side by side; sharing one name meant the second run silently replaced the first.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why the comparison work was worth the effort. The failure mode here is silence, not error messages.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of the three historical defects would have been caught this way. The third, the empty entry link, would not - that gap is known and stated rather than papered over.</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Chattanooga produces four notes about U-turns at three-leg junctions, two warnings about movements the network lacks, and one flow imbalance of -28 percent between junctions 8 and 10 - most likely the shopping mall entrances between them.</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through stage 4 is written into the Vissim model and reproducible from scripts.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comparison lesson is the general one: an aggregate agreeing does not mean the parts agree.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194560"/>
            <a:ext cx="12191695" cy="246888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468880"/>
            <a:ext cx="10698480" cy="1463040"/>
          </a:xfrm>
          <a:prstGeom prst="rect">
            <a:avLst/>
          </a:prstGeom>
          <a:noFill/>
        </p:spPr>
        <p:txBody>
          <a:bodyPr wrap="square">
            <a:spAutoFit/>
          </a:bodyPr>
          <a:lstStyle/>
          <a:p>
            <a:pPr algn="l"/>
            <a:r>
              <a:rPr sz="4000" b="1">
                <a:solidFill>
                  <a:srgbClr val="FFFFFF"/>
                </a:solidFill>
                <a:latin typeface="Calibri"/>
              </a:rPr>
              <a:t>RealTwin VISSIM Pipeline</a:t>
            </a:r>
          </a:p>
        </p:txBody>
      </p:sp>
      <p:sp>
        <p:nvSpPr>
          <p:cNvPr id="4" name="TextBox 3"/>
          <p:cNvSpPr txBox="1"/>
          <p:nvPr/>
        </p:nvSpPr>
        <p:spPr>
          <a:xfrm>
            <a:off x="731520" y="4709160"/>
            <a:ext cx="10698480" cy="731520"/>
          </a:xfrm>
          <a:prstGeom prst="rect">
            <a:avLst/>
          </a:prstGeom>
          <a:noFill/>
        </p:spPr>
        <p:txBody>
          <a:bodyPr wrap="none">
            <a:spAutoFit/>
          </a:bodyPr>
          <a:lstStyle/>
          <a:p>
            <a:pPr algn="l"/>
            <a:r>
              <a:rPr sz="2000" b="1">
                <a:solidFill>
                  <a:srgbClr val="2166AC"/>
                </a:solidFill>
                <a:latin typeface="Calibri"/>
              </a:rPr>
              <a:t>How the network, MatchupTable, demand and turn routing are built  |  Oak Ridge National Laboratory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743200"/>
            <a:ext cx="10515600" cy="1280160"/>
          </a:xfrm>
          <a:prstGeom prst="rect">
            <a:avLst/>
          </a:prstGeom>
          <a:noFill/>
        </p:spPr>
        <p:txBody>
          <a:bodyPr wrap="square">
            <a:spAutoFit/>
          </a:bodyPr>
          <a:lstStyle/>
          <a:p>
            <a:pPr algn="l"/>
            <a:r>
              <a:rPr sz="3400" b="1">
                <a:solidFill>
                  <a:srgbClr val="FFFFFF"/>
                </a:solidFill>
                <a:latin typeface="Calibri"/>
              </a:rPr>
              <a:t>Overview</a:t>
            </a:r>
          </a:p>
        </p:txBody>
      </p:sp>
      <p:sp>
        <p:nvSpPr>
          <p:cNvPr id="4" name="TextBox 3"/>
          <p:cNvSpPr txBox="1"/>
          <p:nvPr/>
        </p:nvSpPr>
        <p:spPr>
          <a:xfrm>
            <a:off x="822960" y="4023360"/>
            <a:ext cx="10515600" cy="731520"/>
          </a:xfrm>
          <a:prstGeom prst="rect">
            <a:avLst/>
          </a:prstGeom>
          <a:noFill/>
        </p:spPr>
        <p:txBody>
          <a:bodyPr wrap="none">
            <a:spAutoFit/>
          </a:bodyPr>
          <a:lstStyle/>
          <a:p>
            <a:pPr algn="l"/>
            <a:r>
              <a:rPr sz="1800" b="0">
                <a:solidFill>
                  <a:srgbClr val="BBCCE0"/>
                </a:solidFill>
                <a:latin typeface="Calibri"/>
              </a:rPr>
              <a:t>What the pipeline does, and the one idea behind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What we are building</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A VISSIM version of the RealTwin SUMO workflow, driven over the Vissim COM API</a:t>
            </a:r>
          </a:p>
          <a:p>
            <a:pPr algn="l">
              <a:spcAft>
                <a:spcPts val="800"/>
              </a:spcAft>
            </a:pPr>
            <a:r>
              <a:rPr sz="1800" b="0">
                <a:solidFill>
                  <a:srgbClr val="1A1A1A"/>
                </a:solidFill>
                <a:latin typeface="Calibri"/>
              </a:rPr>
              <a:t>• Inputs: a road network, turn counts from GridSmart cameras, signal timings from Synchro</a:t>
            </a:r>
          </a:p>
          <a:p>
            <a:pPr algn="l">
              <a:spcAft>
                <a:spcPts val="800"/>
              </a:spcAft>
            </a:pPr>
            <a:r>
              <a:rPr sz="1800" b="0">
                <a:solidFill>
                  <a:srgbClr val="1A1A1A"/>
                </a:solidFill>
                <a:latin typeface="Calibri"/>
              </a:rPr>
              <a:t>• Output: a Vissim model loaded with traffic, ready to simulate</a:t>
            </a:r>
          </a:p>
          <a:p>
            <a:pPr algn="l">
              <a:spcAft>
                <a:spcPts val="800"/>
              </a:spcAft>
            </a:pPr>
            <a:r>
              <a:rPr sz="1800" b="0">
                <a:solidFill>
                  <a:srgbClr val="1A1A1A"/>
                </a:solidFill>
                <a:latin typeface="Calibri"/>
              </a:rPr>
              <a:t>• Same method as the SUMO pipeline, so results can be compared simulator to simulator</a:t>
            </a:r>
          </a:p>
          <a:p>
            <a:pPr algn="l">
              <a:spcAft>
                <a:spcPts val="800"/>
              </a:spcAft>
            </a:pPr>
            <a:r>
              <a:rPr sz="1800" b="0">
                <a:solidFill>
                  <a:srgbClr val="1A1A1A"/>
                </a:solidFill>
                <a:latin typeface="Calibri"/>
              </a:rPr>
              <a:t>• Built and tested against PTV Vissim 2026 on the Chattanooga corridor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The stages</a:t>
            </a:r>
          </a:p>
        </p:txBody>
      </p:sp>
      <p:graphicFrame>
        <p:nvGraphicFramePr>
          <p:cNvPr id="4" name="Table 3"/>
          <p:cNvGraphicFramePr>
            <a:graphicFrameLocks noGrp="1"/>
          </p:cNvGraphicFramePr>
          <p:nvPr/>
        </p:nvGraphicFramePr>
        <p:xfrm>
          <a:off x="548640" y="1371600"/>
          <a:ext cx="11064240" cy="2926080"/>
        </p:xfrm>
        <a:graphic>
          <a:graphicData uri="http://schemas.openxmlformats.org/drawingml/2006/table">
            <a:tbl>
              <a:tblPr firstRow="1" bandRow="1">
                <a:tableStyleId>{5C22544A-7EE6-4342-B048-85BDC9FD1C3A}</a:tableStyleId>
              </a:tblPr>
              <a:tblGrid>
                <a:gridCol w="2766060">
                  <a:extLst>
                    <a:ext uri="{9D8B030D-6E8A-4147-A177-3AD203B41FA5}">
                      <a16:colId xmlns:a16="http://schemas.microsoft.com/office/drawing/2014/main" val="20000"/>
                    </a:ext>
                  </a:extLst>
                </a:gridCol>
                <a:gridCol w="2766060">
                  <a:extLst>
                    <a:ext uri="{9D8B030D-6E8A-4147-A177-3AD203B41FA5}">
                      <a16:colId xmlns:a16="http://schemas.microsoft.com/office/drawing/2014/main" val="20001"/>
                    </a:ext>
                  </a:extLst>
                </a:gridCol>
                <a:gridCol w="2766060">
                  <a:extLst>
                    <a:ext uri="{9D8B030D-6E8A-4147-A177-3AD203B41FA5}">
                      <a16:colId xmlns:a16="http://schemas.microsoft.com/office/drawing/2014/main" val="20002"/>
                    </a:ext>
                  </a:extLst>
                </a:gridCol>
                <a:gridCol w="2766060">
                  <a:extLst>
                    <a:ext uri="{9D8B030D-6E8A-4147-A177-3AD203B41FA5}">
                      <a16:colId xmlns:a16="http://schemas.microsoft.com/office/drawing/2014/main" val="20003"/>
                    </a:ext>
                  </a:extLst>
                </a:gridCol>
              </a:tblGrid>
              <a:tr h="365760">
                <a:tc>
                  <a:txBody>
                    <a:bodyPr/>
                    <a:lstStyle/>
                    <a:p>
                      <a:r>
                        <a:rPr sz="1400" b="1">
                          <a:solidFill>
                            <a:srgbClr val="FFFFFF"/>
                          </a:solidFill>
                        </a:rPr>
                        <a:t>#</a:t>
                      </a:r>
                    </a:p>
                  </a:txBody>
                  <a:tcPr>
                    <a:solidFill>
                      <a:srgbClr val="14375E"/>
                    </a:solidFill>
                  </a:tcPr>
                </a:tc>
                <a:tc>
                  <a:txBody>
                    <a:bodyPr/>
                    <a:lstStyle/>
                    <a:p>
                      <a:r>
                        <a:rPr sz="1400" b="1">
                          <a:solidFill>
                            <a:srgbClr val="FFFFFF"/>
                          </a:solidFill>
                        </a:rPr>
                        <a:t>Stage</a:t>
                      </a:r>
                    </a:p>
                  </a:txBody>
                  <a:tcPr>
                    <a:solidFill>
                      <a:srgbClr val="14375E"/>
                    </a:solidFill>
                  </a:tcPr>
                </a:tc>
                <a:tc>
                  <a:txBody>
                    <a:bodyPr/>
                    <a:lstStyle/>
                    <a:p>
                      <a:r>
                        <a:rPr sz="1400" b="1">
                          <a:solidFill>
                            <a:srgbClr val="FFFFFF"/>
                          </a:solidFill>
                        </a:rPr>
                        <a:t>Produces</a:t>
                      </a:r>
                    </a:p>
                  </a:txBody>
                  <a:tcPr>
                    <a:solidFill>
                      <a:srgbClr val="14375E"/>
                    </a:solidFill>
                  </a:tcPr>
                </a:tc>
                <a:tc>
                  <a:txBody>
                    <a:bodyPr/>
                    <a:lstStyle/>
                    <a:p>
                      <a:r>
                        <a:rPr sz="1400" b="1">
                          <a:solidFill>
                            <a:srgbClr val="FFFFFF"/>
                          </a:solidFill>
                        </a:rPr>
                        <a:t>State</a:t>
                      </a:r>
                    </a:p>
                  </a:txBody>
                  <a:tcPr>
                    <a:solidFill>
                      <a:srgbClr val="14375E"/>
                    </a:solidFill>
                  </a:tcPr>
                </a:tc>
                <a:extLst>
                  <a:ext uri="{0D108BD9-81ED-4DB2-BD59-A6C34878D82A}">
                    <a16:rowId xmlns:a16="http://schemas.microsoft.com/office/drawing/2014/main" val="10000"/>
                  </a:ext>
                </a:extLst>
              </a:tr>
              <a:tr h="365760">
                <a:tc>
                  <a:txBody>
                    <a:bodyPr/>
                    <a:lstStyle/>
                    <a:p>
                      <a:r>
                        <a:rPr sz="1300">
                          <a:solidFill>
                            <a:srgbClr val="1A1A1A"/>
                          </a:solidFill>
                        </a:rPr>
                        <a:t>1</a:t>
                      </a:r>
                    </a:p>
                  </a:txBody>
                  <a:tcPr>
                    <a:solidFill>
                      <a:srgbClr val="F4F7FB"/>
                    </a:solidFill>
                  </a:tcPr>
                </a:tc>
                <a:tc>
                  <a:txBody>
                    <a:bodyPr/>
                    <a:lstStyle/>
                    <a:p>
                      <a:r>
                        <a:rPr sz="1300">
                          <a:solidFill>
                            <a:srgbClr val="1A1A1A"/>
                          </a:solidFill>
                        </a:rPr>
                        <a:t>Import network</a:t>
                      </a:r>
                    </a:p>
                  </a:txBody>
                  <a:tcPr>
                    <a:solidFill>
                      <a:srgbClr val="F4F7FB"/>
                    </a:solidFill>
                  </a:tcPr>
                </a:tc>
                <a:tc>
                  <a:txBody>
                    <a:bodyPr/>
                    <a:lstStyle/>
                    <a:p>
                      <a:r>
                        <a:rPr sz="1300">
                          <a:solidFill>
                            <a:srgbClr val="1A1A1A"/>
                          </a:solidFill>
                        </a:rPr>
                        <a:t>Vissim network + list of turn movements</a:t>
                      </a:r>
                    </a:p>
                  </a:txBody>
                  <a:tcPr>
                    <a:solidFill>
                      <a:srgbClr val="F4F7FB"/>
                    </a:solidFill>
                  </a:tcPr>
                </a:tc>
                <a:tc>
                  <a:txBody>
                    <a:bodyPr/>
                    <a:lstStyle/>
                    <a:p>
                      <a:r>
                        <a:rPr sz="1300">
                          <a:solidFill>
                            <a:srgbClr val="1A1A1A"/>
                          </a:solidFill>
                        </a:rPr>
                        <a:t>Done</a:t>
                      </a:r>
                    </a:p>
                  </a:txBody>
                  <a:tcPr>
                    <a:solidFill>
                      <a:srgbClr val="F4F7FB"/>
                    </a:solidFill>
                  </a:tcPr>
                </a:tc>
                <a:extLst>
                  <a:ext uri="{0D108BD9-81ED-4DB2-BD59-A6C34878D82A}">
                    <a16:rowId xmlns:a16="http://schemas.microsoft.com/office/drawing/2014/main" val="10001"/>
                  </a:ext>
                </a:extLst>
              </a:tr>
              <a:tr h="365760">
                <a:tc>
                  <a:txBody>
                    <a:bodyPr/>
                    <a:lstStyle/>
                    <a:p>
                      <a:r>
                        <a:rPr sz="1300">
                          <a:solidFill>
                            <a:srgbClr val="1A1A1A"/>
                          </a:solidFill>
                        </a:rPr>
                        <a:t>2</a:t>
                      </a:r>
                    </a:p>
                  </a:txBody>
                  <a:tcPr>
                    <a:solidFill>
                      <a:srgbClr val="FFFFFF"/>
                    </a:solidFill>
                  </a:tcPr>
                </a:tc>
                <a:tc>
                  <a:txBody>
                    <a:bodyPr/>
                    <a:lstStyle/>
                    <a:p>
                      <a:r>
                        <a:rPr sz="1300">
                          <a:solidFill>
                            <a:srgbClr val="1A1A1A"/>
                          </a:solidFill>
                        </a:rPr>
                        <a:t>MatchupTable</a:t>
                      </a:r>
                    </a:p>
                  </a:txBody>
                  <a:tcPr>
                    <a:solidFill>
                      <a:srgbClr val="FFFFFF"/>
                    </a:solidFill>
                  </a:tcPr>
                </a:tc>
                <a:tc>
                  <a:txBody>
                    <a:bodyPr/>
                    <a:lstStyle/>
                    <a:p>
                      <a:r>
                        <a:rPr sz="1300">
                          <a:solidFill>
                            <a:srgbClr val="1A1A1A"/>
                          </a:solidFill>
                        </a:rPr>
                        <a:t>Sheet linking network, counts and signals</a:t>
                      </a:r>
                    </a:p>
                  </a:txBody>
                  <a:tcPr>
                    <a:solidFill>
                      <a:srgbClr val="FFFFFF"/>
                    </a:solidFill>
                  </a:tcPr>
                </a:tc>
                <a:tc>
                  <a:txBody>
                    <a:bodyPr/>
                    <a:lstStyle/>
                    <a:p>
                      <a:r>
                        <a:rPr sz="1300">
                          <a:solidFill>
                            <a:srgbClr val="1A1A1A"/>
                          </a:solidFill>
                        </a:rPr>
                        <a:t>Done</a:t>
                      </a:r>
                    </a:p>
                  </a:txBody>
                  <a:tcPr>
                    <a:solidFill>
                      <a:srgbClr val="FFFFFF"/>
                    </a:solidFill>
                  </a:tcPr>
                </a:tc>
                <a:extLst>
                  <a:ext uri="{0D108BD9-81ED-4DB2-BD59-A6C34878D82A}">
                    <a16:rowId xmlns:a16="http://schemas.microsoft.com/office/drawing/2014/main" val="10002"/>
                  </a:ext>
                </a:extLst>
              </a:tr>
              <a:tr h="365760">
                <a:tc>
                  <a:txBody>
                    <a:bodyPr/>
                    <a:lstStyle/>
                    <a:p>
                      <a:r>
                        <a:rPr sz="1300">
                          <a:solidFill>
                            <a:srgbClr val="1A1A1A"/>
                          </a:solidFill>
                        </a:rPr>
                        <a:t>3</a:t>
                      </a:r>
                    </a:p>
                  </a:txBody>
                  <a:tcPr>
                    <a:solidFill>
                      <a:srgbClr val="F4F7FB"/>
                    </a:solidFill>
                  </a:tcPr>
                </a:tc>
                <a:tc>
                  <a:txBody>
                    <a:bodyPr/>
                    <a:lstStyle/>
                    <a:p>
                      <a:r>
                        <a:rPr sz="1300">
                          <a:solidFill>
                            <a:srgbClr val="1A1A1A"/>
                          </a:solidFill>
                        </a:rPr>
                        <a:t>Vehicle inputs</a:t>
                      </a:r>
                    </a:p>
                  </a:txBody>
                  <a:tcPr>
                    <a:solidFill>
                      <a:srgbClr val="F4F7FB"/>
                    </a:solidFill>
                  </a:tcPr>
                </a:tc>
                <a:tc>
                  <a:txBody>
                    <a:bodyPr/>
                    <a:lstStyle/>
                    <a:p>
                      <a:r>
                        <a:rPr sz="1300">
                          <a:solidFill>
                            <a:srgbClr val="1A1A1A"/>
                          </a:solidFill>
                        </a:rPr>
                        <a:t>Traffic entering the model</a:t>
                      </a:r>
                    </a:p>
                  </a:txBody>
                  <a:tcPr>
                    <a:solidFill>
                      <a:srgbClr val="F4F7FB"/>
                    </a:solidFill>
                  </a:tcPr>
                </a:tc>
                <a:tc>
                  <a:txBody>
                    <a:bodyPr/>
                    <a:lstStyle/>
                    <a:p>
                      <a:r>
                        <a:rPr sz="1300">
                          <a:solidFill>
                            <a:srgbClr val="1A1A1A"/>
                          </a:solidFill>
                        </a:rPr>
                        <a:t>Done</a:t>
                      </a:r>
                    </a:p>
                  </a:txBody>
                  <a:tcPr>
                    <a:solidFill>
                      <a:srgbClr val="F4F7FB"/>
                    </a:solidFill>
                  </a:tcPr>
                </a:tc>
                <a:extLst>
                  <a:ext uri="{0D108BD9-81ED-4DB2-BD59-A6C34878D82A}">
                    <a16:rowId xmlns:a16="http://schemas.microsoft.com/office/drawing/2014/main" val="10003"/>
                  </a:ext>
                </a:extLst>
              </a:tr>
              <a:tr h="365760">
                <a:tc>
                  <a:txBody>
                    <a:bodyPr/>
                    <a:lstStyle/>
                    <a:p>
                      <a:r>
                        <a:rPr sz="1300">
                          <a:solidFill>
                            <a:srgbClr val="1A1A1A"/>
                          </a:solidFill>
                        </a:rPr>
                        <a:t>4</a:t>
                      </a:r>
                    </a:p>
                  </a:txBody>
                  <a:tcPr>
                    <a:solidFill>
                      <a:srgbClr val="FFFFFF"/>
                    </a:solidFill>
                  </a:tcPr>
                </a:tc>
                <a:tc>
                  <a:txBody>
                    <a:bodyPr/>
                    <a:lstStyle/>
                    <a:p>
                      <a:r>
                        <a:rPr sz="1300">
                          <a:solidFill>
                            <a:srgbClr val="1A1A1A"/>
                          </a:solidFill>
                        </a:rPr>
                        <a:t>Turn routes</a:t>
                      </a:r>
                    </a:p>
                  </a:txBody>
                  <a:tcPr>
                    <a:solidFill>
                      <a:srgbClr val="FFFFFF"/>
                    </a:solidFill>
                  </a:tcPr>
                </a:tc>
                <a:tc>
                  <a:txBody>
                    <a:bodyPr/>
                    <a:lstStyle/>
                    <a:p>
                      <a:r>
                        <a:rPr sz="1300">
                          <a:solidFill>
                            <a:srgbClr val="1A1A1A"/>
                          </a:solidFill>
                        </a:rPr>
                        <a:t>Which way traffic turns, and in what proportion</a:t>
                      </a:r>
                    </a:p>
                  </a:txBody>
                  <a:tcPr>
                    <a:solidFill>
                      <a:srgbClr val="FFFFFF"/>
                    </a:solidFill>
                  </a:tcPr>
                </a:tc>
                <a:tc>
                  <a:txBody>
                    <a:bodyPr/>
                    <a:lstStyle/>
                    <a:p>
                      <a:r>
                        <a:rPr sz="1300">
                          <a:solidFill>
                            <a:srgbClr val="1A1A1A"/>
                          </a:solidFill>
                        </a:rPr>
                        <a:t>Done</a:t>
                      </a:r>
                    </a:p>
                  </a:txBody>
                  <a:tcPr>
                    <a:solidFill>
                      <a:srgbClr val="FFFFFF"/>
                    </a:solidFill>
                  </a:tcPr>
                </a:tc>
                <a:extLst>
                  <a:ext uri="{0D108BD9-81ED-4DB2-BD59-A6C34878D82A}">
                    <a16:rowId xmlns:a16="http://schemas.microsoft.com/office/drawing/2014/main" val="10004"/>
                  </a:ext>
                </a:extLst>
              </a:tr>
              <a:tr h="365760">
                <a:tc>
                  <a:txBody>
                    <a:bodyPr/>
                    <a:lstStyle/>
                    <a:p>
                      <a:r>
                        <a:rPr sz="1300">
                          <a:solidFill>
                            <a:srgbClr val="1A1A1A"/>
                          </a:solidFill>
                        </a:rPr>
                        <a:t>5</a:t>
                      </a:r>
                    </a:p>
                  </a:txBody>
                  <a:tcPr>
                    <a:solidFill>
                      <a:srgbClr val="F4F7FB"/>
                    </a:solidFill>
                  </a:tcPr>
                </a:tc>
                <a:tc>
                  <a:txBody>
                    <a:bodyPr/>
                    <a:lstStyle/>
                    <a:p>
                      <a:r>
                        <a:rPr sz="1300">
                          <a:solidFill>
                            <a:srgbClr val="1A1A1A"/>
                          </a:solidFill>
                        </a:rPr>
                        <a:t>Signal control</a:t>
                      </a:r>
                    </a:p>
                  </a:txBody>
                  <a:tcPr>
                    <a:solidFill>
                      <a:srgbClr val="F4F7FB"/>
                    </a:solidFill>
                  </a:tcPr>
                </a:tc>
                <a:tc>
                  <a:txBody>
                    <a:bodyPr/>
                    <a:lstStyle/>
                    <a:p>
                      <a:r>
                        <a:rPr sz="1300">
                          <a:solidFill>
                            <a:srgbClr val="1A1A1A"/>
                          </a:solidFill>
                        </a:rPr>
                        <a:t>Traffic signal timings</a:t>
                      </a:r>
                    </a:p>
                  </a:txBody>
                  <a:tcPr>
                    <a:solidFill>
                      <a:srgbClr val="F4F7FB"/>
                    </a:solidFill>
                  </a:tcPr>
                </a:tc>
                <a:tc>
                  <a:txBody>
                    <a:bodyPr/>
                    <a:lstStyle/>
                    <a:p>
                      <a:r>
                        <a:rPr sz="1300">
                          <a:solidFill>
                            <a:srgbClr val="1A1A1A"/>
                          </a:solidFill>
                        </a:rPr>
                        <a:t>Not started</a:t>
                      </a:r>
                    </a:p>
                  </a:txBody>
                  <a:tcPr>
                    <a:solidFill>
                      <a:srgbClr val="F4F7FB"/>
                    </a:solidFill>
                  </a:tcPr>
                </a:tc>
                <a:extLst>
                  <a:ext uri="{0D108BD9-81ED-4DB2-BD59-A6C34878D82A}">
                    <a16:rowId xmlns:a16="http://schemas.microsoft.com/office/drawing/2014/main" val="10005"/>
                  </a:ext>
                </a:extLst>
              </a:tr>
              <a:tr h="365760">
                <a:tc>
                  <a:txBody>
                    <a:bodyPr/>
                    <a:lstStyle/>
                    <a:p>
                      <a:r>
                        <a:rPr sz="1300">
                          <a:solidFill>
                            <a:srgbClr val="1A1A1A"/>
                          </a:solidFill>
                        </a:rPr>
                        <a:t>6</a:t>
                      </a:r>
                    </a:p>
                  </a:txBody>
                  <a:tcPr>
                    <a:solidFill>
                      <a:srgbClr val="FFFFFF"/>
                    </a:solidFill>
                  </a:tcPr>
                </a:tc>
                <a:tc>
                  <a:txBody>
                    <a:bodyPr/>
                    <a:lstStyle/>
                    <a:p>
                      <a:r>
                        <a:rPr sz="1300">
                          <a:solidFill>
                            <a:srgbClr val="1A1A1A"/>
                          </a:solidFill>
                        </a:rPr>
                        <a:t>Right turn on red</a:t>
                      </a:r>
                    </a:p>
                  </a:txBody>
                  <a:tcPr>
                    <a:solidFill>
                      <a:srgbClr val="FFFFFF"/>
                    </a:solidFill>
                  </a:tcPr>
                </a:tc>
                <a:tc>
                  <a:txBody>
                    <a:bodyPr/>
                    <a:lstStyle/>
                    <a:p>
                      <a:r>
                        <a:rPr sz="1300">
                          <a:solidFill>
                            <a:srgbClr val="1A1A1A"/>
                          </a:solidFill>
                        </a:rPr>
                        <a:t>RTOR and stop control</a:t>
                      </a:r>
                    </a:p>
                  </a:txBody>
                  <a:tcPr>
                    <a:solidFill>
                      <a:srgbClr val="FFFFFF"/>
                    </a:solidFill>
                  </a:tcPr>
                </a:tc>
                <a:tc>
                  <a:txBody>
                    <a:bodyPr/>
                    <a:lstStyle/>
                    <a:p>
                      <a:r>
                        <a:rPr sz="1300">
                          <a:solidFill>
                            <a:srgbClr val="1A1A1A"/>
                          </a:solidFill>
                        </a:rPr>
                        <a:t>Not started</a:t>
                      </a:r>
                    </a:p>
                  </a:txBody>
                  <a:tcPr>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The words we use</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Link - a piece of road. Vissim splits a network into many short links</a:t>
            </a:r>
          </a:p>
          <a:p>
            <a:pPr algn="l">
              <a:spcAft>
                <a:spcPts val="800"/>
              </a:spcAft>
            </a:pPr>
            <a:r>
              <a:rPr sz="1800" b="0">
                <a:solidFill>
                  <a:srgbClr val="1A1A1A"/>
                </a:solidFill>
                <a:latin typeface="Calibri"/>
              </a:rPr>
              <a:t>• Connector - a short stitch joining one link to the next (about 1.5 m here)</a:t>
            </a:r>
          </a:p>
          <a:p>
            <a:pPr algn="l">
              <a:spcAft>
                <a:spcPts val="800"/>
              </a:spcAft>
            </a:pPr>
            <a:r>
              <a:rPr sz="1800" b="0">
                <a:solidFill>
                  <a:srgbClr val="1A1A1A"/>
                </a:solidFill>
                <a:latin typeface="Calibri"/>
              </a:rPr>
              <a:t>• Junction - an intersection. Vissim fills it with small internal links</a:t>
            </a:r>
          </a:p>
          <a:p>
            <a:pPr algn="l">
              <a:spcAft>
                <a:spcPts val="800"/>
              </a:spcAft>
            </a:pPr>
            <a:r>
              <a:rPr sz="1800" b="0">
                <a:solidFill>
                  <a:srgbClr val="1A1A1A"/>
                </a:solidFill>
                <a:latin typeface="Calibri"/>
              </a:rPr>
              <a:t>• Approach - the link a vehicle arrives on at a junction</a:t>
            </a:r>
          </a:p>
          <a:p>
            <a:pPr algn="l">
              <a:spcAft>
                <a:spcPts val="800"/>
              </a:spcAft>
            </a:pPr>
            <a:r>
              <a:rPr sz="1800" b="0">
                <a:solidFill>
                  <a:srgbClr val="1A1A1A"/>
                </a:solidFill>
                <a:latin typeface="Calibri"/>
              </a:rPr>
              <a:t>• Movement - one turn: from one approach to one exit. The unit of everything</a:t>
            </a:r>
          </a:p>
          <a:p>
            <a:pPr algn="l">
              <a:spcAft>
                <a:spcPts val="800"/>
              </a:spcAft>
            </a:pPr>
            <a:r>
              <a:rPr sz="1800" b="0">
                <a:solidFill>
                  <a:srgbClr val="1A1A1A"/>
                </a:solidFill>
                <a:latin typeface="Calibri"/>
              </a:rPr>
              <a:t>• Bearing - the compass direction a piece of road points, in degrees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743200"/>
            <a:ext cx="10515600" cy="1280160"/>
          </a:xfrm>
          <a:prstGeom prst="rect">
            <a:avLst/>
          </a:prstGeom>
          <a:noFill/>
        </p:spPr>
        <p:txBody>
          <a:bodyPr wrap="square">
            <a:spAutoFit/>
          </a:bodyPr>
          <a:lstStyle/>
          <a:p>
            <a:pPr algn="l"/>
            <a:r>
              <a:rPr sz="3400" b="1">
                <a:solidFill>
                  <a:srgbClr val="FFFFFF"/>
                </a:solidFill>
                <a:latin typeface="Calibri"/>
              </a:rPr>
              <a:t>Step 1</a:t>
            </a:r>
          </a:p>
        </p:txBody>
      </p:sp>
      <p:sp>
        <p:nvSpPr>
          <p:cNvPr id="4" name="TextBox 3"/>
          <p:cNvSpPr txBox="1"/>
          <p:nvPr/>
        </p:nvSpPr>
        <p:spPr>
          <a:xfrm>
            <a:off x="822960" y="4023360"/>
            <a:ext cx="10515600" cy="731520"/>
          </a:xfrm>
          <a:prstGeom prst="rect">
            <a:avLst/>
          </a:prstGeom>
          <a:noFill/>
        </p:spPr>
        <p:txBody>
          <a:bodyPr wrap="none">
            <a:spAutoFit/>
          </a:bodyPr>
          <a:lstStyle/>
          <a:p>
            <a:pPr algn="l"/>
            <a:r>
              <a:rPr sz="1800" b="0">
                <a:solidFill>
                  <a:srgbClr val="BBCCE0"/>
                </a:solidFill>
                <a:latin typeface="Calibri"/>
              </a:rPr>
              <a:t>How we find a junction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The problem</a:t>
            </a:r>
          </a:p>
        </p:txBody>
      </p:sp>
      <p:sp>
        <p:nvSpPr>
          <p:cNvPr id="4" name="TextBox 3"/>
          <p:cNvSpPr txBox="1"/>
          <p:nvPr/>
        </p:nvSpPr>
        <p:spPr>
          <a:xfrm>
            <a:off x="640080" y="1371600"/>
            <a:ext cx="10972800" cy="2267287"/>
          </a:xfrm>
          <a:prstGeom prst="rect">
            <a:avLst/>
          </a:prstGeom>
          <a:noFill/>
        </p:spPr>
        <p:txBody>
          <a:bodyPr wrap="square">
            <a:spAutoFit/>
          </a:bodyPr>
          <a:lstStyle/>
          <a:p>
            <a:pPr algn="l">
              <a:spcAft>
                <a:spcPts val="800"/>
              </a:spcAft>
            </a:pPr>
            <a:r>
              <a:rPr sz="1800" b="0" dirty="0">
                <a:solidFill>
                  <a:srgbClr val="1A1A1A"/>
                </a:solidFill>
                <a:latin typeface="Calibri"/>
              </a:rPr>
              <a:t>• </a:t>
            </a:r>
            <a:r>
              <a:rPr sz="1800" b="0" dirty="0" err="1">
                <a:solidFill>
                  <a:srgbClr val="1A1A1A"/>
                </a:solidFill>
                <a:latin typeface="Calibri"/>
              </a:rPr>
              <a:t>Vissim</a:t>
            </a:r>
            <a:r>
              <a:rPr sz="1800" b="0" dirty="0">
                <a:solidFill>
                  <a:srgbClr val="1A1A1A"/>
                </a:solidFill>
                <a:latin typeface="Calibri"/>
              </a:rPr>
              <a:t> renumbers everything when it imports a network</a:t>
            </a:r>
          </a:p>
          <a:p>
            <a:pPr algn="l">
              <a:spcAft>
                <a:spcPts val="800"/>
              </a:spcAft>
            </a:pPr>
            <a:r>
              <a:rPr sz="1800" b="0" dirty="0">
                <a:solidFill>
                  <a:srgbClr val="1A1A1A"/>
                </a:solidFill>
                <a:latin typeface="Calibri"/>
              </a:rPr>
              <a:t>• It also turns every road into a link, including the little roads inside a junction</a:t>
            </a:r>
          </a:p>
          <a:p>
            <a:pPr algn="l">
              <a:spcAft>
                <a:spcPts val="800"/>
              </a:spcAft>
            </a:pPr>
            <a:r>
              <a:rPr sz="1800" b="0" dirty="0">
                <a:solidFill>
                  <a:srgbClr val="1A1A1A"/>
                </a:solidFill>
                <a:latin typeface="Calibri"/>
              </a:rPr>
              <a:t>• So after import we have 441 links and no idea which belong to which intersection</a:t>
            </a:r>
          </a:p>
          <a:p>
            <a:pPr algn="l">
              <a:spcAft>
                <a:spcPts val="800"/>
              </a:spcAft>
            </a:pPr>
            <a:r>
              <a:rPr sz="1800" b="0" dirty="0">
                <a:solidFill>
                  <a:srgbClr val="1A1A1A"/>
                </a:solidFill>
                <a:latin typeface="Calibri"/>
              </a:rPr>
              <a:t>• First attempt: read the junction out of the link's name</a:t>
            </a:r>
          </a:p>
          <a:p>
            <a:pPr algn="l">
              <a:spcAft>
                <a:spcPts val="800"/>
              </a:spcAft>
            </a:pPr>
            <a:r>
              <a:rPr sz="1800" b="0" dirty="0">
                <a:solidFill>
                  <a:srgbClr val="1A1A1A"/>
                </a:solidFill>
                <a:latin typeface="Calibri"/>
              </a:rPr>
              <a:t>• That worked, but only because SUMO had written its own names into the file</a:t>
            </a:r>
          </a:p>
          <a:p>
            <a:pPr algn="l">
              <a:spcAft>
                <a:spcPts val="800"/>
              </a:spcAft>
            </a:pPr>
            <a:r>
              <a:rPr sz="1800" b="0" dirty="0">
                <a:solidFill>
                  <a:srgbClr val="1A1A1A"/>
                </a:solidFill>
                <a:latin typeface="Calibri"/>
              </a:rPr>
              <a:t>• A network from </a:t>
            </a:r>
            <a:r>
              <a:rPr sz="1800" b="0" dirty="0" err="1">
                <a:solidFill>
                  <a:srgbClr val="1A1A1A"/>
                </a:solidFill>
                <a:latin typeface="Calibri"/>
              </a:rPr>
              <a:t>RoadRunner</a:t>
            </a:r>
            <a:r>
              <a:rPr sz="1800" b="0" dirty="0">
                <a:solidFill>
                  <a:srgbClr val="1A1A1A"/>
                </a:solidFill>
                <a:latin typeface="Calibri"/>
              </a:rPr>
              <a:t>, CARLA or a survey firm has no such names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The fix: ask the OpenDRIVE file</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dirty="0">
                <a:solidFill>
                  <a:srgbClr val="1A1A1A"/>
                </a:solidFill>
                <a:latin typeface="Calibri"/>
              </a:rPr>
              <a:t>• </a:t>
            </a:r>
            <a:r>
              <a:rPr sz="1800" b="0" dirty="0" err="1">
                <a:solidFill>
                  <a:srgbClr val="1A1A1A"/>
                </a:solidFill>
                <a:latin typeface="Calibri"/>
              </a:rPr>
              <a:t>OpenDRIVE</a:t>
            </a:r>
            <a:r>
              <a:rPr sz="1800" b="0" dirty="0">
                <a:solidFill>
                  <a:srgbClr val="1A1A1A"/>
                </a:solidFill>
                <a:latin typeface="Calibri"/>
              </a:rPr>
              <a:t> is the standard format the network is handed to </a:t>
            </a:r>
            <a:r>
              <a:rPr sz="1800" b="0" dirty="0" err="1">
                <a:solidFill>
                  <a:srgbClr val="1A1A1A"/>
                </a:solidFill>
                <a:latin typeface="Calibri"/>
              </a:rPr>
              <a:t>Vissim</a:t>
            </a:r>
            <a:r>
              <a:rPr sz="1800" b="0" dirty="0">
                <a:solidFill>
                  <a:srgbClr val="1A1A1A"/>
                </a:solidFill>
                <a:latin typeface="Calibri"/>
              </a:rPr>
              <a:t> in</a:t>
            </a:r>
          </a:p>
          <a:p>
            <a:pPr algn="l">
              <a:spcAft>
                <a:spcPts val="800"/>
              </a:spcAft>
            </a:pPr>
            <a:r>
              <a:rPr sz="1800" b="0" dirty="0">
                <a:solidFill>
                  <a:srgbClr val="1A1A1A"/>
                </a:solidFill>
                <a:latin typeface="Calibri"/>
              </a:rPr>
              <a:t>• Every road in it carries a 'junction' tag: which junction it belongs to, or -1 for none</a:t>
            </a:r>
          </a:p>
          <a:p>
            <a:pPr algn="l">
              <a:spcAft>
                <a:spcPts val="800"/>
              </a:spcAft>
            </a:pPr>
            <a:r>
              <a:rPr sz="1800" b="0" dirty="0">
                <a:solidFill>
                  <a:srgbClr val="1A1A1A"/>
                </a:solidFill>
                <a:latin typeface="Calibri"/>
              </a:rPr>
              <a:t>• Both that tag and the junction's ID are REQUIRED by the standard</a:t>
            </a:r>
          </a:p>
          <a:p>
            <a:pPr algn="l">
              <a:spcAft>
                <a:spcPts val="800"/>
              </a:spcAft>
            </a:pPr>
            <a:r>
              <a:rPr sz="1800" b="0" dirty="0">
                <a:solidFill>
                  <a:srgbClr val="1A1A1A"/>
                </a:solidFill>
                <a:latin typeface="Calibri"/>
              </a:rPr>
              <a:t>• So every valid file has them, whoever produced it</a:t>
            </a:r>
          </a:p>
          <a:p>
            <a:pPr algn="l">
              <a:spcAft>
                <a:spcPts val="800"/>
              </a:spcAft>
            </a:pPr>
            <a:r>
              <a:rPr sz="1800" b="0" dirty="0">
                <a:solidFill>
                  <a:srgbClr val="1A1A1A"/>
                </a:solidFill>
                <a:latin typeface="Calibri"/>
              </a:rPr>
              <a:t>• </a:t>
            </a:r>
            <a:r>
              <a:rPr sz="1800" b="0" dirty="0" err="1">
                <a:solidFill>
                  <a:srgbClr val="1A1A1A"/>
                </a:solidFill>
                <a:latin typeface="Calibri"/>
              </a:rPr>
              <a:t>Vissim</a:t>
            </a:r>
            <a:r>
              <a:rPr sz="1800" b="0" dirty="0">
                <a:solidFill>
                  <a:srgbClr val="1A1A1A"/>
                </a:solidFill>
                <a:latin typeface="Calibri"/>
              </a:rPr>
              <a:t> names each imported link after the road it came from, e.g. '473-0-Right'</a:t>
            </a:r>
          </a:p>
          <a:p>
            <a:pPr algn="l">
              <a:spcAft>
                <a:spcPts val="800"/>
              </a:spcAft>
            </a:pPr>
            <a:r>
              <a:rPr sz="1800" b="0" dirty="0">
                <a:solidFill>
                  <a:srgbClr val="1A1A1A"/>
                </a:solidFill>
                <a:latin typeface="Calibri"/>
              </a:rPr>
              <a:t>• That road number is the bridge: file says road 473 is in junction 14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Checked: same answer, different route</a:t>
            </a:r>
          </a:p>
        </p:txBody>
      </p:sp>
      <p:graphicFrame>
        <p:nvGraphicFramePr>
          <p:cNvPr id="4" name="Table 3"/>
          <p:cNvGraphicFramePr>
            <a:graphicFrameLocks noGrp="1"/>
          </p:cNvGraphicFramePr>
          <p:nvPr/>
        </p:nvGraphicFramePr>
        <p:xfrm>
          <a:off x="548640" y="1371600"/>
          <a:ext cx="11064240" cy="2194560"/>
        </p:xfrm>
        <a:graphic>
          <a:graphicData uri="http://schemas.openxmlformats.org/drawingml/2006/table">
            <a:tbl>
              <a:tblPr firstRow="1" bandRow="1">
                <a:tableStyleId>{5C22544A-7EE6-4342-B048-85BDC9FD1C3A}</a:tableStyleId>
              </a:tblPr>
              <a:tblGrid>
                <a:gridCol w="3688080">
                  <a:extLst>
                    <a:ext uri="{9D8B030D-6E8A-4147-A177-3AD203B41FA5}">
                      <a16:colId xmlns:a16="http://schemas.microsoft.com/office/drawing/2014/main" val="20000"/>
                    </a:ext>
                  </a:extLst>
                </a:gridCol>
                <a:gridCol w="3688080">
                  <a:extLst>
                    <a:ext uri="{9D8B030D-6E8A-4147-A177-3AD203B41FA5}">
                      <a16:colId xmlns:a16="http://schemas.microsoft.com/office/drawing/2014/main" val="20001"/>
                    </a:ext>
                  </a:extLst>
                </a:gridCol>
                <a:gridCol w="3688080">
                  <a:extLst>
                    <a:ext uri="{9D8B030D-6E8A-4147-A177-3AD203B41FA5}">
                      <a16:colId xmlns:a16="http://schemas.microsoft.com/office/drawing/2014/main" val="20002"/>
                    </a:ext>
                  </a:extLst>
                </a:gridCol>
              </a:tblGrid>
              <a:tr h="365760">
                <a:tc>
                  <a:txBody>
                    <a:bodyPr/>
                    <a:lstStyle/>
                    <a:p>
                      <a:r>
                        <a:rPr sz="1400" b="1">
                          <a:solidFill>
                            <a:srgbClr val="FFFFFF"/>
                          </a:solidFill>
                        </a:rPr>
                        <a:t>What</a:t>
                      </a:r>
                    </a:p>
                  </a:txBody>
                  <a:tcPr>
                    <a:solidFill>
                      <a:srgbClr val="14375E"/>
                    </a:solidFill>
                  </a:tcPr>
                </a:tc>
                <a:tc>
                  <a:txBody>
                    <a:bodyPr/>
                    <a:lstStyle/>
                    <a:p>
                      <a:r>
                        <a:rPr sz="1400" b="1">
                          <a:solidFill>
                            <a:srgbClr val="FFFFFF"/>
                          </a:solidFill>
                        </a:rPr>
                        <a:t>From OpenDRIVE</a:t>
                      </a:r>
                    </a:p>
                  </a:txBody>
                  <a:tcPr>
                    <a:solidFill>
                      <a:srgbClr val="14375E"/>
                    </a:solidFill>
                  </a:tcPr>
                </a:tc>
                <a:tc>
                  <a:txBody>
                    <a:bodyPr/>
                    <a:lstStyle/>
                    <a:p>
                      <a:r>
                        <a:rPr sz="1400" b="1">
                          <a:solidFill>
                            <a:srgbClr val="FFFFFF"/>
                          </a:solidFill>
                        </a:rPr>
                        <a:t>From SUMO names (old)</a:t>
                      </a:r>
                    </a:p>
                  </a:txBody>
                  <a:tcPr>
                    <a:solidFill>
                      <a:srgbClr val="14375E"/>
                    </a:solidFill>
                  </a:tcPr>
                </a:tc>
                <a:extLst>
                  <a:ext uri="{0D108BD9-81ED-4DB2-BD59-A6C34878D82A}">
                    <a16:rowId xmlns:a16="http://schemas.microsoft.com/office/drawing/2014/main" val="10000"/>
                  </a:ext>
                </a:extLst>
              </a:tr>
              <a:tr h="365760">
                <a:tc>
                  <a:txBody>
                    <a:bodyPr/>
                    <a:lstStyle/>
                    <a:p>
                      <a:r>
                        <a:rPr sz="1300">
                          <a:solidFill>
                            <a:srgbClr val="1A1A1A"/>
                          </a:solidFill>
                        </a:rPr>
                        <a:t>Junction groups</a:t>
                      </a:r>
                    </a:p>
                  </a:txBody>
                  <a:tcPr>
                    <a:solidFill>
                      <a:srgbClr val="F4F7FB"/>
                    </a:solidFill>
                  </a:tcPr>
                </a:tc>
                <a:tc>
                  <a:txBody>
                    <a:bodyPr/>
                    <a:lstStyle/>
                    <a:p>
                      <a:r>
                        <a:rPr sz="1300">
                          <a:solidFill>
                            <a:srgbClr val="1A1A1A"/>
                          </a:solidFill>
                        </a:rPr>
                        <a:t>17</a:t>
                      </a:r>
                    </a:p>
                  </a:txBody>
                  <a:tcPr>
                    <a:solidFill>
                      <a:srgbClr val="F4F7FB"/>
                    </a:solidFill>
                  </a:tcPr>
                </a:tc>
                <a:tc>
                  <a:txBody>
                    <a:bodyPr/>
                    <a:lstStyle/>
                    <a:p>
                      <a:r>
                        <a:rPr sz="1300">
                          <a:solidFill>
                            <a:srgbClr val="1A1A1A"/>
                          </a:solidFill>
                        </a:rPr>
                        <a:t>17</a:t>
                      </a:r>
                    </a:p>
                  </a:txBody>
                  <a:tcPr>
                    <a:solidFill>
                      <a:srgbClr val="F4F7FB"/>
                    </a:solidFill>
                  </a:tcPr>
                </a:tc>
                <a:extLst>
                  <a:ext uri="{0D108BD9-81ED-4DB2-BD59-A6C34878D82A}">
                    <a16:rowId xmlns:a16="http://schemas.microsoft.com/office/drawing/2014/main" val="10001"/>
                  </a:ext>
                </a:extLst>
              </a:tr>
              <a:tr h="365760">
                <a:tc>
                  <a:txBody>
                    <a:bodyPr/>
                    <a:lstStyle/>
                    <a:p>
                      <a:r>
                        <a:rPr sz="1300">
                          <a:solidFill>
                            <a:srgbClr val="1A1A1A"/>
                          </a:solidFill>
                        </a:rPr>
                        <a:t>Same grouping of links</a:t>
                      </a:r>
                    </a:p>
                  </a:txBody>
                  <a:tcPr>
                    <a:solidFill>
                      <a:srgbClr val="FFFFFF"/>
                    </a:solidFill>
                  </a:tcPr>
                </a:tc>
                <a:tc>
                  <a:txBody>
                    <a:bodyPr/>
                    <a:lstStyle/>
                    <a:p>
                      <a:r>
                        <a:rPr sz="1300">
                          <a:solidFill>
                            <a:srgbClr val="1A1A1A"/>
                          </a:solidFill>
                        </a:rPr>
                        <a:t>yes</a:t>
                      </a:r>
                    </a:p>
                  </a:txBody>
                  <a:tcPr>
                    <a:solidFill>
                      <a:srgbClr val="FFFFFF"/>
                    </a:solidFill>
                  </a:tcPr>
                </a:tc>
                <a:tc>
                  <a:txBody>
                    <a:bodyPr/>
                    <a:lstStyle/>
                    <a:p>
                      <a:r>
                        <a:rPr sz="1300">
                          <a:solidFill>
                            <a:srgbClr val="1A1A1A"/>
                          </a:solidFill>
                        </a:rPr>
                        <a:t>-</a:t>
                      </a:r>
                    </a:p>
                  </a:txBody>
                  <a:tcPr>
                    <a:solidFill>
                      <a:srgbClr val="FFFFFF"/>
                    </a:solidFill>
                  </a:tcPr>
                </a:tc>
                <a:extLst>
                  <a:ext uri="{0D108BD9-81ED-4DB2-BD59-A6C34878D82A}">
                    <a16:rowId xmlns:a16="http://schemas.microsoft.com/office/drawing/2014/main" val="10002"/>
                  </a:ext>
                </a:extLst>
              </a:tr>
              <a:tr h="365760">
                <a:tc>
                  <a:txBody>
                    <a:bodyPr/>
                    <a:lstStyle/>
                    <a:p>
                      <a:r>
                        <a:rPr sz="1300">
                          <a:solidFill>
                            <a:srgbClr val="1A1A1A"/>
                          </a:solidFill>
                        </a:rPr>
                        <a:t>Movements</a:t>
                      </a:r>
                    </a:p>
                  </a:txBody>
                  <a:tcPr>
                    <a:solidFill>
                      <a:srgbClr val="F4F7FB"/>
                    </a:solidFill>
                  </a:tcPr>
                </a:tc>
                <a:tc>
                  <a:txBody>
                    <a:bodyPr/>
                    <a:lstStyle/>
                    <a:p>
                      <a:r>
                        <a:rPr sz="1300">
                          <a:solidFill>
                            <a:srgbClr val="1A1A1A"/>
                          </a:solidFill>
                        </a:rPr>
                        <a:t>104</a:t>
                      </a:r>
                    </a:p>
                  </a:txBody>
                  <a:tcPr>
                    <a:solidFill>
                      <a:srgbClr val="F4F7FB"/>
                    </a:solidFill>
                  </a:tcPr>
                </a:tc>
                <a:tc>
                  <a:txBody>
                    <a:bodyPr/>
                    <a:lstStyle/>
                    <a:p>
                      <a:r>
                        <a:rPr sz="1300">
                          <a:solidFill>
                            <a:srgbClr val="1A1A1A"/>
                          </a:solidFill>
                        </a:rPr>
                        <a:t>104</a:t>
                      </a:r>
                    </a:p>
                  </a:txBody>
                  <a:tcPr>
                    <a:solidFill>
                      <a:srgbClr val="F4F7FB"/>
                    </a:solidFill>
                  </a:tcPr>
                </a:tc>
                <a:extLst>
                  <a:ext uri="{0D108BD9-81ED-4DB2-BD59-A6C34878D82A}">
                    <a16:rowId xmlns:a16="http://schemas.microsoft.com/office/drawing/2014/main" val="10003"/>
                  </a:ext>
                </a:extLst>
              </a:tr>
              <a:tr h="365760">
                <a:tc>
                  <a:txBody>
                    <a:bodyPr/>
                    <a:lstStyle/>
                    <a:p>
                      <a:r>
                        <a:rPr sz="1300">
                          <a:solidFill>
                            <a:srgbClr val="1A1A1A"/>
                          </a:solidFill>
                        </a:rPr>
                        <a:t>Junctions kept</a:t>
                      </a:r>
                    </a:p>
                  </a:txBody>
                  <a:tcPr>
                    <a:solidFill>
                      <a:srgbClr val="FFFFFF"/>
                    </a:solidFill>
                  </a:tcPr>
                </a:tc>
                <a:tc>
                  <a:txBody>
                    <a:bodyPr/>
                    <a:lstStyle/>
                    <a:p>
                      <a:r>
                        <a:rPr sz="1300">
                          <a:solidFill>
                            <a:srgbClr val="1A1A1A"/>
                          </a:solidFill>
                        </a:rPr>
                        <a:t>10</a:t>
                      </a:r>
                    </a:p>
                  </a:txBody>
                  <a:tcPr>
                    <a:solidFill>
                      <a:srgbClr val="FFFFFF"/>
                    </a:solidFill>
                  </a:tcPr>
                </a:tc>
                <a:tc>
                  <a:txBody>
                    <a:bodyPr/>
                    <a:lstStyle/>
                    <a:p>
                      <a:r>
                        <a:rPr sz="1300">
                          <a:solidFill>
                            <a:srgbClr val="1A1A1A"/>
                          </a:solidFill>
                        </a:rPr>
                        <a:t>10</a:t>
                      </a:r>
                    </a:p>
                  </a:txBody>
                  <a:tcPr>
                    <a:solidFill>
                      <a:srgbClr val="FFFFFF"/>
                    </a:solidFill>
                  </a:tcPr>
                </a:tc>
                <a:extLst>
                  <a:ext uri="{0D108BD9-81ED-4DB2-BD59-A6C34878D82A}">
                    <a16:rowId xmlns:a16="http://schemas.microsoft.com/office/drawing/2014/main" val="10004"/>
                  </a:ext>
                </a:extLst>
              </a:tr>
              <a:tr h="365760">
                <a:tc>
                  <a:txBody>
                    <a:bodyPr/>
                    <a:lstStyle/>
                    <a:p>
                      <a:r>
                        <a:rPr sz="1300">
                          <a:solidFill>
                            <a:srgbClr val="1A1A1A"/>
                          </a:solidFill>
                        </a:rPr>
                        <a:t>Turn mix</a:t>
                      </a:r>
                    </a:p>
                  </a:txBody>
                  <a:tcPr>
                    <a:solidFill>
                      <a:srgbClr val="F4F7FB"/>
                    </a:solidFill>
                  </a:tcPr>
                </a:tc>
                <a:tc>
                  <a:txBody>
                    <a:bodyPr/>
                    <a:lstStyle/>
                    <a:p>
                      <a:r>
                        <a:rPr sz="1300">
                          <a:solidFill>
                            <a:srgbClr val="1A1A1A"/>
                          </a:solidFill>
                        </a:rPr>
                        <a:t>R28 T28 L26 U22</a:t>
                      </a:r>
                    </a:p>
                  </a:txBody>
                  <a:tcPr>
                    <a:solidFill>
                      <a:srgbClr val="F4F7FB"/>
                    </a:solidFill>
                  </a:tcPr>
                </a:tc>
                <a:tc>
                  <a:txBody>
                    <a:bodyPr/>
                    <a:lstStyle/>
                    <a:p>
                      <a:r>
                        <a:rPr sz="1300">
                          <a:solidFill>
                            <a:srgbClr val="1A1A1A"/>
                          </a:solidFill>
                        </a:rPr>
                        <a:t>identical</a:t>
                      </a:r>
                    </a:p>
                  </a:txBody>
                  <a:tcPr>
                    <a:solidFill>
                      <a:srgbClr val="F4F7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Two safeguards</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dirty="0">
                <a:solidFill>
                  <a:srgbClr val="1A1A1A"/>
                </a:solidFill>
                <a:latin typeface="Calibri"/>
              </a:rPr>
              <a:t>• Not every group of roads is an intersection</a:t>
            </a:r>
          </a:p>
          <a:p>
            <a:pPr lvl="1" algn="l">
              <a:spcAft>
                <a:spcPts val="800"/>
              </a:spcAft>
            </a:pPr>
            <a:r>
              <a:rPr sz="1800" b="0" dirty="0">
                <a:solidFill>
                  <a:srgbClr val="1A1A1A"/>
                </a:solidFill>
                <a:latin typeface="Calibri"/>
              </a:rPr>
              <a:t>– A junction must have at least 3 approaches; below that it is a mid-block joint</a:t>
            </a:r>
          </a:p>
          <a:p>
            <a:pPr lvl="1" algn="l">
              <a:spcAft>
                <a:spcPts val="800"/>
              </a:spcAft>
            </a:pPr>
            <a:r>
              <a:rPr sz="1800" b="0" dirty="0">
                <a:solidFill>
                  <a:srgbClr val="1A1A1A"/>
                </a:solidFill>
                <a:latin typeface="Calibri"/>
              </a:rPr>
              <a:t>– Chattanooga: 17 groups found, 7 dropped, 10 real intersections</a:t>
            </a:r>
          </a:p>
          <a:p>
            <a:pPr algn="l">
              <a:spcAft>
                <a:spcPts val="800"/>
              </a:spcAft>
            </a:pPr>
            <a:r>
              <a:rPr sz="1800" b="0" dirty="0">
                <a:solidFill>
                  <a:srgbClr val="1A1A1A"/>
                </a:solidFill>
                <a:latin typeface="Calibri"/>
              </a:rPr>
              <a:t>• </a:t>
            </a:r>
            <a:r>
              <a:rPr sz="1800" b="0" dirty="0" err="1">
                <a:solidFill>
                  <a:srgbClr val="1A1A1A"/>
                </a:solidFill>
                <a:latin typeface="Calibri"/>
              </a:rPr>
              <a:t>Vissim</a:t>
            </a:r>
            <a:r>
              <a:rPr sz="1800" b="0" dirty="0">
                <a:solidFill>
                  <a:srgbClr val="1A1A1A"/>
                </a:solidFill>
                <a:latin typeface="Calibri"/>
              </a:rPr>
              <a:t> builds its own 'segment node' per junction when it imports</a:t>
            </a:r>
          </a:p>
          <a:p>
            <a:pPr lvl="1" algn="l">
              <a:spcAft>
                <a:spcPts val="800"/>
              </a:spcAft>
            </a:pPr>
            <a:r>
              <a:rPr sz="1800" b="0" dirty="0">
                <a:solidFill>
                  <a:srgbClr val="1A1A1A"/>
                </a:solidFill>
                <a:latin typeface="Calibri"/>
              </a:rPr>
              <a:t>– We compare our list against those nodes and report any disagreement</a:t>
            </a:r>
          </a:p>
          <a:p>
            <a:pPr lvl="1" algn="l">
              <a:spcAft>
                <a:spcPts val="800"/>
              </a:spcAft>
            </a:pPr>
            <a:r>
              <a:rPr sz="1800" b="0" dirty="0">
                <a:solidFill>
                  <a:srgbClr val="1A1A1A"/>
                </a:solidFill>
                <a:latin typeface="Calibri"/>
              </a:rPr>
              <a:t>– The nodes cannot do the job themselves - they also cover the approaches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743200"/>
            <a:ext cx="10515600" cy="1280160"/>
          </a:xfrm>
          <a:prstGeom prst="rect">
            <a:avLst/>
          </a:prstGeom>
          <a:noFill/>
        </p:spPr>
        <p:txBody>
          <a:bodyPr wrap="square">
            <a:spAutoFit/>
          </a:bodyPr>
          <a:lstStyle/>
          <a:p>
            <a:pPr algn="l"/>
            <a:r>
              <a:rPr sz="3400" b="1">
                <a:solidFill>
                  <a:srgbClr val="FFFFFF"/>
                </a:solidFill>
                <a:latin typeface="Calibri"/>
              </a:rPr>
              <a:t>Step 2</a:t>
            </a:r>
          </a:p>
        </p:txBody>
      </p:sp>
      <p:sp>
        <p:nvSpPr>
          <p:cNvPr id="4" name="TextBox 3"/>
          <p:cNvSpPr txBox="1"/>
          <p:nvPr/>
        </p:nvSpPr>
        <p:spPr>
          <a:xfrm>
            <a:off x="822960" y="4023360"/>
            <a:ext cx="10515600" cy="731520"/>
          </a:xfrm>
          <a:prstGeom prst="rect">
            <a:avLst/>
          </a:prstGeom>
          <a:noFill/>
        </p:spPr>
        <p:txBody>
          <a:bodyPr wrap="none">
            <a:spAutoFit/>
          </a:bodyPr>
          <a:lstStyle/>
          <a:p>
            <a:pPr algn="l"/>
            <a:r>
              <a:rPr sz="1800" b="0">
                <a:solidFill>
                  <a:srgbClr val="BBCCE0"/>
                </a:solidFill>
                <a:latin typeface="Calibri"/>
              </a:rPr>
              <a:t>Approaches, bearings and turns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Bearing: which way a road points</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Every link is a line of points; a bearing is the compass angle between two of them</a:t>
            </a:r>
          </a:p>
          <a:p>
            <a:pPr algn="l">
              <a:spcAft>
                <a:spcPts val="800"/>
              </a:spcAft>
            </a:pPr>
            <a:r>
              <a:rPr sz="1800" b="0">
                <a:solidFill>
                  <a:srgbClr val="1A1A1A"/>
                </a:solidFill>
                <a:latin typeface="Calibri"/>
              </a:rPr>
              <a:t>• 0 degrees is north, 90 east, going clockwise</a:t>
            </a:r>
          </a:p>
          <a:p>
            <a:pPr algn="l">
              <a:spcAft>
                <a:spcPts val="800"/>
              </a:spcAft>
            </a:pPr>
            <a:r>
              <a:rPr sz="1800" b="0">
                <a:solidFill>
                  <a:srgbClr val="1A1A1A"/>
                </a:solidFill>
                <a:latin typeface="Calibri"/>
              </a:rPr>
              <a:t>• For an approach we use the LAST two points - the direction at the stop bar</a:t>
            </a:r>
          </a:p>
          <a:p>
            <a:pPr algn="l">
              <a:spcAft>
                <a:spcPts val="800"/>
              </a:spcAft>
            </a:pPr>
            <a:r>
              <a:rPr sz="1800" b="0">
                <a:solidFill>
                  <a:srgbClr val="1A1A1A"/>
                </a:solidFill>
                <a:latin typeface="Calibri"/>
              </a:rPr>
              <a:t>• For an exit we use the FIRST two - the direction just after the turn</a:t>
            </a:r>
          </a:p>
          <a:p>
            <a:pPr algn="l">
              <a:spcAft>
                <a:spcPts val="800"/>
              </a:spcAft>
            </a:pPr>
            <a:r>
              <a:rPr sz="1800" b="0">
                <a:solidFill>
                  <a:srgbClr val="1A1A1A"/>
                </a:solidFill>
                <a:latin typeface="Calibri"/>
              </a:rPr>
              <a:t>• The bits in between are ignored: connectors are ~1.5 m and internal roads curve</a:t>
            </a:r>
          </a:p>
          <a:p>
            <a:pPr algn="l">
              <a:spcAft>
                <a:spcPts val="800"/>
              </a:spcAft>
            </a:pPr>
            <a:r>
              <a:rPr sz="1800" b="0">
                <a:solidFill>
                  <a:srgbClr val="1A1A1A"/>
                </a:solidFill>
                <a:latin typeface="Calibri"/>
              </a:rPr>
              <a:t>• Those curves are an artefact of how the junction was drawn, not of the manoeuvre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Turn: comparing the two bearings</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Subtract the approach bearing from the exit bearing</a:t>
            </a:r>
          </a:p>
          <a:p>
            <a:pPr algn="l">
              <a:spcAft>
                <a:spcPts val="800"/>
              </a:spcAft>
            </a:pPr>
            <a:r>
              <a:rPr sz="1800" b="0">
                <a:solidFill>
                  <a:srgbClr val="1A1A1A"/>
                </a:solidFill>
                <a:latin typeface="Calibri"/>
              </a:rPr>
              <a:t>• Change of 20 degrees or less   -&gt;  straight ahead ('thru')</a:t>
            </a:r>
          </a:p>
          <a:p>
            <a:pPr algn="l">
              <a:spcAft>
                <a:spcPts val="800"/>
              </a:spcAft>
            </a:pPr>
            <a:r>
              <a:rPr sz="1800" b="0">
                <a:solidFill>
                  <a:srgbClr val="1A1A1A"/>
                </a:solidFill>
                <a:latin typeface="Calibri"/>
              </a:rPr>
              <a:t>• Change of about 180 degrees    -&gt;  U-turn</a:t>
            </a:r>
          </a:p>
          <a:p>
            <a:pPr algn="l">
              <a:spcAft>
                <a:spcPts val="800"/>
              </a:spcAft>
            </a:pPr>
            <a:r>
              <a:rPr sz="1800" b="0">
                <a:solidFill>
                  <a:srgbClr val="1A1A1A"/>
                </a:solidFill>
                <a:latin typeface="Calibri"/>
              </a:rPr>
              <a:t>• Otherwise clockwise -&gt; right, anticlockwise -&gt; left</a:t>
            </a:r>
          </a:p>
          <a:p>
            <a:pPr algn="l">
              <a:spcAft>
                <a:spcPts val="800"/>
              </a:spcAft>
            </a:pPr>
            <a:r>
              <a:rPr sz="1800" b="0">
                <a:solidFill>
                  <a:srgbClr val="1A1A1A"/>
                </a:solidFill>
                <a:latin typeface="Calibri"/>
              </a:rPr>
              <a:t>• Movements are then SORTED by that angle, sharpest right first</a:t>
            </a:r>
          </a:p>
          <a:p>
            <a:pPr algn="l">
              <a:spcAft>
                <a:spcPts val="800"/>
              </a:spcAft>
            </a:pPr>
            <a:r>
              <a:rPr sz="1800" b="0">
                <a:solidFill>
                  <a:srgbClr val="1A1A1A"/>
                </a:solidFill>
                <a:latin typeface="Calibri"/>
              </a:rPr>
              <a:t>• That ordering matters more than it looks - see the next section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Naming the approach: NB, EB, SB, WB</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NOT by absolute compass direction - that breaks on angled intersections</a:t>
            </a:r>
          </a:p>
          <a:p>
            <a:pPr algn="l">
              <a:spcAft>
                <a:spcPts val="800"/>
              </a:spcAft>
            </a:pPr>
            <a:r>
              <a:rPr sz="1800" b="0">
                <a:solidFill>
                  <a:srgbClr val="1A1A1A"/>
                </a:solidFill>
                <a:latin typeface="Calibri"/>
              </a:rPr>
              <a:t>• Junction 8 has legs at 52 and 114 degrees: both are 'eastbound' by sector,</a:t>
            </a:r>
          </a:p>
          <a:p>
            <a:pPr algn="l">
              <a:spcAft>
                <a:spcPts val="800"/>
              </a:spcAft>
            </a:pPr>
            <a:r>
              <a:rPr sz="1800" b="0">
                <a:solidFill>
                  <a:srgbClr val="1A1A1A"/>
                </a:solidFill>
                <a:latin typeface="Calibri"/>
              </a:rPr>
              <a:t>• and nothing is northbound, though the camera clearly counts northbound traffic</a:t>
            </a:r>
          </a:p>
          <a:p>
            <a:pPr algn="l">
              <a:spcAft>
                <a:spcPts val="800"/>
              </a:spcAft>
            </a:pPr>
            <a:r>
              <a:rPr sz="1800" b="0">
                <a:solidFill>
                  <a:srgbClr val="1A1A1A"/>
                </a:solidFill>
                <a:latin typeface="Calibri"/>
              </a:rPr>
              <a:t>• Instead: sort the legs clockwise starting from north-west (337.5 degrees)</a:t>
            </a:r>
          </a:p>
          <a:p>
            <a:pPr algn="l">
              <a:spcAft>
                <a:spcPts val="800"/>
              </a:spcAft>
            </a:pPr>
            <a:r>
              <a:rPr sz="1800" b="0">
                <a:solidFill>
                  <a:srgbClr val="1A1A1A"/>
                </a:solidFill>
                <a:latin typeface="Calibri"/>
              </a:rPr>
              <a:t>• Then the 1st leg takes the 1st direction the count file names, 2nd the 2nd, and so on</a:t>
            </a:r>
          </a:p>
          <a:p>
            <a:pPr algn="l">
              <a:spcAft>
                <a:spcPts val="800"/>
              </a:spcAft>
            </a:pPr>
            <a:r>
              <a:rPr sz="1800" b="0">
                <a:solidFill>
                  <a:srgbClr val="1A1A1A"/>
                </a:solidFill>
                <a:latin typeface="Calibri"/>
              </a:rPr>
              <a:t>• Geometry decides the ORDER. The count file decides the NAMES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Worked example: junction 9</a:t>
            </a:r>
          </a:p>
        </p:txBody>
      </p:sp>
      <p:graphicFrame>
        <p:nvGraphicFramePr>
          <p:cNvPr id="4" name="Table 3"/>
          <p:cNvGraphicFramePr>
            <a:graphicFrameLocks noGrp="1"/>
          </p:cNvGraphicFramePr>
          <p:nvPr/>
        </p:nvGraphicFramePr>
        <p:xfrm>
          <a:off x="548640" y="1371600"/>
          <a:ext cx="11064240" cy="1463040"/>
        </p:xfrm>
        <a:graphic>
          <a:graphicData uri="http://schemas.openxmlformats.org/drawingml/2006/table">
            <a:tbl>
              <a:tblPr firstRow="1" bandRow="1">
                <a:tableStyleId>{5C22544A-7EE6-4342-B048-85BDC9FD1C3A}</a:tableStyleId>
              </a:tblPr>
              <a:tblGrid>
                <a:gridCol w="2766060">
                  <a:extLst>
                    <a:ext uri="{9D8B030D-6E8A-4147-A177-3AD203B41FA5}">
                      <a16:colId xmlns:a16="http://schemas.microsoft.com/office/drawing/2014/main" val="20000"/>
                    </a:ext>
                  </a:extLst>
                </a:gridCol>
                <a:gridCol w="2766060">
                  <a:extLst>
                    <a:ext uri="{9D8B030D-6E8A-4147-A177-3AD203B41FA5}">
                      <a16:colId xmlns:a16="http://schemas.microsoft.com/office/drawing/2014/main" val="20001"/>
                    </a:ext>
                  </a:extLst>
                </a:gridCol>
                <a:gridCol w="2766060">
                  <a:extLst>
                    <a:ext uri="{9D8B030D-6E8A-4147-A177-3AD203B41FA5}">
                      <a16:colId xmlns:a16="http://schemas.microsoft.com/office/drawing/2014/main" val="20002"/>
                    </a:ext>
                  </a:extLst>
                </a:gridCol>
                <a:gridCol w="2766060">
                  <a:extLst>
                    <a:ext uri="{9D8B030D-6E8A-4147-A177-3AD203B41FA5}">
                      <a16:colId xmlns:a16="http://schemas.microsoft.com/office/drawing/2014/main" val="20003"/>
                    </a:ext>
                  </a:extLst>
                </a:gridCol>
              </a:tblGrid>
              <a:tr h="365760">
                <a:tc>
                  <a:txBody>
                    <a:bodyPr/>
                    <a:lstStyle/>
                    <a:p>
                      <a:r>
                        <a:rPr sz="1400" b="1">
                          <a:solidFill>
                            <a:srgbClr val="FFFFFF"/>
                          </a:solidFill>
                        </a:rPr>
                        <a:t>Leg</a:t>
                      </a:r>
                    </a:p>
                  </a:txBody>
                  <a:tcPr>
                    <a:solidFill>
                      <a:srgbClr val="14375E"/>
                    </a:solidFill>
                  </a:tcPr>
                </a:tc>
                <a:tc>
                  <a:txBody>
                    <a:bodyPr/>
                    <a:lstStyle/>
                    <a:p>
                      <a:r>
                        <a:rPr sz="1400" b="1">
                          <a:solidFill>
                            <a:srgbClr val="FFFFFF"/>
                          </a:solidFill>
                        </a:rPr>
                        <a:t>Bearing</a:t>
                      </a:r>
                    </a:p>
                  </a:txBody>
                  <a:tcPr>
                    <a:solidFill>
                      <a:srgbClr val="14375E"/>
                    </a:solidFill>
                  </a:tcPr>
                </a:tc>
                <a:tc>
                  <a:txBody>
                    <a:bodyPr/>
                    <a:lstStyle/>
                    <a:p>
                      <a:r>
                        <a:rPr sz="1400" b="1">
                          <a:solidFill>
                            <a:srgbClr val="FFFFFF"/>
                          </a:solidFill>
                        </a:rPr>
                        <a:t>Sorted position</a:t>
                      </a:r>
                    </a:p>
                  </a:txBody>
                  <a:tcPr>
                    <a:solidFill>
                      <a:srgbClr val="14375E"/>
                    </a:solidFill>
                  </a:tcPr>
                </a:tc>
                <a:tc>
                  <a:txBody>
                    <a:bodyPr/>
                    <a:lstStyle/>
                    <a:p>
                      <a:r>
                        <a:rPr sz="1400" b="1">
                          <a:solidFill>
                            <a:srgbClr val="FFFFFF"/>
                          </a:solidFill>
                        </a:rPr>
                        <a:t>Named</a:t>
                      </a:r>
                    </a:p>
                  </a:txBody>
                  <a:tcPr>
                    <a:solidFill>
                      <a:srgbClr val="14375E"/>
                    </a:solidFill>
                  </a:tcPr>
                </a:tc>
                <a:extLst>
                  <a:ext uri="{0D108BD9-81ED-4DB2-BD59-A6C34878D82A}">
                    <a16:rowId xmlns:a16="http://schemas.microsoft.com/office/drawing/2014/main" val="10000"/>
                  </a:ext>
                </a:extLst>
              </a:tr>
              <a:tr h="365760">
                <a:tc>
                  <a:txBody>
                    <a:bodyPr/>
                    <a:lstStyle/>
                    <a:p>
                      <a:r>
                        <a:rPr sz="1300">
                          <a:solidFill>
                            <a:srgbClr val="1A1A1A"/>
                          </a:solidFill>
                        </a:rPr>
                        <a:t>link 22</a:t>
                      </a:r>
                    </a:p>
                  </a:txBody>
                  <a:tcPr>
                    <a:solidFill>
                      <a:srgbClr val="F4F7FB"/>
                    </a:solidFill>
                  </a:tcPr>
                </a:tc>
                <a:tc>
                  <a:txBody>
                    <a:bodyPr/>
                    <a:lstStyle/>
                    <a:p>
                      <a:r>
                        <a:rPr sz="1300">
                          <a:solidFill>
                            <a:srgbClr val="1A1A1A"/>
                          </a:solidFill>
                        </a:rPr>
                        <a:t>111.5 deg</a:t>
                      </a:r>
                    </a:p>
                  </a:txBody>
                  <a:tcPr>
                    <a:solidFill>
                      <a:srgbClr val="F4F7FB"/>
                    </a:solidFill>
                  </a:tcPr>
                </a:tc>
                <a:tc>
                  <a:txBody>
                    <a:bodyPr/>
                    <a:lstStyle/>
                    <a:p>
                      <a:r>
                        <a:rPr sz="1300">
                          <a:solidFill>
                            <a:srgbClr val="1A1A1A"/>
                          </a:solidFill>
                        </a:rPr>
                        <a:t>1st</a:t>
                      </a:r>
                    </a:p>
                  </a:txBody>
                  <a:tcPr>
                    <a:solidFill>
                      <a:srgbClr val="F4F7FB"/>
                    </a:solidFill>
                  </a:tcPr>
                </a:tc>
                <a:tc>
                  <a:txBody>
                    <a:bodyPr/>
                    <a:lstStyle/>
                    <a:p>
                      <a:r>
                        <a:rPr sz="1300">
                          <a:solidFill>
                            <a:srgbClr val="1A1A1A"/>
                          </a:solidFill>
                        </a:rPr>
                        <a:t>EB</a:t>
                      </a:r>
                    </a:p>
                  </a:txBody>
                  <a:tcPr>
                    <a:solidFill>
                      <a:srgbClr val="F4F7FB"/>
                    </a:solidFill>
                  </a:tcPr>
                </a:tc>
                <a:extLst>
                  <a:ext uri="{0D108BD9-81ED-4DB2-BD59-A6C34878D82A}">
                    <a16:rowId xmlns:a16="http://schemas.microsoft.com/office/drawing/2014/main" val="10001"/>
                  </a:ext>
                </a:extLst>
              </a:tr>
              <a:tr h="365760">
                <a:tc>
                  <a:txBody>
                    <a:bodyPr/>
                    <a:lstStyle/>
                    <a:p>
                      <a:r>
                        <a:rPr sz="1300">
                          <a:solidFill>
                            <a:srgbClr val="1A1A1A"/>
                          </a:solidFill>
                        </a:rPr>
                        <a:t>link 17</a:t>
                      </a:r>
                    </a:p>
                  </a:txBody>
                  <a:tcPr>
                    <a:solidFill>
                      <a:srgbClr val="FFFFFF"/>
                    </a:solidFill>
                  </a:tcPr>
                </a:tc>
                <a:tc>
                  <a:txBody>
                    <a:bodyPr/>
                    <a:lstStyle/>
                    <a:p>
                      <a:r>
                        <a:rPr sz="1300">
                          <a:solidFill>
                            <a:srgbClr val="1A1A1A"/>
                          </a:solidFill>
                        </a:rPr>
                        <a:t>235.1 deg</a:t>
                      </a:r>
                    </a:p>
                  </a:txBody>
                  <a:tcPr>
                    <a:solidFill>
                      <a:srgbClr val="FFFFFF"/>
                    </a:solidFill>
                  </a:tcPr>
                </a:tc>
                <a:tc>
                  <a:txBody>
                    <a:bodyPr/>
                    <a:lstStyle/>
                    <a:p>
                      <a:r>
                        <a:rPr sz="1300">
                          <a:solidFill>
                            <a:srgbClr val="1A1A1A"/>
                          </a:solidFill>
                        </a:rPr>
                        <a:t>2nd</a:t>
                      </a:r>
                    </a:p>
                  </a:txBody>
                  <a:tcPr>
                    <a:solidFill>
                      <a:srgbClr val="FFFFFF"/>
                    </a:solidFill>
                  </a:tcPr>
                </a:tc>
                <a:tc>
                  <a:txBody>
                    <a:bodyPr/>
                    <a:lstStyle/>
                    <a:p>
                      <a:r>
                        <a:rPr sz="1300">
                          <a:solidFill>
                            <a:srgbClr val="1A1A1A"/>
                          </a:solidFill>
                        </a:rPr>
                        <a:t>SB</a:t>
                      </a:r>
                    </a:p>
                  </a:txBody>
                  <a:tcPr>
                    <a:solidFill>
                      <a:srgbClr val="FFFFFF"/>
                    </a:solidFill>
                  </a:tcPr>
                </a:tc>
                <a:extLst>
                  <a:ext uri="{0D108BD9-81ED-4DB2-BD59-A6C34878D82A}">
                    <a16:rowId xmlns:a16="http://schemas.microsoft.com/office/drawing/2014/main" val="10002"/>
                  </a:ext>
                </a:extLst>
              </a:tr>
              <a:tr h="365760">
                <a:tc>
                  <a:txBody>
                    <a:bodyPr/>
                    <a:lstStyle/>
                    <a:p>
                      <a:r>
                        <a:rPr sz="1300">
                          <a:solidFill>
                            <a:srgbClr val="1A1A1A"/>
                          </a:solidFill>
                        </a:rPr>
                        <a:t>link 8</a:t>
                      </a:r>
                    </a:p>
                  </a:txBody>
                  <a:tcPr>
                    <a:solidFill>
                      <a:srgbClr val="F4F7FB"/>
                    </a:solidFill>
                  </a:tcPr>
                </a:tc>
                <a:tc>
                  <a:txBody>
                    <a:bodyPr/>
                    <a:lstStyle/>
                    <a:p>
                      <a:r>
                        <a:rPr sz="1300">
                          <a:solidFill>
                            <a:srgbClr val="1A1A1A"/>
                          </a:solidFill>
                        </a:rPr>
                        <a:t>292.0 deg</a:t>
                      </a:r>
                    </a:p>
                  </a:txBody>
                  <a:tcPr>
                    <a:solidFill>
                      <a:srgbClr val="F4F7FB"/>
                    </a:solidFill>
                  </a:tcPr>
                </a:tc>
                <a:tc>
                  <a:txBody>
                    <a:bodyPr/>
                    <a:lstStyle/>
                    <a:p>
                      <a:r>
                        <a:rPr sz="1300">
                          <a:solidFill>
                            <a:srgbClr val="1A1A1A"/>
                          </a:solidFill>
                        </a:rPr>
                        <a:t>3rd</a:t>
                      </a:r>
                    </a:p>
                  </a:txBody>
                  <a:tcPr>
                    <a:solidFill>
                      <a:srgbClr val="F4F7FB"/>
                    </a:solidFill>
                  </a:tcPr>
                </a:tc>
                <a:tc>
                  <a:txBody>
                    <a:bodyPr/>
                    <a:lstStyle/>
                    <a:p>
                      <a:r>
                        <a:rPr sz="1300">
                          <a:solidFill>
                            <a:srgbClr val="1A1A1A"/>
                          </a:solidFill>
                        </a:rPr>
                        <a:t>WB</a:t>
                      </a:r>
                    </a:p>
                  </a:txBody>
                  <a:tcPr>
                    <a:solidFill>
                      <a:srgbClr val="F4F7FB"/>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743200"/>
            <a:ext cx="10515600" cy="1280160"/>
          </a:xfrm>
          <a:prstGeom prst="rect">
            <a:avLst/>
          </a:prstGeom>
          <a:noFill/>
        </p:spPr>
        <p:txBody>
          <a:bodyPr wrap="square">
            <a:spAutoFit/>
          </a:bodyPr>
          <a:lstStyle/>
          <a:p>
            <a:pPr algn="l"/>
            <a:r>
              <a:rPr sz="3400" b="1">
                <a:solidFill>
                  <a:srgbClr val="FFFFFF"/>
                </a:solidFill>
                <a:latin typeface="Calibri"/>
              </a:rPr>
              <a:t>Step 3</a:t>
            </a:r>
          </a:p>
        </p:txBody>
      </p:sp>
      <p:sp>
        <p:nvSpPr>
          <p:cNvPr id="4" name="TextBox 3"/>
          <p:cNvSpPr txBox="1"/>
          <p:nvPr/>
        </p:nvSpPr>
        <p:spPr>
          <a:xfrm>
            <a:off x="822960" y="4023360"/>
            <a:ext cx="10515600" cy="731520"/>
          </a:xfrm>
          <a:prstGeom prst="rect">
            <a:avLst/>
          </a:prstGeom>
          <a:noFill/>
        </p:spPr>
        <p:txBody>
          <a:bodyPr wrap="none">
            <a:spAutoFit/>
          </a:bodyPr>
          <a:lstStyle/>
          <a:p>
            <a:pPr algn="l"/>
            <a:r>
              <a:rPr sz="1800" b="0">
                <a:solidFill>
                  <a:srgbClr val="BBCCE0"/>
                </a:solidFill>
                <a:latin typeface="Calibri"/>
              </a:rPr>
              <a:t>Building the MatchupTable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What the MatchupTable is</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One row per movement - one line for each turn at each junction</a:t>
            </a:r>
          </a:p>
          <a:p>
            <a:pPr algn="l">
              <a:spcAft>
                <a:spcPts val="800"/>
              </a:spcAft>
            </a:pPr>
            <a:r>
              <a:rPr sz="1800" b="0">
                <a:solidFill>
                  <a:srgbClr val="1A1A1A"/>
                </a:solidFill>
                <a:latin typeface="Calibri"/>
              </a:rPr>
              <a:t>• It joins three separate worlds so they can refer to each other:</a:t>
            </a:r>
          </a:p>
          <a:p>
            <a:pPr lvl="1" algn="l">
              <a:spcAft>
                <a:spcPts val="800"/>
              </a:spcAft>
            </a:pPr>
            <a:r>
              <a:rPr sz="1800" b="0">
                <a:solidFill>
                  <a:srgbClr val="1A1A1A"/>
                </a:solidFill>
                <a:latin typeface="Calibri"/>
              </a:rPr>
              <a:t>– Network - which Vissim links the movement uses</a:t>
            </a:r>
          </a:p>
          <a:p>
            <a:pPr lvl="1" algn="l">
              <a:spcAft>
                <a:spcPts val="800"/>
              </a:spcAft>
            </a:pPr>
            <a:r>
              <a:rPr sz="1800" b="0">
                <a:solidFill>
                  <a:srgbClr val="1A1A1A"/>
                </a:solidFill>
                <a:latin typeface="Calibri"/>
              </a:rPr>
              <a:t>– Demand - which camera file, and which turn within it</a:t>
            </a:r>
          </a:p>
          <a:p>
            <a:pPr lvl="1" algn="l">
              <a:spcAft>
                <a:spcPts val="800"/>
              </a:spcAft>
            </a:pPr>
            <a:r>
              <a:rPr sz="1800" b="0">
                <a:solidFill>
                  <a:srgbClr val="1A1A1A"/>
                </a:solidFill>
                <a:latin typeface="Calibri"/>
              </a:rPr>
              <a:t>– Signal - which Synchro intersection, and which phase</a:t>
            </a:r>
          </a:p>
          <a:p>
            <a:pPr algn="l">
              <a:spcAft>
                <a:spcPts val="800"/>
              </a:spcAft>
            </a:pPr>
            <a:r>
              <a:rPr sz="1800" b="0">
                <a:solidFill>
                  <a:srgbClr val="1A1A1A"/>
                </a:solidFill>
                <a:latin typeface="Calibri"/>
              </a:rPr>
              <a:t>• 104 rows for Chattanooga. It is the only file a person touches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The movement code: NBL, NBT, EBR ...</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Code = direction + turn letter.  R right, T through, L left, U U-turn</a:t>
            </a:r>
          </a:p>
          <a:p>
            <a:pPr algn="l">
              <a:spcAft>
                <a:spcPts val="800"/>
              </a:spcAft>
            </a:pPr>
            <a:r>
              <a:rPr sz="1800" b="0">
                <a:solidFill>
                  <a:srgbClr val="1A1A1A"/>
                </a:solidFill>
                <a:latin typeface="Calibri"/>
              </a:rPr>
              <a:t>• So the left turn off the southbound leg is 'SBL'</a:t>
            </a:r>
          </a:p>
          <a:p>
            <a:pPr algn="l">
              <a:spcAft>
                <a:spcPts val="800"/>
              </a:spcAft>
            </a:pPr>
            <a:r>
              <a:rPr sz="1800" b="0">
                <a:solidFill>
                  <a:srgbClr val="1A1A1A"/>
                </a:solidFill>
                <a:latin typeface="Calibri"/>
              </a:rPr>
              <a:t>• That string is the column heading in the camera's spreadsheet</a:t>
            </a:r>
          </a:p>
          <a:p>
            <a:pPr algn="l">
              <a:spcAft>
                <a:spcPts val="800"/>
              </a:spcAft>
            </a:pPr>
            <a:r>
              <a:rPr sz="1800" b="0">
                <a:solidFill>
                  <a:srgbClr val="1A1A1A"/>
                </a:solidFill>
                <a:latin typeface="Calibri"/>
              </a:rPr>
              <a:t>• Match the code, read the count - that is the whole join</a:t>
            </a:r>
          </a:p>
          <a:p>
            <a:pPr algn="l">
              <a:spcAft>
                <a:spcPts val="800"/>
              </a:spcAft>
            </a:pPr>
            <a:r>
              <a:rPr sz="1800" b="0">
                <a:solidFill>
                  <a:srgbClr val="1A1A1A"/>
                </a:solidFill>
                <a:latin typeface="Calibri"/>
              </a:rPr>
              <a:t>• Safety rule: down one approach the codes must run in order R, T, L, U</a:t>
            </a:r>
          </a:p>
          <a:p>
            <a:pPr algn="l">
              <a:spcAft>
                <a:spcPts val="800"/>
              </a:spcAft>
            </a:pPr>
            <a:r>
              <a:rPr sz="1800" b="0">
                <a:solidFill>
                  <a:srgbClr val="1A1A1A"/>
                </a:solidFill>
                <a:latin typeface="Calibri"/>
              </a:rPr>
              <a:t>• because the movements were sorted by turning angle, so codes cannot jump about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What a person supplies, and what is generated</a:t>
            </a:r>
          </a:p>
        </p:txBody>
      </p:sp>
      <p:graphicFrame>
        <p:nvGraphicFramePr>
          <p:cNvPr id="4" name="Table 3"/>
          <p:cNvGraphicFramePr>
            <a:graphicFrameLocks noGrp="1"/>
          </p:cNvGraphicFramePr>
          <p:nvPr/>
        </p:nvGraphicFramePr>
        <p:xfrm>
          <a:off x="548640" y="1371600"/>
          <a:ext cx="11064240" cy="2560320"/>
        </p:xfrm>
        <a:graphic>
          <a:graphicData uri="http://schemas.openxmlformats.org/drawingml/2006/table">
            <a:tbl>
              <a:tblPr firstRow="1" bandRow="1">
                <a:tableStyleId>{5C22544A-7EE6-4342-B048-85BDC9FD1C3A}</a:tableStyleId>
              </a:tblPr>
              <a:tblGrid>
                <a:gridCol w="3688080">
                  <a:extLst>
                    <a:ext uri="{9D8B030D-6E8A-4147-A177-3AD203B41FA5}">
                      <a16:colId xmlns:a16="http://schemas.microsoft.com/office/drawing/2014/main" val="20000"/>
                    </a:ext>
                  </a:extLst>
                </a:gridCol>
                <a:gridCol w="3688080">
                  <a:extLst>
                    <a:ext uri="{9D8B030D-6E8A-4147-A177-3AD203B41FA5}">
                      <a16:colId xmlns:a16="http://schemas.microsoft.com/office/drawing/2014/main" val="20001"/>
                    </a:ext>
                  </a:extLst>
                </a:gridCol>
                <a:gridCol w="3688080">
                  <a:extLst>
                    <a:ext uri="{9D8B030D-6E8A-4147-A177-3AD203B41FA5}">
                      <a16:colId xmlns:a16="http://schemas.microsoft.com/office/drawing/2014/main" val="20002"/>
                    </a:ext>
                  </a:extLst>
                </a:gridCol>
              </a:tblGrid>
              <a:tr h="365760">
                <a:tc>
                  <a:txBody>
                    <a:bodyPr/>
                    <a:lstStyle/>
                    <a:p>
                      <a:r>
                        <a:rPr sz="1400" b="1">
                          <a:solidFill>
                            <a:srgbClr val="FFFFFF"/>
                          </a:solidFill>
                        </a:rPr>
                        <a:t>Field</a:t>
                      </a:r>
                    </a:p>
                  </a:txBody>
                  <a:tcPr>
                    <a:solidFill>
                      <a:srgbClr val="14375E"/>
                    </a:solidFill>
                  </a:tcPr>
                </a:tc>
                <a:tc>
                  <a:txBody>
                    <a:bodyPr/>
                    <a:lstStyle/>
                    <a:p>
                      <a:r>
                        <a:rPr sz="1400" b="1">
                          <a:solidFill>
                            <a:srgbClr val="FFFFFF"/>
                          </a:solidFill>
                        </a:rPr>
                        <a:t>Who</a:t>
                      </a:r>
                    </a:p>
                  </a:txBody>
                  <a:tcPr>
                    <a:solidFill>
                      <a:srgbClr val="14375E"/>
                    </a:solidFill>
                  </a:tcPr>
                </a:tc>
                <a:tc>
                  <a:txBody>
                    <a:bodyPr/>
                    <a:lstStyle/>
                    <a:p>
                      <a:r>
                        <a:rPr sz="1400" b="1">
                          <a:solidFill>
                            <a:srgbClr val="FFFFFF"/>
                          </a:solidFill>
                        </a:rPr>
                        <a:t>Chattanooga</a:t>
                      </a:r>
                    </a:p>
                  </a:txBody>
                  <a:tcPr>
                    <a:solidFill>
                      <a:srgbClr val="14375E"/>
                    </a:solidFill>
                  </a:tcPr>
                </a:tc>
                <a:extLst>
                  <a:ext uri="{0D108BD9-81ED-4DB2-BD59-A6C34878D82A}">
                    <a16:rowId xmlns:a16="http://schemas.microsoft.com/office/drawing/2014/main" val="10000"/>
                  </a:ext>
                </a:extLst>
              </a:tr>
              <a:tr h="365760">
                <a:tc>
                  <a:txBody>
                    <a:bodyPr/>
                    <a:lstStyle/>
                    <a:p>
                      <a:r>
                        <a:rPr sz="1300">
                          <a:solidFill>
                            <a:srgbClr val="1A1A1A"/>
                          </a:solidFill>
                        </a:rPr>
                        <a:t>Which camera file for each junction</a:t>
                      </a:r>
                    </a:p>
                  </a:txBody>
                  <a:tcPr>
                    <a:solidFill>
                      <a:srgbClr val="F4F7FB"/>
                    </a:solidFill>
                  </a:tcPr>
                </a:tc>
                <a:tc>
                  <a:txBody>
                    <a:bodyPr/>
                    <a:lstStyle/>
                    <a:p>
                      <a:r>
                        <a:rPr sz="1300">
                          <a:solidFill>
                            <a:srgbClr val="1A1A1A"/>
                          </a:solidFill>
                        </a:rPr>
                        <a:t>person</a:t>
                      </a:r>
                    </a:p>
                  </a:txBody>
                  <a:tcPr>
                    <a:solidFill>
                      <a:srgbClr val="F4F7FB"/>
                    </a:solidFill>
                  </a:tcPr>
                </a:tc>
                <a:tc>
                  <a:txBody>
                    <a:bodyPr/>
                    <a:lstStyle/>
                    <a:p>
                      <a:r>
                        <a:rPr sz="1300">
                          <a:solidFill>
                            <a:srgbClr val="1A1A1A"/>
                          </a:solidFill>
                        </a:rPr>
                        <a:t>6 cells</a:t>
                      </a:r>
                    </a:p>
                  </a:txBody>
                  <a:tcPr>
                    <a:solidFill>
                      <a:srgbClr val="F4F7FB"/>
                    </a:solidFill>
                  </a:tcPr>
                </a:tc>
                <a:extLst>
                  <a:ext uri="{0D108BD9-81ED-4DB2-BD59-A6C34878D82A}">
                    <a16:rowId xmlns:a16="http://schemas.microsoft.com/office/drawing/2014/main" val="10001"/>
                  </a:ext>
                </a:extLst>
              </a:tr>
              <a:tr h="365760">
                <a:tc>
                  <a:txBody>
                    <a:bodyPr/>
                    <a:lstStyle/>
                    <a:p>
                      <a:r>
                        <a:rPr sz="1300">
                          <a:solidFill>
                            <a:srgbClr val="1A1A1A"/>
                          </a:solidFill>
                        </a:rPr>
                        <a:t>Which Synchro intersection ID</a:t>
                      </a:r>
                    </a:p>
                  </a:txBody>
                  <a:tcPr>
                    <a:solidFill>
                      <a:srgbClr val="FFFFFF"/>
                    </a:solidFill>
                  </a:tcPr>
                </a:tc>
                <a:tc>
                  <a:txBody>
                    <a:bodyPr/>
                    <a:lstStyle/>
                    <a:p>
                      <a:r>
                        <a:rPr sz="1300">
                          <a:solidFill>
                            <a:srgbClr val="1A1A1A"/>
                          </a:solidFill>
                        </a:rPr>
                        <a:t>person</a:t>
                      </a:r>
                    </a:p>
                  </a:txBody>
                  <a:tcPr>
                    <a:solidFill>
                      <a:srgbClr val="FFFFFF"/>
                    </a:solidFill>
                  </a:tcPr>
                </a:tc>
                <a:tc>
                  <a:txBody>
                    <a:bodyPr/>
                    <a:lstStyle/>
                    <a:p>
                      <a:r>
                        <a:rPr sz="1300">
                          <a:solidFill>
                            <a:srgbClr val="1A1A1A"/>
                          </a:solidFill>
                        </a:rPr>
                        <a:t>6 cells</a:t>
                      </a:r>
                    </a:p>
                  </a:txBody>
                  <a:tcPr>
                    <a:solidFill>
                      <a:srgbClr val="FFFFFF"/>
                    </a:solidFill>
                  </a:tcPr>
                </a:tc>
                <a:extLst>
                  <a:ext uri="{0D108BD9-81ED-4DB2-BD59-A6C34878D82A}">
                    <a16:rowId xmlns:a16="http://schemas.microsoft.com/office/drawing/2014/main" val="10002"/>
                  </a:ext>
                </a:extLst>
              </a:tr>
              <a:tr h="365760">
                <a:tc>
                  <a:txBody>
                    <a:bodyPr/>
                    <a:lstStyle/>
                    <a:p>
                      <a:r>
                        <a:rPr sz="1300">
                          <a:solidFill>
                            <a:srgbClr val="1A1A1A"/>
                          </a:solidFill>
                        </a:rPr>
                        <a:t>Which Synchro file</a:t>
                      </a:r>
                    </a:p>
                  </a:txBody>
                  <a:tcPr>
                    <a:solidFill>
                      <a:srgbClr val="F4F7FB"/>
                    </a:solidFill>
                  </a:tcPr>
                </a:tc>
                <a:tc>
                  <a:txBody>
                    <a:bodyPr/>
                    <a:lstStyle/>
                    <a:p>
                      <a:r>
                        <a:rPr sz="1300">
                          <a:solidFill>
                            <a:srgbClr val="1A1A1A"/>
                          </a:solidFill>
                        </a:rPr>
                        <a:t>person</a:t>
                      </a:r>
                    </a:p>
                  </a:txBody>
                  <a:tcPr>
                    <a:solidFill>
                      <a:srgbClr val="F4F7FB"/>
                    </a:solidFill>
                  </a:tcPr>
                </a:tc>
                <a:tc>
                  <a:txBody>
                    <a:bodyPr/>
                    <a:lstStyle/>
                    <a:p>
                      <a:r>
                        <a:rPr sz="1300">
                          <a:solidFill>
                            <a:srgbClr val="1A1A1A"/>
                          </a:solidFill>
                        </a:rPr>
                        <a:t>1 cell</a:t>
                      </a:r>
                    </a:p>
                  </a:txBody>
                  <a:tcPr>
                    <a:solidFill>
                      <a:srgbClr val="F4F7FB"/>
                    </a:solidFill>
                  </a:tcPr>
                </a:tc>
                <a:extLst>
                  <a:ext uri="{0D108BD9-81ED-4DB2-BD59-A6C34878D82A}">
                    <a16:rowId xmlns:a16="http://schemas.microsoft.com/office/drawing/2014/main" val="10003"/>
                  </a:ext>
                </a:extLst>
              </a:tr>
              <a:tr h="365760">
                <a:tc>
                  <a:txBody>
                    <a:bodyPr/>
                    <a:lstStyle/>
                    <a:p>
                      <a:r>
                        <a:rPr sz="1300">
                          <a:solidFill>
                            <a:srgbClr val="1A1A1A"/>
                          </a:solidFill>
                        </a:rPr>
                        <a:t>Intersection name and survey date</a:t>
                      </a:r>
                    </a:p>
                  </a:txBody>
                  <a:tcPr>
                    <a:solidFill>
                      <a:srgbClr val="FFFFFF"/>
                    </a:solidFill>
                  </a:tcPr>
                </a:tc>
                <a:tc>
                  <a:txBody>
                    <a:bodyPr/>
                    <a:lstStyle/>
                    <a:p>
                      <a:r>
                        <a:rPr sz="1300">
                          <a:solidFill>
                            <a:srgbClr val="1A1A1A"/>
                          </a:solidFill>
                        </a:rPr>
                        <a:t>generated</a:t>
                      </a:r>
                    </a:p>
                  </a:txBody>
                  <a:tcPr>
                    <a:solidFill>
                      <a:srgbClr val="FFFFFF"/>
                    </a:solidFill>
                  </a:tcPr>
                </a:tc>
                <a:tc>
                  <a:txBody>
                    <a:bodyPr/>
                    <a:lstStyle/>
                    <a:p>
                      <a:r>
                        <a:rPr sz="1300">
                          <a:solidFill>
                            <a:srgbClr val="1A1A1A"/>
                          </a:solidFill>
                        </a:rPr>
                        <a:t>auto</a:t>
                      </a:r>
                    </a:p>
                  </a:txBody>
                  <a:tcPr>
                    <a:solidFill>
                      <a:srgbClr val="FFFFFF"/>
                    </a:solidFill>
                  </a:tcPr>
                </a:tc>
                <a:extLst>
                  <a:ext uri="{0D108BD9-81ED-4DB2-BD59-A6C34878D82A}">
                    <a16:rowId xmlns:a16="http://schemas.microsoft.com/office/drawing/2014/main" val="10004"/>
                  </a:ext>
                </a:extLst>
              </a:tr>
              <a:tr h="365760">
                <a:tc>
                  <a:txBody>
                    <a:bodyPr/>
                    <a:lstStyle/>
                    <a:p>
                      <a:r>
                        <a:rPr sz="1300">
                          <a:solidFill>
                            <a:srgbClr val="1A1A1A"/>
                          </a:solidFill>
                        </a:rPr>
                        <a:t>Turn code per movement, counts</a:t>
                      </a:r>
                    </a:p>
                  </a:txBody>
                  <a:tcPr>
                    <a:solidFill>
                      <a:srgbClr val="F4F7FB"/>
                    </a:solidFill>
                  </a:tcPr>
                </a:tc>
                <a:tc>
                  <a:txBody>
                    <a:bodyPr/>
                    <a:lstStyle/>
                    <a:p>
                      <a:r>
                        <a:rPr sz="1300">
                          <a:solidFill>
                            <a:srgbClr val="1A1A1A"/>
                          </a:solidFill>
                        </a:rPr>
                        <a:t>generated</a:t>
                      </a:r>
                    </a:p>
                  </a:txBody>
                  <a:tcPr>
                    <a:solidFill>
                      <a:srgbClr val="F4F7FB"/>
                    </a:solidFill>
                  </a:tcPr>
                </a:tc>
                <a:tc>
                  <a:txBody>
                    <a:bodyPr/>
                    <a:lstStyle/>
                    <a:p>
                      <a:r>
                        <a:rPr sz="1300">
                          <a:solidFill>
                            <a:srgbClr val="1A1A1A"/>
                          </a:solidFill>
                        </a:rPr>
                        <a:t>80 rows</a:t>
                      </a:r>
                    </a:p>
                  </a:txBody>
                  <a:tcPr>
                    <a:solidFill>
                      <a:srgbClr val="F4F7FB"/>
                    </a:solidFill>
                  </a:tcPr>
                </a:tc>
                <a:extLst>
                  <a:ext uri="{0D108BD9-81ED-4DB2-BD59-A6C34878D82A}">
                    <a16:rowId xmlns:a16="http://schemas.microsoft.com/office/drawing/2014/main" val="10005"/>
                  </a:ext>
                </a:extLst>
              </a:tr>
              <a:tr h="365760">
                <a:tc>
                  <a:txBody>
                    <a:bodyPr/>
                    <a:lstStyle/>
                    <a:p>
                      <a:r>
                        <a:rPr sz="1300">
                          <a:solidFill>
                            <a:srgbClr val="1A1A1A"/>
                          </a:solidFill>
                        </a:rPr>
                        <a:t>Turn code per movement, signals</a:t>
                      </a:r>
                    </a:p>
                  </a:txBody>
                  <a:tcPr>
                    <a:solidFill>
                      <a:srgbClr val="FFFFFF"/>
                    </a:solidFill>
                  </a:tcPr>
                </a:tc>
                <a:tc>
                  <a:txBody>
                    <a:bodyPr/>
                    <a:lstStyle/>
                    <a:p>
                      <a:r>
                        <a:rPr sz="1300">
                          <a:solidFill>
                            <a:srgbClr val="1A1A1A"/>
                          </a:solidFill>
                        </a:rPr>
                        <a:t>generated</a:t>
                      </a:r>
                    </a:p>
                  </a:txBody>
                  <a:tcPr>
                    <a:solidFill>
                      <a:srgbClr val="FFFFFF"/>
                    </a:solidFill>
                  </a:tcPr>
                </a:tc>
                <a:tc>
                  <a:txBody>
                    <a:bodyPr/>
                    <a:lstStyle/>
                    <a:p>
                      <a:r>
                        <a:rPr sz="1300">
                          <a:solidFill>
                            <a:srgbClr val="1A1A1A"/>
                          </a:solidFill>
                        </a:rPr>
                        <a:t>80 rows</a:t>
                      </a:r>
                    </a:p>
                  </a:txBody>
                  <a:tcPr>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Corrections stay put</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Warnings point at rows worth checking; a person fixes them in the sheet</a:t>
            </a:r>
          </a:p>
          <a:p>
            <a:pPr algn="l">
              <a:spcAft>
                <a:spcPts val="800"/>
              </a:spcAft>
            </a:pPr>
            <a:r>
              <a:rPr sz="1800" b="0">
                <a:solidFill>
                  <a:srgbClr val="1A1A1A"/>
                </a:solidFill>
                <a:latin typeface="Calibri"/>
              </a:rPr>
              <a:t>• Re-running the stage used to overwrite those fixes - the tool undid its own advice</a:t>
            </a:r>
          </a:p>
          <a:p>
            <a:pPr algn="l">
              <a:spcAft>
                <a:spcPts val="800"/>
              </a:spcAft>
            </a:pPr>
            <a:r>
              <a:rPr sz="1800" b="0">
                <a:solidFill>
                  <a:srgbClr val="1A1A1A"/>
                </a:solidFill>
                <a:latin typeface="Calibri"/>
              </a:rPr>
              <a:t>• Now anything a person has entered is kept, and the run says what it would have changed</a:t>
            </a:r>
          </a:p>
          <a:p>
            <a:pPr algn="l">
              <a:spcAft>
                <a:spcPts val="800"/>
              </a:spcAft>
            </a:pPr>
            <a:r>
              <a:rPr sz="1800" b="0">
                <a:solidFill>
                  <a:srgbClr val="1A1A1A"/>
                </a:solidFill>
                <a:latin typeface="Calibri"/>
              </a:rPr>
              <a:t>• --regenerate rebuilds from scratch, for after the derivation itself is fixed</a:t>
            </a:r>
          </a:p>
          <a:p>
            <a:pPr algn="l">
              <a:spcAft>
                <a:spcPts val="800"/>
              </a:spcAft>
            </a:pPr>
            <a:r>
              <a:rPr sz="1800" b="0">
                <a:solidFill>
                  <a:srgbClr val="1A1A1A"/>
                </a:solidFill>
                <a:latin typeface="Calibri"/>
              </a:rPr>
              <a:t>• This matters: the SUMO MatchupTable itself has 11 hand-corrected cells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743200"/>
            <a:ext cx="10515600" cy="1280160"/>
          </a:xfrm>
          <a:prstGeom prst="rect">
            <a:avLst/>
          </a:prstGeom>
          <a:noFill/>
        </p:spPr>
        <p:txBody>
          <a:bodyPr wrap="square">
            <a:spAutoFit/>
          </a:bodyPr>
          <a:lstStyle/>
          <a:p>
            <a:pPr algn="l"/>
            <a:r>
              <a:rPr sz="3400" b="1">
                <a:solidFill>
                  <a:srgbClr val="FFFFFF"/>
                </a:solidFill>
                <a:latin typeface="Calibri"/>
              </a:rPr>
              <a:t>Step 4</a:t>
            </a:r>
          </a:p>
        </p:txBody>
      </p:sp>
      <p:sp>
        <p:nvSpPr>
          <p:cNvPr id="4" name="TextBox 3"/>
          <p:cNvSpPr txBox="1"/>
          <p:nvPr/>
        </p:nvSpPr>
        <p:spPr>
          <a:xfrm>
            <a:off x="822960" y="4023360"/>
            <a:ext cx="10515600" cy="731520"/>
          </a:xfrm>
          <a:prstGeom prst="rect">
            <a:avLst/>
          </a:prstGeom>
          <a:noFill/>
        </p:spPr>
        <p:txBody>
          <a:bodyPr wrap="none">
            <a:spAutoFit/>
          </a:bodyPr>
          <a:lstStyle/>
          <a:p>
            <a:pPr algn="l"/>
            <a:r>
              <a:rPr sz="1800" b="0">
                <a:solidFill>
                  <a:srgbClr val="BBCCE0"/>
                </a:solidFill>
                <a:latin typeface="Calibri"/>
              </a:rPr>
              <a:t>How it lines up with the SUMO MatchupTable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The two tables describe the same road, differently</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Same junctions, same approaches, same movements - independently derived</a:t>
            </a:r>
          </a:p>
          <a:p>
            <a:pPr algn="l">
              <a:spcAft>
                <a:spcPts val="800"/>
              </a:spcAft>
            </a:pPr>
            <a:r>
              <a:rPr sz="1800" b="0">
                <a:solidFill>
                  <a:srgbClr val="1A1A1A"/>
                </a:solidFill>
                <a:latin typeface="Calibri"/>
              </a:rPr>
              <a:t>• But the ID numbers differ, because each tool numbers junctions its own way</a:t>
            </a:r>
          </a:p>
          <a:p>
            <a:pPr algn="l">
              <a:spcAft>
                <a:spcPts val="800"/>
              </a:spcAft>
            </a:pPr>
            <a:r>
              <a:rPr sz="1800" b="0">
                <a:solidFill>
                  <a:srgbClr val="1A1A1A"/>
                </a:solidFill>
                <a:latin typeface="Calibri"/>
              </a:rPr>
              <a:t>• SUMO numbers them 2, 3, 4, 7, 8, 9, 10, 11, 12, 18</a:t>
            </a:r>
          </a:p>
          <a:p>
            <a:pPr algn="l">
              <a:spcAft>
                <a:spcPts val="800"/>
              </a:spcAft>
            </a:pPr>
            <a:r>
              <a:rPr sz="1800" b="0">
                <a:solidFill>
                  <a:srgbClr val="1A1A1A"/>
                </a:solidFill>
                <a:latin typeface="Calibri"/>
              </a:rPr>
              <a:t>• OpenDRIVE numbers the same ten 2, 4, 5, 7, 9, 10, 11, 13, 14, 15</a:t>
            </a:r>
          </a:p>
          <a:p>
            <a:pPr algn="l">
              <a:spcAft>
                <a:spcPts val="800"/>
              </a:spcAft>
            </a:pPr>
            <a:r>
              <a:rPr sz="1800" b="0">
                <a:solidFill>
                  <a:srgbClr val="1A1A1A"/>
                </a:solidFill>
                <a:latin typeface="Calibri"/>
              </a:rPr>
              <a:t>• We use the OpenDRIVE numbers, so the pipeline works on any file</a:t>
            </a:r>
          </a:p>
          <a:p>
            <a:pPr algn="l">
              <a:spcAft>
                <a:spcPts val="800"/>
              </a:spcAft>
            </a:pPr>
            <a:r>
              <a:rPr sz="1800" b="0">
                <a:solidFill>
                  <a:srgbClr val="1A1A1A"/>
                </a:solidFill>
                <a:latin typeface="Calibri"/>
              </a:rPr>
              <a:t>• The translation is written to &lt;name&gt;_junctions.csv and used by nothing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The junction translation table</a:t>
            </a:r>
          </a:p>
        </p:txBody>
      </p:sp>
      <p:graphicFrame>
        <p:nvGraphicFramePr>
          <p:cNvPr id="4" name="Table 3"/>
          <p:cNvGraphicFramePr>
            <a:graphicFrameLocks noGrp="1"/>
          </p:cNvGraphicFramePr>
          <p:nvPr/>
        </p:nvGraphicFramePr>
        <p:xfrm>
          <a:off x="548640" y="1371600"/>
          <a:ext cx="11064240" cy="2560320"/>
        </p:xfrm>
        <a:graphic>
          <a:graphicData uri="http://schemas.openxmlformats.org/drawingml/2006/table">
            <a:tbl>
              <a:tblPr firstRow="1" bandRow="1">
                <a:tableStyleId>{5C22544A-7EE6-4342-B048-85BDC9FD1C3A}</a:tableStyleId>
              </a:tblPr>
              <a:tblGrid>
                <a:gridCol w="2766060">
                  <a:extLst>
                    <a:ext uri="{9D8B030D-6E8A-4147-A177-3AD203B41FA5}">
                      <a16:colId xmlns:a16="http://schemas.microsoft.com/office/drawing/2014/main" val="20000"/>
                    </a:ext>
                  </a:extLst>
                </a:gridCol>
                <a:gridCol w="2766060">
                  <a:extLst>
                    <a:ext uri="{9D8B030D-6E8A-4147-A177-3AD203B41FA5}">
                      <a16:colId xmlns:a16="http://schemas.microsoft.com/office/drawing/2014/main" val="20001"/>
                    </a:ext>
                  </a:extLst>
                </a:gridCol>
                <a:gridCol w="2766060">
                  <a:extLst>
                    <a:ext uri="{9D8B030D-6E8A-4147-A177-3AD203B41FA5}">
                      <a16:colId xmlns:a16="http://schemas.microsoft.com/office/drawing/2014/main" val="20002"/>
                    </a:ext>
                  </a:extLst>
                </a:gridCol>
                <a:gridCol w="2766060">
                  <a:extLst>
                    <a:ext uri="{9D8B030D-6E8A-4147-A177-3AD203B41FA5}">
                      <a16:colId xmlns:a16="http://schemas.microsoft.com/office/drawing/2014/main" val="20003"/>
                    </a:ext>
                  </a:extLst>
                </a:gridCol>
              </a:tblGrid>
              <a:tr h="365760">
                <a:tc>
                  <a:txBody>
                    <a:bodyPr/>
                    <a:lstStyle/>
                    <a:p>
                      <a:r>
                        <a:rPr sz="1400" b="1">
                          <a:solidFill>
                            <a:srgbClr val="FFFFFF"/>
                          </a:solidFill>
                        </a:rPr>
                        <a:t>OpenDRIVE ID</a:t>
                      </a:r>
                    </a:p>
                  </a:txBody>
                  <a:tcPr>
                    <a:solidFill>
                      <a:srgbClr val="14375E"/>
                    </a:solidFill>
                  </a:tcPr>
                </a:tc>
                <a:tc>
                  <a:txBody>
                    <a:bodyPr/>
                    <a:lstStyle/>
                    <a:p>
                      <a:r>
                        <a:rPr sz="1400" b="1">
                          <a:solidFill>
                            <a:srgbClr val="FFFFFF"/>
                          </a:solidFill>
                        </a:rPr>
                        <a:t>SUMO ID</a:t>
                      </a:r>
                    </a:p>
                  </a:txBody>
                  <a:tcPr>
                    <a:solidFill>
                      <a:srgbClr val="14375E"/>
                    </a:solidFill>
                  </a:tcPr>
                </a:tc>
                <a:tc>
                  <a:txBody>
                    <a:bodyPr/>
                    <a:lstStyle/>
                    <a:p>
                      <a:r>
                        <a:rPr sz="1400" b="1">
                          <a:solidFill>
                            <a:srgbClr val="FFFFFF"/>
                          </a:solidFill>
                        </a:rPr>
                        <a:t>Internal links</a:t>
                      </a:r>
                    </a:p>
                  </a:txBody>
                  <a:tcPr>
                    <a:solidFill>
                      <a:srgbClr val="14375E"/>
                    </a:solidFill>
                  </a:tcPr>
                </a:tc>
                <a:tc>
                  <a:txBody>
                    <a:bodyPr/>
                    <a:lstStyle/>
                    <a:p>
                      <a:r>
                        <a:rPr sz="1400" b="1">
                          <a:solidFill>
                            <a:srgbClr val="FFFFFF"/>
                          </a:solidFill>
                        </a:rPr>
                        <a:t>Real intersection?</a:t>
                      </a:r>
                    </a:p>
                  </a:txBody>
                  <a:tcPr>
                    <a:solidFill>
                      <a:srgbClr val="14375E"/>
                    </a:solidFill>
                  </a:tcPr>
                </a:tc>
                <a:extLst>
                  <a:ext uri="{0D108BD9-81ED-4DB2-BD59-A6C34878D82A}">
                    <a16:rowId xmlns:a16="http://schemas.microsoft.com/office/drawing/2014/main" val="10000"/>
                  </a:ext>
                </a:extLst>
              </a:tr>
              <a:tr h="365760">
                <a:tc>
                  <a:txBody>
                    <a:bodyPr/>
                    <a:lstStyle/>
                    <a:p>
                      <a:r>
                        <a:rPr sz="1300">
                          <a:solidFill>
                            <a:srgbClr val="1A1A1A"/>
                          </a:solidFill>
                        </a:rPr>
                        <a:t>2</a:t>
                      </a:r>
                    </a:p>
                  </a:txBody>
                  <a:tcPr>
                    <a:solidFill>
                      <a:srgbClr val="F4F7FB"/>
                    </a:solidFill>
                  </a:tcPr>
                </a:tc>
                <a:tc>
                  <a:txBody>
                    <a:bodyPr/>
                    <a:lstStyle/>
                    <a:p>
                      <a:r>
                        <a:rPr sz="1300">
                          <a:solidFill>
                            <a:srgbClr val="1A1A1A"/>
                          </a:solidFill>
                        </a:rPr>
                        <a:t>2</a:t>
                      </a:r>
                    </a:p>
                  </a:txBody>
                  <a:tcPr>
                    <a:solidFill>
                      <a:srgbClr val="F4F7FB"/>
                    </a:solidFill>
                  </a:tcPr>
                </a:tc>
                <a:tc>
                  <a:txBody>
                    <a:bodyPr/>
                    <a:lstStyle/>
                    <a:p>
                      <a:r>
                        <a:rPr sz="1300">
                          <a:solidFill>
                            <a:srgbClr val="1A1A1A"/>
                          </a:solidFill>
                        </a:rPr>
                        <a:t>16</a:t>
                      </a:r>
                    </a:p>
                  </a:txBody>
                  <a:tcPr>
                    <a:solidFill>
                      <a:srgbClr val="F4F7FB"/>
                    </a:solidFill>
                  </a:tcPr>
                </a:tc>
                <a:tc>
                  <a:txBody>
                    <a:bodyPr/>
                    <a:lstStyle/>
                    <a:p>
                      <a:r>
                        <a:rPr sz="1300">
                          <a:solidFill>
                            <a:srgbClr val="1A1A1A"/>
                          </a:solidFill>
                        </a:rPr>
                        <a:t>yes</a:t>
                      </a:r>
                    </a:p>
                  </a:txBody>
                  <a:tcPr>
                    <a:solidFill>
                      <a:srgbClr val="F4F7FB"/>
                    </a:solidFill>
                  </a:tcPr>
                </a:tc>
                <a:extLst>
                  <a:ext uri="{0D108BD9-81ED-4DB2-BD59-A6C34878D82A}">
                    <a16:rowId xmlns:a16="http://schemas.microsoft.com/office/drawing/2014/main" val="10001"/>
                  </a:ext>
                </a:extLst>
              </a:tr>
              <a:tr h="365760">
                <a:tc>
                  <a:txBody>
                    <a:bodyPr/>
                    <a:lstStyle/>
                    <a:p>
                      <a:r>
                        <a:rPr sz="1300">
                          <a:solidFill>
                            <a:srgbClr val="1A1A1A"/>
                          </a:solidFill>
                        </a:rPr>
                        <a:t>4</a:t>
                      </a:r>
                    </a:p>
                  </a:txBody>
                  <a:tcPr>
                    <a:solidFill>
                      <a:srgbClr val="FFFFFF"/>
                    </a:solidFill>
                  </a:tcPr>
                </a:tc>
                <a:tc>
                  <a:txBody>
                    <a:bodyPr/>
                    <a:lstStyle/>
                    <a:p>
                      <a:r>
                        <a:rPr sz="1300">
                          <a:solidFill>
                            <a:srgbClr val="1A1A1A"/>
                          </a:solidFill>
                        </a:rPr>
                        <a:t>3</a:t>
                      </a:r>
                    </a:p>
                  </a:txBody>
                  <a:tcPr>
                    <a:solidFill>
                      <a:srgbClr val="FFFFFF"/>
                    </a:solidFill>
                  </a:tcPr>
                </a:tc>
                <a:tc>
                  <a:txBody>
                    <a:bodyPr/>
                    <a:lstStyle/>
                    <a:p>
                      <a:r>
                        <a:rPr sz="1300">
                          <a:solidFill>
                            <a:srgbClr val="1A1A1A"/>
                          </a:solidFill>
                        </a:rPr>
                        <a:t>17</a:t>
                      </a:r>
                    </a:p>
                  </a:txBody>
                  <a:tcPr>
                    <a:solidFill>
                      <a:srgbClr val="FFFFFF"/>
                    </a:solidFill>
                  </a:tcPr>
                </a:tc>
                <a:tc>
                  <a:txBody>
                    <a:bodyPr/>
                    <a:lstStyle/>
                    <a:p>
                      <a:r>
                        <a:rPr sz="1300">
                          <a:solidFill>
                            <a:srgbClr val="1A1A1A"/>
                          </a:solidFill>
                        </a:rPr>
                        <a:t>yes</a:t>
                      </a:r>
                    </a:p>
                  </a:txBody>
                  <a:tcPr>
                    <a:solidFill>
                      <a:srgbClr val="FFFFFF"/>
                    </a:solidFill>
                  </a:tcPr>
                </a:tc>
                <a:extLst>
                  <a:ext uri="{0D108BD9-81ED-4DB2-BD59-A6C34878D82A}">
                    <a16:rowId xmlns:a16="http://schemas.microsoft.com/office/drawing/2014/main" val="10002"/>
                  </a:ext>
                </a:extLst>
              </a:tr>
              <a:tr h="365760">
                <a:tc>
                  <a:txBody>
                    <a:bodyPr/>
                    <a:lstStyle/>
                    <a:p>
                      <a:r>
                        <a:rPr sz="1300">
                          <a:solidFill>
                            <a:srgbClr val="1A1A1A"/>
                          </a:solidFill>
                        </a:rPr>
                        <a:t>11</a:t>
                      </a:r>
                    </a:p>
                  </a:txBody>
                  <a:tcPr>
                    <a:solidFill>
                      <a:srgbClr val="F4F7FB"/>
                    </a:solidFill>
                  </a:tcPr>
                </a:tc>
                <a:tc>
                  <a:txBody>
                    <a:bodyPr/>
                    <a:lstStyle/>
                    <a:p>
                      <a:r>
                        <a:rPr sz="1300">
                          <a:solidFill>
                            <a:srgbClr val="1A1A1A"/>
                          </a:solidFill>
                        </a:rPr>
                        <a:t>10</a:t>
                      </a:r>
                    </a:p>
                  </a:txBody>
                  <a:tcPr>
                    <a:solidFill>
                      <a:srgbClr val="F4F7FB"/>
                    </a:solidFill>
                  </a:tcPr>
                </a:tc>
                <a:tc>
                  <a:txBody>
                    <a:bodyPr/>
                    <a:lstStyle/>
                    <a:p>
                      <a:r>
                        <a:rPr sz="1300">
                          <a:solidFill>
                            <a:srgbClr val="1A1A1A"/>
                          </a:solidFill>
                        </a:rPr>
                        <a:t>16</a:t>
                      </a:r>
                    </a:p>
                  </a:txBody>
                  <a:tcPr>
                    <a:solidFill>
                      <a:srgbClr val="F4F7FB"/>
                    </a:solidFill>
                  </a:tcPr>
                </a:tc>
                <a:tc>
                  <a:txBody>
                    <a:bodyPr/>
                    <a:lstStyle/>
                    <a:p>
                      <a:r>
                        <a:rPr sz="1300">
                          <a:solidFill>
                            <a:srgbClr val="1A1A1A"/>
                          </a:solidFill>
                        </a:rPr>
                        <a:t>yes</a:t>
                      </a:r>
                    </a:p>
                  </a:txBody>
                  <a:tcPr>
                    <a:solidFill>
                      <a:srgbClr val="F4F7FB"/>
                    </a:solidFill>
                  </a:tcPr>
                </a:tc>
                <a:extLst>
                  <a:ext uri="{0D108BD9-81ED-4DB2-BD59-A6C34878D82A}">
                    <a16:rowId xmlns:a16="http://schemas.microsoft.com/office/drawing/2014/main" val="10003"/>
                  </a:ext>
                </a:extLst>
              </a:tr>
              <a:tr h="365760">
                <a:tc>
                  <a:txBody>
                    <a:bodyPr/>
                    <a:lstStyle/>
                    <a:p>
                      <a:r>
                        <a:rPr sz="1300">
                          <a:solidFill>
                            <a:srgbClr val="1A1A1A"/>
                          </a:solidFill>
                        </a:rPr>
                        <a:t>14</a:t>
                      </a:r>
                    </a:p>
                  </a:txBody>
                  <a:tcPr>
                    <a:solidFill>
                      <a:srgbClr val="FFFFFF"/>
                    </a:solidFill>
                  </a:tcPr>
                </a:tc>
                <a:tc>
                  <a:txBody>
                    <a:bodyPr/>
                    <a:lstStyle/>
                    <a:p>
                      <a:r>
                        <a:rPr sz="1300">
                          <a:solidFill>
                            <a:srgbClr val="1A1A1A"/>
                          </a:solidFill>
                        </a:rPr>
                        <a:t>12</a:t>
                      </a:r>
                    </a:p>
                  </a:txBody>
                  <a:tcPr>
                    <a:solidFill>
                      <a:srgbClr val="FFFFFF"/>
                    </a:solidFill>
                  </a:tcPr>
                </a:tc>
                <a:tc>
                  <a:txBody>
                    <a:bodyPr/>
                    <a:lstStyle/>
                    <a:p>
                      <a:r>
                        <a:rPr sz="1300">
                          <a:solidFill>
                            <a:srgbClr val="1A1A1A"/>
                          </a:solidFill>
                        </a:rPr>
                        <a:t>17</a:t>
                      </a:r>
                    </a:p>
                  </a:txBody>
                  <a:tcPr>
                    <a:solidFill>
                      <a:srgbClr val="FFFFFF"/>
                    </a:solidFill>
                  </a:tcPr>
                </a:tc>
                <a:tc>
                  <a:txBody>
                    <a:bodyPr/>
                    <a:lstStyle/>
                    <a:p>
                      <a:r>
                        <a:rPr sz="1300">
                          <a:solidFill>
                            <a:srgbClr val="1A1A1A"/>
                          </a:solidFill>
                        </a:rPr>
                        <a:t>yes</a:t>
                      </a:r>
                    </a:p>
                  </a:txBody>
                  <a:tcPr>
                    <a:solidFill>
                      <a:srgbClr val="FFFFFF"/>
                    </a:solidFill>
                  </a:tcPr>
                </a:tc>
                <a:extLst>
                  <a:ext uri="{0D108BD9-81ED-4DB2-BD59-A6C34878D82A}">
                    <a16:rowId xmlns:a16="http://schemas.microsoft.com/office/drawing/2014/main" val="10004"/>
                  </a:ext>
                </a:extLst>
              </a:tr>
              <a:tr h="365760">
                <a:tc>
                  <a:txBody>
                    <a:bodyPr/>
                    <a:lstStyle/>
                    <a:p>
                      <a:r>
                        <a:rPr sz="1300">
                          <a:solidFill>
                            <a:srgbClr val="1A1A1A"/>
                          </a:solidFill>
                        </a:rPr>
                        <a:t>15</a:t>
                      </a:r>
                    </a:p>
                  </a:txBody>
                  <a:tcPr>
                    <a:solidFill>
                      <a:srgbClr val="F4F7FB"/>
                    </a:solidFill>
                  </a:tcPr>
                </a:tc>
                <a:tc>
                  <a:txBody>
                    <a:bodyPr/>
                    <a:lstStyle/>
                    <a:p>
                      <a:r>
                        <a:rPr sz="1300">
                          <a:solidFill>
                            <a:srgbClr val="1A1A1A"/>
                          </a:solidFill>
                        </a:rPr>
                        <a:t>18</a:t>
                      </a:r>
                    </a:p>
                  </a:txBody>
                  <a:tcPr>
                    <a:solidFill>
                      <a:srgbClr val="F4F7FB"/>
                    </a:solidFill>
                  </a:tcPr>
                </a:tc>
                <a:tc>
                  <a:txBody>
                    <a:bodyPr/>
                    <a:lstStyle/>
                    <a:p>
                      <a:r>
                        <a:rPr sz="1300">
                          <a:solidFill>
                            <a:srgbClr val="1A1A1A"/>
                          </a:solidFill>
                        </a:rPr>
                        <a:t>4</a:t>
                      </a:r>
                    </a:p>
                  </a:txBody>
                  <a:tcPr>
                    <a:solidFill>
                      <a:srgbClr val="F4F7FB"/>
                    </a:solidFill>
                  </a:tcPr>
                </a:tc>
                <a:tc>
                  <a:txBody>
                    <a:bodyPr/>
                    <a:lstStyle/>
                    <a:p>
                      <a:r>
                        <a:rPr sz="1300">
                          <a:solidFill>
                            <a:srgbClr val="1A1A1A"/>
                          </a:solidFill>
                        </a:rPr>
                        <a:t>yes</a:t>
                      </a:r>
                    </a:p>
                  </a:txBody>
                  <a:tcPr>
                    <a:solidFill>
                      <a:srgbClr val="F4F7FB"/>
                    </a:solidFill>
                  </a:tcPr>
                </a:tc>
                <a:extLst>
                  <a:ext uri="{0D108BD9-81ED-4DB2-BD59-A6C34878D82A}">
                    <a16:rowId xmlns:a16="http://schemas.microsoft.com/office/drawing/2014/main" val="10005"/>
                  </a:ext>
                </a:extLst>
              </a:tr>
              <a:tr h="365760">
                <a:tc>
                  <a:txBody>
                    <a:bodyPr/>
                    <a:lstStyle/>
                    <a:p>
                      <a:r>
                        <a:rPr sz="1300">
                          <a:solidFill>
                            <a:srgbClr val="1A1A1A"/>
                          </a:solidFill>
                        </a:rPr>
                        <a:t>1</a:t>
                      </a:r>
                    </a:p>
                  </a:txBody>
                  <a:tcPr>
                    <a:solidFill>
                      <a:srgbClr val="FFFFFF"/>
                    </a:solidFill>
                  </a:tcPr>
                </a:tc>
                <a:tc>
                  <a:txBody>
                    <a:bodyPr/>
                    <a:lstStyle/>
                    <a:p>
                      <a:r>
                        <a:rPr sz="1300">
                          <a:solidFill>
                            <a:srgbClr val="1A1A1A"/>
                          </a:solidFill>
                        </a:rPr>
                        <a:t>J4</a:t>
                      </a:r>
                    </a:p>
                  </a:txBody>
                  <a:tcPr>
                    <a:solidFill>
                      <a:srgbClr val="FFFFFF"/>
                    </a:solidFill>
                  </a:tcPr>
                </a:tc>
                <a:tc>
                  <a:txBody>
                    <a:bodyPr/>
                    <a:lstStyle/>
                    <a:p>
                      <a:r>
                        <a:rPr sz="1300">
                          <a:solidFill>
                            <a:srgbClr val="1A1A1A"/>
                          </a:solidFill>
                        </a:rPr>
                        <a:t>2</a:t>
                      </a:r>
                    </a:p>
                  </a:txBody>
                  <a:tcPr>
                    <a:solidFill>
                      <a:srgbClr val="FFFFFF"/>
                    </a:solidFill>
                  </a:tcPr>
                </a:tc>
                <a:tc>
                  <a:txBody>
                    <a:bodyPr/>
                    <a:lstStyle/>
                    <a:p>
                      <a:r>
                        <a:rPr sz="1300">
                          <a:solidFill>
                            <a:srgbClr val="1A1A1A"/>
                          </a:solidFill>
                        </a:rPr>
                        <a:t>no - mid-block</a:t>
                      </a:r>
                    </a:p>
                  </a:txBody>
                  <a:tcPr>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Result: the two tables agree</a:t>
            </a:r>
          </a:p>
        </p:txBody>
      </p:sp>
      <p:graphicFrame>
        <p:nvGraphicFramePr>
          <p:cNvPr id="4" name="Table 3"/>
          <p:cNvGraphicFramePr>
            <a:graphicFrameLocks noGrp="1"/>
          </p:cNvGraphicFramePr>
          <p:nvPr/>
        </p:nvGraphicFramePr>
        <p:xfrm>
          <a:off x="548640" y="1371600"/>
          <a:ext cx="11064240" cy="3291840"/>
        </p:xfrm>
        <a:graphic>
          <a:graphicData uri="http://schemas.openxmlformats.org/drawingml/2006/table">
            <a:tbl>
              <a:tblPr firstRow="1" bandRow="1">
                <a:tableStyleId>{5C22544A-7EE6-4342-B048-85BDC9FD1C3A}</a:tableStyleId>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365760">
                <a:tc>
                  <a:txBody>
                    <a:bodyPr/>
                    <a:lstStyle/>
                    <a:p>
                      <a:r>
                        <a:rPr sz="1400" b="1">
                          <a:solidFill>
                            <a:srgbClr val="FFFFFF"/>
                          </a:solidFill>
                        </a:rPr>
                        <a:t>What was compared</a:t>
                      </a:r>
                    </a:p>
                  </a:txBody>
                  <a:tcPr>
                    <a:solidFill>
                      <a:srgbClr val="14375E"/>
                    </a:solidFill>
                  </a:tcPr>
                </a:tc>
                <a:tc>
                  <a:txBody>
                    <a:bodyPr/>
                    <a:lstStyle/>
                    <a:p>
                      <a:r>
                        <a:rPr sz="1400" b="1">
                          <a:solidFill>
                            <a:srgbClr val="FFFFFF"/>
                          </a:solidFill>
                        </a:rPr>
                        <a:t>Result</a:t>
                      </a:r>
                    </a:p>
                  </a:txBody>
                  <a:tcPr>
                    <a:solidFill>
                      <a:srgbClr val="14375E"/>
                    </a:solidFill>
                  </a:tcPr>
                </a:tc>
                <a:extLst>
                  <a:ext uri="{0D108BD9-81ED-4DB2-BD59-A6C34878D82A}">
                    <a16:rowId xmlns:a16="http://schemas.microsoft.com/office/drawing/2014/main" val="10000"/>
                  </a:ext>
                </a:extLst>
              </a:tr>
              <a:tr h="365760">
                <a:tc>
                  <a:txBody>
                    <a:bodyPr/>
                    <a:lstStyle/>
                    <a:p>
                      <a:r>
                        <a:rPr sz="1300">
                          <a:solidFill>
                            <a:srgbClr val="1A1A1A"/>
                          </a:solidFill>
                        </a:rPr>
                        <a:t>Junctions</a:t>
                      </a:r>
                    </a:p>
                  </a:txBody>
                  <a:tcPr>
                    <a:solidFill>
                      <a:srgbClr val="F4F7FB"/>
                    </a:solidFill>
                  </a:tcPr>
                </a:tc>
                <a:tc>
                  <a:txBody>
                    <a:bodyPr/>
                    <a:lstStyle/>
                    <a:p>
                      <a:r>
                        <a:rPr sz="1300">
                          <a:solidFill>
                            <a:srgbClr val="1A1A1A"/>
                          </a:solidFill>
                        </a:rPr>
                        <a:t>10, same set</a:t>
                      </a:r>
                    </a:p>
                  </a:txBody>
                  <a:tcPr>
                    <a:solidFill>
                      <a:srgbClr val="F4F7FB"/>
                    </a:solidFill>
                  </a:tcPr>
                </a:tc>
                <a:extLst>
                  <a:ext uri="{0D108BD9-81ED-4DB2-BD59-A6C34878D82A}">
                    <a16:rowId xmlns:a16="http://schemas.microsoft.com/office/drawing/2014/main" val="10001"/>
                  </a:ext>
                </a:extLst>
              </a:tr>
              <a:tr h="365760">
                <a:tc>
                  <a:txBody>
                    <a:bodyPr/>
                    <a:lstStyle/>
                    <a:p>
                      <a:r>
                        <a:rPr sz="1300">
                          <a:solidFill>
                            <a:srgbClr val="1A1A1A"/>
                          </a:solidFill>
                        </a:rPr>
                        <a:t>Approaches</a:t>
                      </a:r>
                    </a:p>
                  </a:txBody>
                  <a:tcPr>
                    <a:solidFill>
                      <a:srgbClr val="FFFFFF"/>
                    </a:solidFill>
                  </a:tcPr>
                </a:tc>
                <a:tc>
                  <a:txBody>
                    <a:bodyPr/>
                    <a:lstStyle/>
                    <a:p>
                      <a:r>
                        <a:rPr sz="1300">
                          <a:solidFill>
                            <a:srgbClr val="1A1A1A"/>
                          </a:solidFill>
                        </a:rPr>
                        <a:t>34, same per junction</a:t>
                      </a:r>
                    </a:p>
                  </a:txBody>
                  <a:tcPr>
                    <a:solidFill>
                      <a:srgbClr val="FFFFFF"/>
                    </a:solidFill>
                  </a:tcPr>
                </a:tc>
                <a:extLst>
                  <a:ext uri="{0D108BD9-81ED-4DB2-BD59-A6C34878D82A}">
                    <a16:rowId xmlns:a16="http://schemas.microsoft.com/office/drawing/2014/main" val="10002"/>
                  </a:ext>
                </a:extLst>
              </a:tr>
              <a:tr h="365760">
                <a:tc>
                  <a:txBody>
                    <a:bodyPr/>
                    <a:lstStyle/>
                    <a:p>
                      <a:r>
                        <a:rPr sz="1300">
                          <a:solidFill>
                            <a:srgbClr val="1A1A1A"/>
                          </a:solidFill>
                        </a:rPr>
                        <a:t>Movements</a:t>
                      </a:r>
                    </a:p>
                  </a:txBody>
                  <a:tcPr>
                    <a:solidFill>
                      <a:srgbClr val="F4F7FB"/>
                    </a:solidFill>
                  </a:tcPr>
                </a:tc>
                <a:tc>
                  <a:txBody>
                    <a:bodyPr/>
                    <a:lstStyle/>
                    <a:p>
                      <a:r>
                        <a:rPr sz="1300">
                          <a:solidFill>
                            <a:srgbClr val="1A1A1A"/>
                          </a:solidFill>
                        </a:rPr>
                        <a:t>104, same per junction</a:t>
                      </a:r>
                    </a:p>
                  </a:txBody>
                  <a:tcPr>
                    <a:solidFill>
                      <a:srgbClr val="F4F7FB"/>
                    </a:solidFill>
                  </a:tcPr>
                </a:tc>
                <a:extLst>
                  <a:ext uri="{0D108BD9-81ED-4DB2-BD59-A6C34878D82A}">
                    <a16:rowId xmlns:a16="http://schemas.microsoft.com/office/drawing/2014/main" val="10003"/>
                  </a:ext>
                </a:extLst>
              </a:tr>
              <a:tr h="365760">
                <a:tc>
                  <a:txBody>
                    <a:bodyPr/>
                    <a:lstStyle/>
                    <a:p>
                      <a:r>
                        <a:rPr sz="1300">
                          <a:solidFill>
                            <a:srgbClr val="1A1A1A"/>
                          </a:solidFill>
                        </a:rPr>
                        <a:t>Turn labels (left/thru/right/U)</a:t>
                      </a:r>
                    </a:p>
                  </a:txBody>
                  <a:tcPr>
                    <a:solidFill>
                      <a:srgbClr val="FFFFFF"/>
                    </a:solidFill>
                  </a:tcPr>
                </a:tc>
                <a:tc>
                  <a:txBody>
                    <a:bodyPr/>
                    <a:lstStyle/>
                    <a:p>
                      <a:r>
                        <a:rPr sz="1300">
                          <a:solidFill>
                            <a:srgbClr val="1A1A1A"/>
                          </a:solidFill>
                        </a:rPr>
                        <a:t>104 / 104</a:t>
                      </a:r>
                    </a:p>
                  </a:txBody>
                  <a:tcPr>
                    <a:solidFill>
                      <a:srgbClr val="FFFFFF"/>
                    </a:solidFill>
                  </a:tcPr>
                </a:tc>
                <a:extLst>
                  <a:ext uri="{0D108BD9-81ED-4DB2-BD59-A6C34878D82A}">
                    <a16:rowId xmlns:a16="http://schemas.microsoft.com/office/drawing/2014/main" val="10004"/>
                  </a:ext>
                </a:extLst>
              </a:tr>
              <a:tr h="365760">
                <a:tc>
                  <a:txBody>
                    <a:bodyPr/>
                    <a:lstStyle/>
                    <a:p>
                      <a:r>
                        <a:rPr sz="1300">
                          <a:solidFill>
                            <a:srgbClr val="1A1A1A"/>
                          </a:solidFill>
                        </a:rPr>
                        <a:t>Count codes (NBL, EBR ...)</a:t>
                      </a:r>
                    </a:p>
                  </a:txBody>
                  <a:tcPr>
                    <a:solidFill>
                      <a:srgbClr val="F4F7FB"/>
                    </a:solidFill>
                  </a:tcPr>
                </a:tc>
                <a:tc>
                  <a:txBody>
                    <a:bodyPr/>
                    <a:lstStyle/>
                    <a:p>
                      <a:r>
                        <a:rPr sz="1300">
                          <a:solidFill>
                            <a:srgbClr val="1A1A1A"/>
                          </a:solidFill>
                        </a:rPr>
                        <a:t>104 / 104</a:t>
                      </a:r>
                    </a:p>
                  </a:txBody>
                  <a:tcPr>
                    <a:solidFill>
                      <a:srgbClr val="F4F7FB"/>
                    </a:solidFill>
                  </a:tcPr>
                </a:tc>
                <a:extLst>
                  <a:ext uri="{0D108BD9-81ED-4DB2-BD59-A6C34878D82A}">
                    <a16:rowId xmlns:a16="http://schemas.microsoft.com/office/drawing/2014/main" val="10005"/>
                  </a:ext>
                </a:extLst>
              </a:tr>
              <a:tr h="365760">
                <a:tc>
                  <a:txBody>
                    <a:bodyPr/>
                    <a:lstStyle/>
                    <a:p>
                      <a:r>
                        <a:rPr sz="1300">
                          <a:solidFill>
                            <a:srgbClr val="1A1A1A"/>
                          </a:solidFill>
                        </a:rPr>
                        <a:t>Signal codes</a:t>
                      </a:r>
                    </a:p>
                  </a:txBody>
                  <a:tcPr>
                    <a:solidFill>
                      <a:srgbClr val="FFFFFF"/>
                    </a:solidFill>
                  </a:tcPr>
                </a:tc>
                <a:tc>
                  <a:txBody>
                    <a:bodyPr/>
                    <a:lstStyle/>
                    <a:p>
                      <a:r>
                        <a:rPr sz="1300">
                          <a:solidFill>
                            <a:srgbClr val="1A1A1A"/>
                          </a:solidFill>
                        </a:rPr>
                        <a:t>104 / 104</a:t>
                      </a:r>
                    </a:p>
                  </a:txBody>
                  <a:tcPr>
                    <a:solidFill>
                      <a:srgbClr val="FFFFFF"/>
                    </a:solidFill>
                  </a:tcPr>
                </a:tc>
                <a:extLst>
                  <a:ext uri="{0D108BD9-81ED-4DB2-BD59-A6C34878D82A}">
                    <a16:rowId xmlns:a16="http://schemas.microsoft.com/office/drawing/2014/main" val="10006"/>
                  </a:ext>
                </a:extLst>
              </a:tr>
              <a:tr h="365760">
                <a:tc>
                  <a:txBody>
                    <a:bodyPr/>
                    <a:lstStyle/>
                    <a:p>
                      <a:r>
                        <a:rPr sz="1300">
                          <a:solidFill>
                            <a:srgbClr val="1A1A1A"/>
                          </a:solidFill>
                        </a:rPr>
                        <a:t>Approach code sets</a:t>
                      </a:r>
                    </a:p>
                  </a:txBody>
                  <a:tcPr>
                    <a:solidFill>
                      <a:srgbClr val="F4F7FB"/>
                    </a:solidFill>
                  </a:tcPr>
                </a:tc>
                <a:tc>
                  <a:txBody>
                    <a:bodyPr/>
                    <a:lstStyle/>
                    <a:p>
                      <a:r>
                        <a:rPr sz="1300">
                          <a:solidFill>
                            <a:srgbClr val="1A1A1A"/>
                          </a:solidFill>
                        </a:rPr>
                        <a:t>34 / 34</a:t>
                      </a:r>
                    </a:p>
                  </a:txBody>
                  <a:tcPr>
                    <a:solidFill>
                      <a:srgbClr val="F4F7FB"/>
                    </a:solidFill>
                  </a:tcPr>
                </a:tc>
                <a:extLst>
                  <a:ext uri="{0D108BD9-81ED-4DB2-BD59-A6C34878D82A}">
                    <a16:rowId xmlns:a16="http://schemas.microsoft.com/office/drawing/2014/main" val="10007"/>
                  </a:ext>
                </a:extLst>
              </a:tr>
              <a:tr h="365760">
                <a:tc>
                  <a:txBody>
                    <a:bodyPr/>
                    <a:lstStyle/>
                    <a:p>
                      <a:r>
                        <a:rPr sz="1300">
                          <a:solidFill>
                            <a:srgbClr val="1A1A1A"/>
                          </a:solidFill>
                        </a:rPr>
                        <a:t>Bearings</a:t>
                      </a:r>
                    </a:p>
                  </a:txBody>
                  <a:tcPr>
                    <a:solidFill>
                      <a:srgbClr val="FFFFFF"/>
                    </a:solidFill>
                  </a:tcPr>
                </a:tc>
                <a:tc>
                  <a:txBody>
                    <a:bodyPr/>
                    <a:lstStyle/>
                    <a:p>
                      <a:r>
                        <a:rPr sz="1300">
                          <a:solidFill>
                            <a:srgbClr val="1A1A1A"/>
                          </a:solidFill>
                        </a:rPr>
                        <a:t>mean difference 0.07 deg</a:t>
                      </a:r>
                    </a:p>
                  </a:txBody>
                  <a:tcPr>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743200"/>
            <a:ext cx="10515600" cy="1280160"/>
          </a:xfrm>
          <a:prstGeom prst="rect">
            <a:avLst/>
          </a:prstGeom>
          <a:noFill/>
        </p:spPr>
        <p:txBody>
          <a:bodyPr wrap="square">
            <a:spAutoFit/>
          </a:bodyPr>
          <a:lstStyle/>
          <a:p>
            <a:pPr algn="l"/>
            <a:r>
              <a:rPr sz="3400" b="1">
                <a:solidFill>
                  <a:srgbClr val="FFFFFF"/>
                </a:solidFill>
                <a:latin typeface="Calibri"/>
              </a:rPr>
              <a:t>Step 5</a:t>
            </a:r>
          </a:p>
        </p:txBody>
      </p:sp>
      <p:sp>
        <p:nvSpPr>
          <p:cNvPr id="4" name="TextBox 3"/>
          <p:cNvSpPr txBox="1"/>
          <p:nvPr/>
        </p:nvSpPr>
        <p:spPr>
          <a:xfrm>
            <a:off x="822960" y="4023360"/>
            <a:ext cx="10515600" cy="731520"/>
          </a:xfrm>
          <a:prstGeom prst="rect">
            <a:avLst/>
          </a:prstGeom>
          <a:noFill/>
        </p:spPr>
        <p:txBody>
          <a:bodyPr wrap="none">
            <a:spAutoFit/>
          </a:bodyPr>
          <a:lstStyle/>
          <a:p>
            <a:pPr algn="l"/>
            <a:r>
              <a:rPr sz="1800" b="0">
                <a:solidFill>
                  <a:srgbClr val="BBCCE0"/>
                </a:solidFill>
                <a:latin typeface="Calibri"/>
              </a:rPr>
              <a:t>Vehicle inputs - traffic entering the model</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What a vehicle input is</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The point where traffic enters the model, and how much</a:t>
            </a:r>
          </a:p>
          <a:p>
            <a:pPr algn="l">
              <a:spcAft>
                <a:spcPts val="800"/>
              </a:spcAft>
            </a:pPr>
            <a:r>
              <a:rPr sz="1800" b="0">
                <a:solidFill>
                  <a:srgbClr val="1A1A1A"/>
                </a:solidFill>
                <a:latin typeface="Calibri"/>
              </a:rPr>
              <a:t>• Sits on an 'entry link' - a road at the edge of the network</a:t>
            </a:r>
          </a:p>
          <a:p>
            <a:pPr algn="l">
              <a:spcAft>
                <a:spcPts val="800"/>
              </a:spcAft>
            </a:pPr>
            <a:r>
              <a:rPr sz="1800" b="0">
                <a:solidFill>
                  <a:srgbClr val="1A1A1A"/>
                </a:solidFill>
                <a:latin typeface="Calibri"/>
              </a:rPr>
              <a:t>• Carries a volume in vehicles per hour for each 15-minute period</a:t>
            </a:r>
          </a:p>
          <a:p>
            <a:pPr algn="l">
              <a:spcAft>
                <a:spcPts val="800"/>
              </a:spcAft>
            </a:pPr>
            <a:r>
              <a:rPr sz="1800" b="0">
                <a:solidFill>
                  <a:srgbClr val="1A1A1A"/>
                </a:solidFill>
                <a:latin typeface="Calibri"/>
              </a:rPr>
              <a:t>• Camera counts come in 15-minute bins, so the model follows the real profile</a:t>
            </a:r>
          </a:p>
          <a:p>
            <a:pPr algn="l">
              <a:spcAft>
                <a:spcPts val="800"/>
              </a:spcAft>
            </a:pPr>
            <a:r>
              <a:rPr sz="1800" b="0">
                <a:solidFill>
                  <a:srgbClr val="1A1A1A"/>
                </a:solidFill>
                <a:latin typeface="Calibri"/>
              </a:rPr>
              <a:t>• Chattanooga 07:00-09:00: 16 entry links, 8 periods, 7,499 vehicles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What counts as an entry link</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Nothing feeds into it - no connector arrives</a:t>
            </a:r>
          </a:p>
          <a:p>
            <a:pPr algn="l">
              <a:spcAft>
                <a:spcPts val="800"/>
              </a:spcAft>
            </a:pPr>
            <a:r>
              <a:rPr sz="1800" b="0">
                <a:solidFill>
                  <a:srgbClr val="1A1A1A"/>
                </a:solidFill>
                <a:latin typeface="Calibri"/>
              </a:rPr>
              <a:t>• AND it leads somewhere - it feeds something</a:t>
            </a:r>
          </a:p>
          <a:p>
            <a:pPr algn="l">
              <a:spcAft>
                <a:spcPts val="800"/>
              </a:spcAft>
            </a:pPr>
            <a:r>
              <a:rPr sz="1800" b="0">
                <a:solidFill>
                  <a:srgbClr val="1A1A1A"/>
                </a:solidFill>
                <a:latin typeface="Calibri"/>
              </a:rPr>
              <a:t>• The second half matters: the import leaves two disconnected stubs behind</a:t>
            </a:r>
          </a:p>
          <a:p>
            <a:pPr algn="l">
              <a:spcAft>
                <a:spcPts val="800"/>
              </a:spcAft>
            </a:pPr>
            <a:r>
              <a:rPr sz="1800" b="0">
                <a:solidFill>
                  <a:srgbClr val="1A1A1A"/>
                </a:solidFill>
                <a:latin typeface="Calibri"/>
              </a:rPr>
              <a:t>• Traffic put on a stub could never reach the network</a:t>
            </a:r>
          </a:p>
          <a:p>
            <a:pPr algn="l">
              <a:spcAft>
                <a:spcPts val="800"/>
              </a:spcAft>
            </a:pPr>
            <a:r>
              <a:rPr sz="1800" b="0">
                <a:solidFill>
                  <a:srgbClr val="1A1A1A"/>
                </a:solidFill>
                <a:latin typeface="Calibri"/>
              </a:rPr>
              <a:t>• Result: 16 entry links, exactly the 16 SUMO uses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Counts are measured at junctions; traffic enters at the edge</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So each counted approach is traced back upstream to the true entry</a:t>
            </a:r>
          </a:p>
          <a:p>
            <a:pPr algn="l">
              <a:spcAft>
                <a:spcPts val="800"/>
              </a:spcAft>
            </a:pPr>
            <a:r>
              <a:rPr sz="1800" b="0">
                <a:solidFill>
                  <a:srgbClr val="1A1A1A"/>
                </a:solidFill>
                <a:latin typeface="Calibri"/>
              </a:rPr>
              <a:t>• This kept failing, leaving every count stranded at the junction it was measured at</a:t>
            </a:r>
          </a:p>
          <a:p>
            <a:pPr algn="l">
              <a:spcAft>
                <a:spcPts val="800"/>
              </a:spcAft>
            </a:pPr>
            <a:r>
              <a:rPr sz="1800" b="0">
                <a:solidFill>
                  <a:srgbClr val="1A1A1A"/>
                </a:solidFill>
                <a:latin typeface="Calibri"/>
              </a:rPr>
              <a:t>• Cause: Vissim splits a junction into several internal links</a:t>
            </a:r>
          </a:p>
          <a:p>
            <a:pPr algn="l">
              <a:spcAft>
                <a:spcPts val="800"/>
              </a:spcAft>
            </a:pPr>
            <a:r>
              <a:rPr sz="1800" b="0">
                <a:solidFill>
                  <a:srgbClr val="1A1A1A"/>
                </a:solidFill>
                <a:latin typeface="Calibri"/>
              </a:rPr>
              <a:t>• One road upstream then looks like several different roads arriving - a false merge</a:t>
            </a:r>
          </a:p>
          <a:p>
            <a:pPr algn="l">
              <a:spcAft>
                <a:spcPts val="800"/>
              </a:spcAft>
            </a:pPr>
            <a:r>
              <a:rPr sz="1800" b="0">
                <a:solidFill>
                  <a:srgbClr val="1A1A1A"/>
                </a:solidFill>
                <a:latin typeface="Calibri"/>
              </a:rPr>
              <a:t>• Stepping over the internal links fixes it: 186 links resolve to 59 real roads</a:t>
            </a:r>
          </a:p>
          <a:p>
            <a:pPr algn="l">
              <a:spcAft>
                <a:spcPts val="800"/>
              </a:spcAft>
            </a:pPr>
            <a:r>
              <a:rPr sz="1800" b="0">
                <a:solidFill>
                  <a:srgbClr val="1A1A1A"/>
                </a:solidFill>
                <a:latin typeface="Calibri"/>
              </a:rPr>
              <a:t>• SUMO's network also has 59. One entry link had been left with no traffic at all</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Vehicle inputs against SUMO</a:t>
            </a:r>
          </a:p>
        </p:txBody>
      </p:sp>
      <p:graphicFrame>
        <p:nvGraphicFramePr>
          <p:cNvPr id="4" name="Table 3"/>
          <p:cNvGraphicFramePr>
            <a:graphicFrameLocks noGrp="1"/>
          </p:cNvGraphicFramePr>
          <p:nvPr/>
        </p:nvGraphicFramePr>
        <p:xfrm>
          <a:off x="548640" y="1371600"/>
          <a:ext cx="11064240" cy="1828800"/>
        </p:xfrm>
        <a:graphic>
          <a:graphicData uri="http://schemas.openxmlformats.org/drawingml/2006/table">
            <a:tbl>
              <a:tblPr firstRow="1" bandRow="1">
                <a:tableStyleId>{5C22544A-7EE6-4342-B048-85BDC9FD1C3A}</a:tableStyleId>
              </a:tblPr>
              <a:tblGrid>
                <a:gridCol w="3688080">
                  <a:extLst>
                    <a:ext uri="{9D8B030D-6E8A-4147-A177-3AD203B41FA5}">
                      <a16:colId xmlns:a16="http://schemas.microsoft.com/office/drawing/2014/main" val="20000"/>
                    </a:ext>
                  </a:extLst>
                </a:gridCol>
                <a:gridCol w="3688080">
                  <a:extLst>
                    <a:ext uri="{9D8B030D-6E8A-4147-A177-3AD203B41FA5}">
                      <a16:colId xmlns:a16="http://schemas.microsoft.com/office/drawing/2014/main" val="20001"/>
                    </a:ext>
                  </a:extLst>
                </a:gridCol>
                <a:gridCol w="3688080">
                  <a:extLst>
                    <a:ext uri="{9D8B030D-6E8A-4147-A177-3AD203B41FA5}">
                      <a16:colId xmlns:a16="http://schemas.microsoft.com/office/drawing/2014/main" val="20002"/>
                    </a:ext>
                  </a:extLst>
                </a:gridCol>
              </a:tblGrid>
              <a:tr h="365760">
                <a:tc>
                  <a:txBody>
                    <a:bodyPr/>
                    <a:lstStyle/>
                    <a:p>
                      <a:r>
                        <a:rPr sz="1400" b="1">
                          <a:solidFill>
                            <a:srgbClr val="FFFFFF"/>
                          </a:solidFill>
                        </a:rPr>
                        <a:t>What</a:t>
                      </a:r>
                    </a:p>
                  </a:txBody>
                  <a:tcPr>
                    <a:solidFill>
                      <a:srgbClr val="14375E"/>
                    </a:solidFill>
                  </a:tcPr>
                </a:tc>
                <a:tc>
                  <a:txBody>
                    <a:bodyPr/>
                    <a:lstStyle/>
                    <a:p>
                      <a:r>
                        <a:rPr sz="1400" b="1">
                          <a:solidFill>
                            <a:srgbClr val="FFFFFF"/>
                          </a:solidFill>
                        </a:rPr>
                        <a:t>SUMO</a:t>
                      </a:r>
                    </a:p>
                  </a:txBody>
                  <a:tcPr>
                    <a:solidFill>
                      <a:srgbClr val="14375E"/>
                    </a:solidFill>
                  </a:tcPr>
                </a:tc>
                <a:tc>
                  <a:txBody>
                    <a:bodyPr/>
                    <a:lstStyle/>
                    <a:p>
                      <a:r>
                        <a:rPr sz="1400" b="1">
                          <a:solidFill>
                            <a:srgbClr val="FFFFFF"/>
                          </a:solidFill>
                        </a:rPr>
                        <a:t>VISSIM</a:t>
                      </a:r>
                    </a:p>
                  </a:txBody>
                  <a:tcPr>
                    <a:solidFill>
                      <a:srgbClr val="14375E"/>
                    </a:solidFill>
                  </a:tcPr>
                </a:tc>
                <a:extLst>
                  <a:ext uri="{0D108BD9-81ED-4DB2-BD59-A6C34878D82A}">
                    <a16:rowId xmlns:a16="http://schemas.microsoft.com/office/drawing/2014/main" val="10000"/>
                  </a:ext>
                </a:extLst>
              </a:tr>
              <a:tr h="365760">
                <a:tc>
                  <a:txBody>
                    <a:bodyPr/>
                    <a:lstStyle/>
                    <a:p>
                      <a:r>
                        <a:rPr sz="1300">
                          <a:solidFill>
                            <a:srgbClr val="1A1A1A"/>
                          </a:solidFill>
                        </a:rPr>
                        <a:t>Entry links written</a:t>
                      </a:r>
                    </a:p>
                  </a:txBody>
                  <a:tcPr>
                    <a:solidFill>
                      <a:srgbClr val="F4F7FB"/>
                    </a:solidFill>
                  </a:tcPr>
                </a:tc>
                <a:tc>
                  <a:txBody>
                    <a:bodyPr/>
                    <a:lstStyle/>
                    <a:p>
                      <a:r>
                        <a:rPr sz="1300">
                          <a:solidFill>
                            <a:srgbClr val="1A1A1A"/>
                          </a:solidFill>
                        </a:rPr>
                        <a:t>16</a:t>
                      </a:r>
                    </a:p>
                  </a:txBody>
                  <a:tcPr>
                    <a:solidFill>
                      <a:srgbClr val="F4F7FB"/>
                    </a:solidFill>
                  </a:tcPr>
                </a:tc>
                <a:tc>
                  <a:txBody>
                    <a:bodyPr/>
                    <a:lstStyle/>
                    <a:p>
                      <a:r>
                        <a:rPr sz="1300">
                          <a:solidFill>
                            <a:srgbClr val="1A1A1A"/>
                          </a:solidFill>
                        </a:rPr>
                        <a:t>16</a:t>
                      </a:r>
                    </a:p>
                  </a:txBody>
                  <a:tcPr>
                    <a:solidFill>
                      <a:srgbClr val="F4F7FB"/>
                    </a:solidFill>
                  </a:tcPr>
                </a:tc>
                <a:extLst>
                  <a:ext uri="{0D108BD9-81ED-4DB2-BD59-A6C34878D82A}">
                    <a16:rowId xmlns:a16="http://schemas.microsoft.com/office/drawing/2014/main" val="10001"/>
                  </a:ext>
                </a:extLst>
              </a:tr>
              <a:tr h="365760">
                <a:tc>
                  <a:txBody>
                    <a:bodyPr/>
                    <a:lstStyle/>
                    <a:p>
                      <a:r>
                        <a:rPr sz="1300">
                          <a:solidFill>
                            <a:srgbClr val="1A1A1A"/>
                          </a:solidFill>
                        </a:rPr>
                        <a:t>Entry links carrying traffic</a:t>
                      </a:r>
                    </a:p>
                  </a:txBody>
                  <a:tcPr>
                    <a:solidFill>
                      <a:srgbClr val="FFFFFF"/>
                    </a:solidFill>
                  </a:tcPr>
                </a:tc>
                <a:tc>
                  <a:txBody>
                    <a:bodyPr/>
                    <a:lstStyle/>
                    <a:p>
                      <a:r>
                        <a:rPr sz="1300">
                          <a:solidFill>
                            <a:srgbClr val="1A1A1A"/>
                          </a:solidFill>
                        </a:rPr>
                        <a:t>12</a:t>
                      </a:r>
                    </a:p>
                  </a:txBody>
                  <a:tcPr>
                    <a:solidFill>
                      <a:srgbClr val="FFFFFF"/>
                    </a:solidFill>
                  </a:tcPr>
                </a:tc>
                <a:tc>
                  <a:txBody>
                    <a:bodyPr/>
                    <a:lstStyle/>
                    <a:p>
                      <a:r>
                        <a:rPr sz="1300">
                          <a:solidFill>
                            <a:srgbClr val="1A1A1A"/>
                          </a:solidFill>
                        </a:rPr>
                        <a:t>12</a:t>
                      </a:r>
                    </a:p>
                  </a:txBody>
                  <a:tcPr>
                    <a:solidFill>
                      <a:srgbClr val="FFFFFF"/>
                    </a:solidFill>
                  </a:tcPr>
                </a:tc>
                <a:extLst>
                  <a:ext uri="{0D108BD9-81ED-4DB2-BD59-A6C34878D82A}">
                    <a16:rowId xmlns:a16="http://schemas.microsoft.com/office/drawing/2014/main" val="10002"/>
                  </a:ext>
                </a:extLst>
              </a:tr>
              <a:tr h="365760">
                <a:tc>
                  <a:txBody>
                    <a:bodyPr/>
                    <a:lstStyle/>
                    <a:p>
                      <a:r>
                        <a:rPr sz="1300">
                          <a:solidFill>
                            <a:srgbClr val="1A1A1A"/>
                          </a:solidFill>
                        </a:rPr>
                        <a:t>Volume profiles matching exactly</a:t>
                      </a:r>
                    </a:p>
                  </a:txBody>
                  <a:tcPr>
                    <a:solidFill>
                      <a:srgbClr val="F4F7FB"/>
                    </a:solidFill>
                  </a:tcPr>
                </a:tc>
                <a:tc>
                  <a:txBody>
                    <a:bodyPr/>
                    <a:lstStyle/>
                    <a:p>
                      <a:r>
                        <a:rPr sz="1300">
                          <a:solidFill>
                            <a:srgbClr val="1A1A1A"/>
                          </a:solidFill>
                        </a:rPr>
                        <a:t>-</a:t>
                      </a:r>
                    </a:p>
                  </a:txBody>
                  <a:tcPr>
                    <a:solidFill>
                      <a:srgbClr val="F4F7FB"/>
                    </a:solidFill>
                  </a:tcPr>
                </a:tc>
                <a:tc>
                  <a:txBody>
                    <a:bodyPr/>
                    <a:lstStyle/>
                    <a:p>
                      <a:r>
                        <a:rPr sz="1300">
                          <a:solidFill>
                            <a:srgbClr val="1A1A1A"/>
                          </a:solidFill>
                        </a:rPr>
                        <a:t>12 of 12</a:t>
                      </a:r>
                    </a:p>
                  </a:txBody>
                  <a:tcPr>
                    <a:solidFill>
                      <a:srgbClr val="F4F7FB"/>
                    </a:solidFill>
                  </a:tcPr>
                </a:tc>
                <a:extLst>
                  <a:ext uri="{0D108BD9-81ED-4DB2-BD59-A6C34878D82A}">
                    <a16:rowId xmlns:a16="http://schemas.microsoft.com/office/drawing/2014/main" val="10003"/>
                  </a:ext>
                </a:extLst>
              </a:tr>
              <a:tr h="365760">
                <a:tc>
                  <a:txBody>
                    <a:bodyPr/>
                    <a:lstStyle/>
                    <a:p>
                      <a:r>
                        <a:rPr sz="1300">
                          <a:solidFill>
                            <a:srgbClr val="1A1A1A"/>
                          </a:solidFill>
                        </a:rPr>
                        <a:t>Vehicles, 07:00-09:00</a:t>
                      </a:r>
                    </a:p>
                  </a:txBody>
                  <a:tcPr>
                    <a:solidFill>
                      <a:srgbClr val="FFFFFF"/>
                    </a:solidFill>
                  </a:tcPr>
                </a:tc>
                <a:tc>
                  <a:txBody>
                    <a:bodyPr/>
                    <a:lstStyle/>
                    <a:p>
                      <a:r>
                        <a:rPr sz="1300">
                          <a:solidFill>
                            <a:srgbClr val="1A1A1A"/>
                          </a:solidFill>
                        </a:rPr>
                        <a:t>-</a:t>
                      </a:r>
                    </a:p>
                  </a:txBody>
                  <a:tcPr>
                    <a:solidFill>
                      <a:srgbClr val="FFFFFF"/>
                    </a:solidFill>
                  </a:tcPr>
                </a:tc>
                <a:tc>
                  <a:txBody>
                    <a:bodyPr/>
                    <a:lstStyle/>
                    <a:p>
                      <a:r>
                        <a:rPr sz="1300">
                          <a:solidFill>
                            <a:srgbClr val="1A1A1A"/>
                          </a:solidFill>
                        </a:rPr>
                        <a:t>7,499</a:t>
                      </a:r>
                    </a:p>
                  </a:txBody>
                  <a:tcPr>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743200"/>
            <a:ext cx="10515600" cy="1280160"/>
          </a:xfrm>
          <a:prstGeom prst="rect">
            <a:avLst/>
          </a:prstGeom>
          <a:noFill/>
        </p:spPr>
        <p:txBody>
          <a:bodyPr wrap="square">
            <a:spAutoFit/>
          </a:bodyPr>
          <a:lstStyle/>
          <a:p>
            <a:pPr algn="l"/>
            <a:r>
              <a:rPr sz="3400" b="1">
                <a:solidFill>
                  <a:srgbClr val="FFFFFF"/>
                </a:solidFill>
                <a:latin typeface="Calibri"/>
              </a:rPr>
              <a:t>Step 6</a:t>
            </a:r>
          </a:p>
        </p:txBody>
      </p:sp>
      <p:sp>
        <p:nvSpPr>
          <p:cNvPr id="4" name="TextBox 3"/>
          <p:cNvSpPr txBox="1"/>
          <p:nvPr/>
        </p:nvSpPr>
        <p:spPr>
          <a:xfrm>
            <a:off x="822960" y="4023360"/>
            <a:ext cx="10515600" cy="731520"/>
          </a:xfrm>
          <a:prstGeom prst="rect">
            <a:avLst/>
          </a:prstGeom>
          <a:noFill/>
        </p:spPr>
        <p:txBody>
          <a:bodyPr wrap="none">
            <a:spAutoFit/>
          </a:bodyPr>
          <a:lstStyle/>
          <a:p>
            <a:pPr algn="l"/>
            <a:r>
              <a:rPr sz="1800" b="0">
                <a:solidFill>
                  <a:srgbClr val="BBCCE0"/>
                </a:solidFill>
                <a:latin typeface="Calibri"/>
              </a:rPr>
              <a:t>Turn routing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What a routing decision is</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A marker on the road. A vehicle crossing it is given a route to follow</a:t>
            </a:r>
          </a:p>
          <a:p>
            <a:pPr algn="l">
              <a:spcAft>
                <a:spcPts val="800"/>
              </a:spcAft>
            </a:pPr>
            <a:r>
              <a:rPr sz="1800" b="0">
                <a:solidFill>
                  <a:srgbClr val="1A1A1A"/>
                </a:solidFill>
                <a:latin typeface="Calibri"/>
              </a:rPr>
              <a:t>• Each route ends downstream and carries a share of the traffic</a:t>
            </a:r>
          </a:p>
          <a:p>
            <a:pPr algn="l">
              <a:spcAft>
                <a:spcPts val="800"/>
              </a:spcAft>
            </a:pPr>
            <a:r>
              <a:rPr sz="1800" b="0">
                <a:solidFill>
                  <a:srgbClr val="1A1A1A"/>
                </a:solidFill>
                <a:latin typeface="Calibri"/>
              </a:rPr>
              <a:t>• Shares come straight from the camera counts, so the split matches reality</a:t>
            </a:r>
          </a:p>
          <a:p>
            <a:pPr algn="l">
              <a:spcAft>
                <a:spcPts val="800"/>
              </a:spcAft>
            </a:pPr>
            <a:r>
              <a:rPr sz="1800" b="0">
                <a:solidFill>
                  <a:srgbClr val="1A1A1A"/>
                </a:solidFill>
                <a:latin typeface="Calibri"/>
              </a:rPr>
              <a:t>• Key rule: a vehicle already on a route IGNORES any further markers</a:t>
            </a:r>
          </a:p>
          <a:p>
            <a:pPr algn="l">
              <a:spcAft>
                <a:spcPts val="800"/>
              </a:spcAft>
            </a:pPr>
            <a:r>
              <a:rPr sz="1800" b="0">
                <a:solidFill>
                  <a:srgbClr val="1A1A1A"/>
                </a:solidFill>
                <a:latin typeface="Calibri"/>
              </a:rPr>
              <a:t>• Chattanooga: 34 decisions, 104 routes, one per movement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One decision per approach, covering every turn</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Not one decision per turn - that multiplies markers and risks them being ignored</a:t>
            </a:r>
          </a:p>
          <a:p>
            <a:pPr algn="l">
              <a:spcAft>
                <a:spcPts val="800"/>
              </a:spcAft>
            </a:pPr>
            <a:r>
              <a:rPr sz="1800" b="0">
                <a:solidFill>
                  <a:srgbClr val="1A1A1A"/>
                </a:solidFill>
                <a:latin typeface="Calibri"/>
              </a:rPr>
              <a:t>• Turns with no count data get a route with share 0, not no route</a:t>
            </a:r>
          </a:p>
          <a:p>
            <a:pPr algn="l">
              <a:spcAft>
                <a:spcPts val="800"/>
              </a:spcAft>
            </a:pPr>
            <a:r>
              <a:rPr sz="1800" b="0">
                <a:solidFill>
                  <a:srgbClr val="1A1A1A"/>
                </a:solidFill>
                <a:latin typeface="Calibri"/>
              </a:rPr>
              <a:t>• Why: a turn with no route is not 'unknown' to Vissim, it is forbidden</a:t>
            </a:r>
          </a:p>
          <a:p>
            <a:pPr algn="l">
              <a:spcAft>
                <a:spcPts val="800"/>
              </a:spcAft>
            </a:pPr>
            <a:r>
              <a:rPr sz="1800" b="0">
                <a:solidFill>
                  <a:srgbClr val="1A1A1A"/>
                </a:solidFill>
                <a:latin typeface="Calibri"/>
              </a:rPr>
              <a:t>• A zero is visible, and becomes live the moment a number replaces it</a:t>
            </a:r>
          </a:p>
          <a:p>
            <a:pPr algn="l">
              <a:spcAft>
                <a:spcPts val="800"/>
              </a:spcAft>
            </a:pPr>
            <a:r>
              <a:rPr sz="1800" b="0">
                <a:solidFill>
                  <a:srgbClr val="1A1A1A"/>
                </a:solidFill>
                <a:latin typeface="Calibri"/>
              </a:rPr>
              <a:t>• 346 of 832 route-shares are currently zero, at the four uncounted junctions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Where the markers go</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A route must finish before the next marker starts, or that marker is ignored</a:t>
            </a:r>
          </a:p>
          <a:p>
            <a:pPr algn="l">
              <a:spcAft>
                <a:spcPts val="800"/>
              </a:spcAft>
            </a:pPr>
            <a:r>
              <a:rPr sz="1800" b="0">
                <a:solidFill>
                  <a:srgbClr val="1A1A1A"/>
                </a:solidFill>
                <a:latin typeface="Calibri"/>
              </a:rPr>
              <a:t>• A marker only takes effect on the NEXT simulation step, so a gap is required</a:t>
            </a:r>
          </a:p>
          <a:p>
            <a:pPr algn="l">
              <a:spcAft>
                <a:spcPts val="800"/>
              </a:spcAft>
            </a:pPr>
            <a:r>
              <a:rPr sz="1800" b="0">
                <a:solidFill>
                  <a:srgbClr val="1A1A1A"/>
                </a:solidFill>
                <a:latin typeface="Calibri"/>
              </a:rPr>
              <a:t>• That gap is calculated, not guessed: fastest vehicle in one step = 3.33 m</a:t>
            </a:r>
          </a:p>
          <a:p>
            <a:pPr algn="l">
              <a:spcAft>
                <a:spcPts val="800"/>
              </a:spcAft>
            </a:pPr>
            <a:r>
              <a:rPr sz="1800" b="0">
                <a:solidFill>
                  <a:srgbClr val="1A1A1A"/>
                </a:solidFill>
                <a:latin typeface="Calibri"/>
              </a:rPr>
              <a:t>• Markers are pushed as far upstream as the rules allow, for maximum warning</a:t>
            </a:r>
          </a:p>
          <a:p>
            <a:pPr algn="l">
              <a:spcAft>
                <a:spcPts val="800"/>
              </a:spcAft>
            </a:pPr>
            <a:r>
              <a:rPr sz="1800" b="0">
                <a:solidFill>
                  <a:srgbClr val="1A1A1A"/>
                </a:solidFill>
                <a:latin typeface="Calibri"/>
              </a:rPr>
              <a:t>• 7 of 34 moved back past their own approach, gaining 778 m of notice in total</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A physical limit on short approaches</a:t>
            </a:r>
          </a:p>
        </p:txBody>
      </p:sp>
      <p:graphicFrame>
        <p:nvGraphicFramePr>
          <p:cNvPr id="4" name="Table 3"/>
          <p:cNvGraphicFramePr>
            <a:graphicFrameLocks noGrp="1"/>
          </p:cNvGraphicFramePr>
          <p:nvPr/>
        </p:nvGraphicFramePr>
        <p:xfrm>
          <a:off x="548640" y="1371600"/>
          <a:ext cx="11064240" cy="1463040"/>
        </p:xfrm>
        <a:graphic>
          <a:graphicData uri="http://schemas.openxmlformats.org/drawingml/2006/table">
            <a:tbl>
              <a:tblPr firstRow="1" bandRow="1">
                <a:tableStyleId>{5C22544A-7EE6-4342-B048-85BDC9FD1C3A}</a:tableStyleId>
              </a:tblPr>
              <a:tblGrid>
                <a:gridCol w="2766060">
                  <a:extLst>
                    <a:ext uri="{9D8B030D-6E8A-4147-A177-3AD203B41FA5}">
                      <a16:colId xmlns:a16="http://schemas.microsoft.com/office/drawing/2014/main" val="20000"/>
                    </a:ext>
                  </a:extLst>
                </a:gridCol>
                <a:gridCol w="2766060">
                  <a:extLst>
                    <a:ext uri="{9D8B030D-6E8A-4147-A177-3AD203B41FA5}">
                      <a16:colId xmlns:a16="http://schemas.microsoft.com/office/drawing/2014/main" val="20001"/>
                    </a:ext>
                  </a:extLst>
                </a:gridCol>
                <a:gridCol w="2766060">
                  <a:extLst>
                    <a:ext uri="{9D8B030D-6E8A-4147-A177-3AD203B41FA5}">
                      <a16:colId xmlns:a16="http://schemas.microsoft.com/office/drawing/2014/main" val="20002"/>
                    </a:ext>
                  </a:extLst>
                </a:gridCol>
                <a:gridCol w="2766060">
                  <a:extLst>
                    <a:ext uri="{9D8B030D-6E8A-4147-A177-3AD203B41FA5}">
                      <a16:colId xmlns:a16="http://schemas.microsoft.com/office/drawing/2014/main" val="20003"/>
                    </a:ext>
                  </a:extLst>
                </a:gridCol>
              </a:tblGrid>
              <a:tr h="365760">
                <a:tc>
                  <a:txBody>
                    <a:bodyPr/>
                    <a:lstStyle/>
                    <a:p>
                      <a:r>
                        <a:rPr sz="1400" b="1">
                          <a:solidFill>
                            <a:srgbClr val="FFFFFF"/>
                          </a:solidFill>
                        </a:rPr>
                        <a:t>Link</a:t>
                      </a:r>
                    </a:p>
                  </a:txBody>
                  <a:tcPr>
                    <a:solidFill>
                      <a:srgbClr val="14375E"/>
                    </a:solidFill>
                  </a:tcPr>
                </a:tc>
                <a:tc>
                  <a:txBody>
                    <a:bodyPr/>
                    <a:lstStyle/>
                    <a:p>
                      <a:r>
                        <a:rPr sz="1400" b="1">
                          <a:solidFill>
                            <a:srgbClr val="FFFFFF"/>
                          </a:solidFill>
                        </a:rPr>
                        <a:t>Lanes</a:t>
                      </a:r>
                    </a:p>
                  </a:txBody>
                  <a:tcPr>
                    <a:solidFill>
                      <a:srgbClr val="14375E"/>
                    </a:solidFill>
                  </a:tcPr>
                </a:tc>
                <a:tc>
                  <a:txBody>
                    <a:bodyPr/>
                    <a:lstStyle/>
                    <a:p>
                      <a:r>
                        <a:rPr sz="1400" b="1">
                          <a:solidFill>
                            <a:srgbClr val="FFFFFF"/>
                          </a:solidFill>
                        </a:rPr>
                        <a:t>Length</a:t>
                      </a:r>
                    </a:p>
                  </a:txBody>
                  <a:tcPr>
                    <a:solidFill>
                      <a:srgbClr val="14375E"/>
                    </a:solidFill>
                  </a:tcPr>
                </a:tc>
                <a:tc>
                  <a:txBody>
                    <a:bodyPr/>
                    <a:lstStyle/>
                    <a:p>
                      <a:r>
                        <a:rPr sz="1400" b="1">
                          <a:solidFill>
                            <a:srgbClr val="FFFFFF"/>
                          </a:solidFill>
                        </a:rPr>
                        <a:t>Distance needed to cross lanes</a:t>
                      </a:r>
                    </a:p>
                  </a:txBody>
                  <a:tcPr>
                    <a:solidFill>
                      <a:srgbClr val="14375E"/>
                    </a:solidFill>
                  </a:tcPr>
                </a:tc>
                <a:extLst>
                  <a:ext uri="{0D108BD9-81ED-4DB2-BD59-A6C34878D82A}">
                    <a16:rowId xmlns:a16="http://schemas.microsoft.com/office/drawing/2014/main" val="10000"/>
                  </a:ext>
                </a:extLst>
              </a:tr>
              <a:tr h="365760">
                <a:tc>
                  <a:txBody>
                    <a:bodyPr/>
                    <a:lstStyle/>
                    <a:p>
                      <a:r>
                        <a:rPr sz="1300">
                          <a:solidFill>
                            <a:srgbClr val="1A1A1A"/>
                          </a:solidFill>
                        </a:rPr>
                        <a:t>47</a:t>
                      </a:r>
                    </a:p>
                  </a:txBody>
                  <a:tcPr>
                    <a:solidFill>
                      <a:srgbClr val="F4F7FB"/>
                    </a:solidFill>
                  </a:tcPr>
                </a:tc>
                <a:tc>
                  <a:txBody>
                    <a:bodyPr/>
                    <a:lstStyle/>
                    <a:p>
                      <a:r>
                        <a:rPr sz="1300">
                          <a:solidFill>
                            <a:srgbClr val="1A1A1A"/>
                          </a:solidFill>
                        </a:rPr>
                        <a:t>5</a:t>
                      </a:r>
                    </a:p>
                  </a:txBody>
                  <a:tcPr>
                    <a:solidFill>
                      <a:srgbClr val="F4F7FB"/>
                    </a:solidFill>
                  </a:tcPr>
                </a:tc>
                <a:tc>
                  <a:txBody>
                    <a:bodyPr/>
                    <a:lstStyle/>
                    <a:p>
                      <a:r>
                        <a:rPr sz="1300">
                          <a:solidFill>
                            <a:srgbClr val="1A1A1A"/>
                          </a:solidFill>
                        </a:rPr>
                        <a:t>12.98 m</a:t>
                      </a:r>
                    </a:p>
                  </a:txBody>
                  <a:tcPr>
                    <a:solidFill>
                      <a:srgbClr val="F4F7FB"/>
                    </a:solidFill>
                  </a:tcPr>
                </a:tc>
                <a:tc>
                  <a:txBody>
                    <a:bodyPr/>
                    <a:lstStyle/>
                    <a:p>
                      <a:r>
                        <a:rPr sz="1300">
                          <a:solidFill>
                            <a:srgbClr val="1A1A1A"/>
                          </a:solidFill>
                        </a:rPr>
                        <a:t>22.5 m  - impossible</a:t>
                      </a:r>
                    </a:p>
                  </a:txBody>
                  <a:tcPr>
                    <a:solidFill>
                      <a:srgbClr val="F4F7FB"/>
                    </a:solidFill>
                  </a:tcPr>
                </a:tc>
                <a:extLst>
                  <a:ext uri="{0D108BD9-81ED-4DB2-BD59-A6C34878D82A}">
                    <a16:rowId xmlns:a16="http://schemas.microsoft.com/office/drawing/2014/main" val="10001"/>
                  </a:ext>
                </a:extLst>
              </a:tr>
              <a:tr h="365760">
                <a:tc>
                  <a:txBody>
                    <a:bodyPr/>
                    <a:lstStyle/>
                    <a:p>
                      <a:r>
                        <a:rPr sz="1300">
                          <a:solidFill>
                            <a:srgbClr val="1A1A1A"/>
                          </a:solidFill>
                        </a:rPr>
                        <a:t>43</a:t>
                      </a:r>
                    </a:p>
                  </a:txBody>
                  <a:tcPr>
                    <a:solidFill>
                      <a:srgbClr val="FFFFFF"/>
                    </a:solidFill>
                  </a:tcPr>
                </a:tc>
                <a:tc>
                  <a:txBody>
                    <a:bodyPr/>
                    <a:lstStyle/>
                    <a:p>
                      <a:r>
                        <a:rPr sz="1300">
                          <a:solidFill>
                            <a:srgbClr val="1A1A1A"/>
                          </a:solidFill>
                        </a:rPr>
                        <a:t>2</a:t>
                      </a:r>
                    </a:p>
                  </a:txBody>
                  <a:tcPr>
                    <a:solidFill>
                      <a:srgbClr val="FFFFFF"/>
                    </a:solidFill>
                  </a:tcPr>
                </a:tc>
                <a:tc>
                  <a:txBody>
                    <a:bodyPr/>
                    <a:lstStyle/>
                    <a:p>
                      <a:r>
                        <a:rPr sz="1300">
                          <a:solidFill>
                            <a:srgbClr val="1A1A1A"/>
                          </a:solidFill>
                        </a:rPr>
                        <a:t>7.51 m</a:t>
                      </a:r>
                    </a:p>
                  </a:txBody>
                  <a:tcPr>
                    <a:solidFill>
                      <a:srgbClr val="FFFFFF"/>
                    </a:solidFill>
                  </a:tcPr>
                </a:tc>
                <a:tc>
                  <a:txBody>
                    <a:bodyPr/>
                    <a:lstStyle/>
                    <a:p>
                      <a:r>
                        <a:rPr sz="1300">
                          <a:solidFill>
                            <a:srgbClr val="1A1A1A"/>
                          </a:solidFill>
                        </a:rPr>
                        <a:t>7.5 m  - exactly the length</a:t>
                      </a:r>
                    </a:p>
                  </a:txBody>
                  <a:tcPr>
                    <a:solidFill>
                      <a:srgbClr val="FFFFFF"/>
                    </a:solidFill>
                  </a:tcPr>
                </a:tc>
                <a:extLst>
                  <a:ext uri="{0D108BD9-81ED-4DB2-BD59-A6C34878D82A}">
                    <a16:rowId xmlns:a16="http://schemas.microsoft.com/office/drawing/2014/main" val="10002"/>
                  </a:ext>
                </a:extLst>
              </a:tr>
              <a:tr h="365760">
                <a:tc>
                  <a:txBody>
                    <a:bodyPr/>
                    <a:lstStyle/>
                    <a:p>
                      <a:r>
                        <a:rPr sz="1300">
                          <a:solidFill>
                            <a:srgbClr val="1A1A1A"/>
                          </a:solidFill>
                        </a:rPr>
                        <a:t>38</a:t>
                      </a:r>
                    </a:p>
                  </a:txBody>
                  <a:tcPr>
                    <a:solidFill>
                      <a:srgbClr val="F4F7FB"/>
                    </a:solidFill>
                  </a:tcPr>
                </a:tc>
                <a:tc>
                  <a:txBody>
                    <a:bodyPr/>
                    <a:lstStyle/>
                    <a:p>
                      <a:r>
                        <a:rPr sz="1300">
                          <a:solidFill>
                            <a:srgbClr val="1A1A1A"/>
                          </a:solidFill>
                        </a:rPr>
                        <a:t>3</a:t>
                      </a:r>
                    </a:p>
                  </a:txBody>
                  <a:tcPr>
                    <a:solidFill>
                      <a:srgbClr val="F4F7FB"/>
                    </a:solidFill>
                  </a:tcPr>
                </a:tc>
                <a:tc>
                  <a:txBody>
                    <a:bodyPr/>
                    <a:lstStyle/>
                    <a:p>
                      <a:r>
                        <a:rPr sz="1300">
                          <a:solidFill>
                            <a:srgbClr val="1A1A1A"/>
                          </a:solidFill>
                        </a:rPr>
                        <a:t>24.96 m</a:t>
                      </a:r>
                    </a:p>
                  </a:txBody>
                  <a:tcPr>
                    <a:solidFill>
                      <a:srgbClr val="F4F7FB"/>
                    </a:solidFill>
                  </a:tcPr>
                </a:tc>
                <a:tc>
                  <a:txBody>
                    <a:bodyPr/>
                    <a:lstStyle/>
                    <a:p>
                      <a:r>
                        <a:rPr sz="1300">
                          <a:solidFill>
                            <a:srgbClr val="1A1A1A"/>
                          </a:solidFill>
                        </a:rPr>
                        <a:t>12.5 m  - tight when busy</a:t>
                      </a:r>
                    </a:p>
                  </a:txBody>
                  <a:tcPr>
                    <a:solidFill>
                      <a:srgbClr val="F4F7FB"/>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Combined routing - the remedy, optional</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Vissim can join a decision to the routes that end just before it</a:t>
            </a:r>
          </a:p>
          <a:p>
            <a:pPr algn="l">
              <a:spcAft>
                <a:spcPts val="800"/>
              </a:spcAft>
            </a:pPr>
            <a:r>
              <a:rPr sz="1800" b="0">
                <a:solidFill>
                  <a:srgbClr val="1A1A1A"/>
                </a:solidFill>
                <a:latin typeface="Calibri"/>
              </a:rPr>
              <a:t>• A vehicle then learns at one junction which way it turns at the NEXT</a:t>
            </a:r>
          </a:p>
          <a:p>
            <a:pPr algn="l">
              <a:spcAft>
                <a:spcPts val="800"/>
              </a:spcAft>
            </a:pPr>
            <a:r>
              <a:rPr sz="1800" b="0">
                <a:solidFill>
                  <a:srgbClr val="1A1A1A"/>
                </a:solidFill>
                <a:latin typeface="Calibri"/>
              </a:rPr>
              <a:t>• So it changes lanes across the intervening road instead of at the stop bar</a:t>
            </a:r>
          </a:p>
          <a:p>
            <a:pPr algn="l">
              <a:spcAft>
                <a:spcPts val="800"/>
              </a:spcAft>
            </a:pPr>
            <a:r>
              <a:rPr sz="1800" b="0">
                <a:solidFill>
                  <a:srgbClr val="1A1A1A"/>
                </a:solidFill>
                <a:latin typeface="Calibri"/>
              </a:rPr>
              <a:t>• The manual describes this as preventing 'artificially causing queues'</a:t>
            </a:r>
          </a:p>
          <a:p>
            <a:pPr algn="l">
              <a:spcAft>
                <a:spcPts val="800"/>
              </a:spcAft>
            </a:pPr>
            <a:r>
              <a:rPr sz="1800" b="0">
                <a:solidFill>
                  <a:srgbClr val="1A1A1A"/>
                </a:solidFill>
                <a:latin typeface="Calibri"/>
              </a:rPr>
              <a:t>• OFF by default; --combine-routes turns it on and writes its own .inpx</a:t>
            </a:r>
          </a:p>
          <a:p>
            <a:pPr algn="l">
              <a:spcAft>
                <a:spcPts val="800"/>
              </a:spcAft>
            </a:pPr>
            <a:r>
              <a:rPr sz="1800" b="0">
                <a:solidFill>
                  <a:srgbClr val="1A1A1A"/>
                </a:solidFill>
                <a:latin typeface="Calibri"/>
              </a:rPr>
              <a:t>• Because it changes how vehicles behave, not just what is in the file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743200"/>
            <a:ext cx="10515600" cy="1280160"/>
          </a:xfrm>
          <a:prstGeom prst="rect">
            <a:avLst/>
          </a:prstGeom>
          <a:noFill/>
        </p:spPr>
        <p:txBody>
          <a:bodyPr wrap="square">
            <a:spAutoFit/>
          </a:bodyPr>
          <a:lstStyle/>
          <a:p>
            <a:pPr algn="l"/>
            <a:r>
              <a:rPr sz="3400" b="1">
                <a:solidFill>
                  <a:srgbClr val="FFFFFF"/>
                </a:solidFill>
                <a:latin typeface="Calibri"/>
              </a:rPr>
              <a:t>Checking the work</a:t>
            </a:r>
          </a:p>
        </p:txBody>
      </p:sp>
      <p:sp>
        <p:nvSpPr>
          <p:cNvPr id="4" name="TextBox 3"/>
          <p:cNvSpPr txBox="1"/>
          <p:nvPr/>
        </p:nvSpPr>
        <p:spPr>
          <a:xfrm>
            <a:off x="822960" y="4023360"/>
            <a:ext cx="10515600" cy="731520"/>
          </a:xfrm>
          <a:prstGeom prst="rect">
            <a:avLst/>
          </a:prstGeom>
          <a:noFill/>
        </p:spPr>
        <p:txBody>
          <a:bodyPr wrap="none">
            <a:spAutoFit/>
          </a:bodyPr>
          <a:lstStyle/>
          <a:p>
            <a:pPr algn="l"/>
            <a:r>
              <a:rPr sz="1800" b="0">
                <a:solidFill>
                  <a:srgbClr val="BBCCE0"/>
                </a:solidFill>
                <a:latin typeface="Calibri"/>
              </a:rPr>
              <a:t>Especially where there is nothing to compare against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Three real defects, all found by comparing with SUMO</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An upstream trace that never worked, leaving an entry link empty</a:t>
            </a:r>
          </a:p>
          <a:p>
            <a:pPr algn="l">
              <a:spcAft>
                <a:spcPts val="800"/>
              </a:spcAft>
            </a:pPr>
            <a:r>
              <a:rPr sz="1800" b="0">
                <a:solidFill>
                  <a:srgbClr val="1A1A1A"/>
                </a:solidFill>
                <a:latin typeface="Calibri"/>
              </a:rPr>
              <a:t>• Two movements sharing one code, so a count was used twice</a:t>
            </a:r>
          </a:p>
          <a:p>
            <a:pPr lvl="1" algn="l">
              <a:spcAft>
                <a:spcPts val="800"/>
              </a:spcAft>
            </a:pPr>
            <a:r>
              <a:rPr sz="1800" b="0">
                <a:solidFill>
                  <a:srgbClr val="1A1A1A"/>
                </a:solidFill>
                <a:latin typeface="Calibri"/>
              </a:rPr>
              <a:t>– That inflated one approach by 60 percent - it looked like a plausible volume</a:t>
            </a:r>
          </a:p>
          <a:p>
            <a:pPr algn="l">
              <a:spcAft>
                <a:spcPts val="800"/>
              </a:spcAft>
            </a:pPr>
            <a:r>
              <a:rPr sz="1800" b="0">
                <a:solidFill>
                  <a:srgbClr val="1A1A1A"/>
                </a:solidFill>
                <a:latin typeface="Calibri"/>
              </a:rPr>
              <a:t>• A code attached to the wrong movement while the totals still matched</a:t>
            </a:r>
          </a:p>
          <a:p>
            <a:pPr algn="l">
              <a:spcAft>
                <a:spcPts val="800"/>
              </a:spcAft>
            </a:pPr>
            <a:r>
              <a:rPr sz="1800" b="0">
                <a:solidFill>
                  <a:srgbClr val="1A1A1A"/>
                </a:solidFill>
                <a:latin typeface="Calibri"/>
              </a:rPr>
              <a:t>• None would have crashed anything. A wrong model runs perfectly happily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But the next corridor has no SUMO table</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So the checks that matter are the ones needing nothing to compare against</a:t>
            </a:r>
          </a:p>
          <a:p>
            <a:pPr algn="l">
              <a:spcAft>
                <a:spcPts val="800"/>
              </a:spcAft>
            </a:pPr>
            <a:r>
              <a:rPr sz="1800" b="0">
                <a:solidFill>
                  <a:srgbClr val="1A1A1A"/>
                </a:solidFill>
                <a:latin typeface="Calibri"/>
              </a:rPr>
              <a:t>• Codes down an approach must run R, T, L, U - a break means two turns clash</a:t>
            </a:r>
          </a:p>
          <a:p>
            <a:pPr algn="l">
              <a:spcAft>
                <a:spcPts val="800"/>
              </a:spcAft>
            </a:pPr>
            <a:r>
              <a:rPr sz="1800" b="0">
                <a:solidFill>
                  <a:srgbClr val="1A1A1A"/>
                </a:solidFill>
                <a:latin typeface="Calibri"/>
              </a:rPr>
              <a:t>• Traffic leaving one junction should roughly equal traffic reaching the next</a:t>
            </a:r>
          </a:p>
          <a:p>
            <a:pPr algn="l">
              <a:spcAft>
                <a:spcPts val="800"/>
              </a:spcAft>
            </a:pPr>
            <a:r>
              <a:rPr sz="1800" b="0">
                <a:solidFill>
                  <a:srgbClr val="1A1A1A"/>
                </a:solidFill>
                <a:latin typeface="Calibri"/>
              </a:rPr>
              <a:t>• Legs too close together to order confidently are reported</a:t>
            </a:r>
          </a:p>
          <a:p>
            <a:pPr algn="l">
              <a:spcAft>
                <a:spcPts val="800"/>
              </a:spcAft>
            </a:pPr>
            <a:r>
              <a:rPr sz="1800" b="0">
                <a:solidFill>
                  <a:srgbClr val="1A1A1A"/>
                </a:solidFill>
                <a:latin typeface="Calibri"/>
              </a:rPr>
              <a:t>• A movement the camera reports but the road network lacks is reported</a:t>
            </a:r>
          </a:p>
          <a:p>
            <a:pPr algn="l">
              <a:spcAft>
                <a:spcPts val="800"/>
              </a:spcAft>
            </a:pPr>
            <a:r>
              <a:rPr sz="1800" b="0">
                <a:solidFill>
                  <a:srgbClr val="1A1A1A"/>
                </a:solidFill>
                <a:latin typeface="Calibri"/>
              </a:rPr>
              <a:t>• Tested: the original faulty code triggers these on the real data, with no SUMO file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Judging a warning</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Not everything flagged is broken - the message has to say which is which</a:t>
            </a:r>
          </a:p>
          <a:p>
            <a:pPr algn="l">
              <a:spcAft>
                <a:spcPts val="800"/>
              </a:spcAft>
            </a:pPr>
            <a:r>
              <a:rPr sz="1800" b="0">
                <a:solidFill>
                  <a:srgbClr val="1A1A1A"/>
                </a:solidFill>
                <a:latin typeface="Calibri"/>
              </a:rPr>
              <a:t>• A U-turn the camera counts that the road cannot make: normal, just a note</a:t>
            </a:r>
          </a:p>
          <a:p>
            <a:pPr algn="l">
              <a:spcAft>
                <a:spcPts val="800"/>
              </a:spcAft>
            </a:pPr>
            <a:r>
              <a:rPr sz="1800" b="0">
                <a:solidFill>
                  <a:srgbClr val="1A1A1A"/>
                </a:solidFill>
                <a:latin typeface="Calibri"/>
              </a:rPr>
              <a:t>• A right turn the camera counts that the network lacks: worth a look</a:t>
            </a:r>
          </a:p>
          <a:p>
            <a:pPr algn="l">
              <a:spcAft>
                <a:spcPts val="800"/>
              </a:spcAft>
            </a:pPr>
            <a:r>
              <a:rPr sz="1800" b="0">
                <a:solidFill>
                  <a:srgbClr val="1A1A1A"/>
                </a:solidFill>
                <a:latin typeface="Calibri"/>
              </a:rPr>
              <a:t>• Traffic dropping between two junctions: probably driveways, possibly an error</a:t>
            </a:r>
          </a:p>
          <a:p>
            <a:pPr algn="l">
              <a:spcAft>
                <a:spcPts val="800"/>
              </a:spcAft>
            </a:pPr>
            <a:r>
              <a:rPr sz="1800" b="0">
                <a:solidFill>
                  <a:srgbClr val="1A1A1A"/>
                </a:solidFill>
                <a:latin typeface="Calibri"/>
              </a:rPr>
              <a:t>• The tool reports and explains. A person decides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743200"/>
            <a:ext cx="10515600" cy="1280160"/>
          </a:xfrm>
          <a:prstGeom prst="rect">
            <a:avLst/>
          </a:prstGeom>
          <a:noFill/>
        </p:spPr>
        <p:txBody>
          <a:bodyPr wrap="square">
            <a:spAutoFit/>
          </a:bodyPr>
          <a:lstStyle/>
          <a:p>
            <a:pPr algn="l"/>
            <a:r>
              <a:rPr sz="3400" b="1">
                <a:solidFill>
                  <a:srgbClr val="FFFFFF"/>
                </a:solidFill>
                <a:latin typeface="Calibri"/>
              </a:rPr>
              <a:t>Where we are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Status</a:t>
            </a:r>
          </a:p>
        </p:txBody>
      </p:sp>
      <p:graphicFrame>
        <p:nvGraphicFramePr>
          <p:cNvPr id="4" name="Table 3"/>
          <p:cNvGraphicFramePr>
            <a:graphicFrameLocks noGrp="1"/>
          </p:cNvGraphicFramePr>
          <p:nvPr/>
        </p:nvGraphicFramePr>
        <p:xfrm>
          <a:off x="548640" y="1371600"/>
          <a:ext cx="11064240" cy="2926080"/>
        </p:xfrm>
        <a:graphic>
          <a:graphicData uri="http://schemas.openxmlformats.org/drawingml/2006/table">
            <a:tbl>
              <a:tblPr firstRow="1" bandRow="1">
                <a:tableStyleId>{5C22544A-7EE6-4342-B048-85BDC9FD1C3A}</a:tableStyleId>
              </a:tblPr>
              <a:tblGrid>
                <a:gridCol w="3688080">
                  <a:extLst>
                    <a:ext uri="{9D8B030D-6E8A-4147-A177-3AD203B41FA5}">
                      <a16:colId xmlns:a16="http://schemas.microsoft.com/office/drawing/2014/main" val="20000"/>
                    </a:ext>
                  </a:extLst>
                </a:gridCol>
                <a:gridCol w="3688080">
                  <a:extLst>
                    <a:ext uri="{9D8B030D-6E8A-4147-A177-3AD203B41FA5}">
                      <a16:colId xmlns:a16="http://schemas.microsoft.com/office/drawing/2014/main" val="20001"/>
                    </a:ext>
                  </a:extLst>
                </a:gridCol>
                <a:gridCol w="3688080">
                  <a:extLst>
                    <a:ext uri="{9D8B030D-6E8A-4147-A177-3AD203B41FA5}">
                      <a16:colId xmlns:a16="http://schemas.microsoft.com/office/drawing/2014/main" val="20002"/>
                    </a:ext>
                  </a:extLst>
                </a:gridCol>
              </a:tblGrid>
              <a:tr h="365760">
                <a:tc>
                  <a:txBody>
                    <a:bodyPr/>
                    <a:lstStyle/>
                    <a:p>
                      <a:r>
                        <a:rPr sz="1400" b="1">
                          <a:solidFill>
                            <a:srgbClr val="FFFFFF"/>
                          </a:solidFill>
                        </a:rPr>
                        <a:t>Stage</a:t>
                      </a:r>
                    </a:p>
                  </a:txBody>
                  <a:tcPr>
                    <a:solidFill>
                      <a:srgbClr val="14375E"/>
                    </a:solidFill>
                  </a:tcPr>
                </a:tc>
                <a:tc>
                  <a:txBody>
                    <a:bodyPr/>
                    <a:lstStyle/>
                    <a:p>
                      <a:r>
                        <a:rPr sz="1400" b="1">
                          <a:solidFill>
                            <a:srgbClr val="FFFFFF"/>
                          </a:solidFill>
                        </a:rPr>
                        <a:t>State</a:t>
                      </a:r>
                    </a:p>
                  </a:txBody>
                  <a:tcPr>
                    <a:solidFill>
                      <a:srgbClr val="14375E"/>
                    </a:solidFill>
                  </a:tcPr>
                </a:tc>
                <a:tc>
                  <a:txBody>
                    <a:bodyPr/>
                    <a:lstStyle/>
                    <a:p>
                      <a:r>
                        <a:rPr sz="1400" b="1">
                          <a:solidFill>
                            <a:srgbClr val="FFFFFF"/>
                          </a:solidFill>
                        </a:rPr>
                        <a:t>Evidence</a:t>
                      </a:r>
                    </a:p>
                  </a:txBody>
                  <a:tcPr>
                    <a:solidFill>
                      <a:srgbClr val="14375E"/>
                    </a:solidFill>
                  </a:tcPr>
                </a:tc>
                <a:extLst>
                  <a:ext uri="{0D108BD9-81ED-4DB2-BD59-A6C34878D82A}">
                    <a16:rowId xmlns:a16="http://schemas.microsoft.com/office/drawing/2014/main" val="10000"/>
                  </a:ext>
                </a:extLst>
              </a:tr>
              <a:tr h="365760">
                <a:tc>
                  <a:txBody>
                    <a:bodyPr/>
                    <a:lstStyle/>
                    <a:p>
                      <a:r>
                        <a:rPr sz="1300">
                          <a:solidFill>
                            <a:srgbClr val="1A1A1A"/>
                          </a:solidFill>
                        </a:rPr>
                        <a:t>Import network</a:t>
                      </a:r>
                    </a:p>
                  </a:txBody>
                  <a:tcPr>
                    <a:solidFill>
                      <a:srgbClr val="F4F7FB"/>
                    </a:solidFill>
                  </a:tcPr>
                </a:tc>
                <a:tc>
                  <a:txBody>
                    <a:bodyPr/>
                    <a:lstStyle/>
                    <a:p>
                      <a:r>
                        <a:rPr sz="1300">
                          <a:solidFill>
                            <a:srgbClr val="1A1A1A"/>
                          </a:solidFill>
                        </a:rPr>
                        <a:t>Done</a:t>
                      </a:r>
                    </a:p>
                  </a:txBody>
                  <a:tcPr>
                    <a:solidFill>
                      <a:srgbClr val="F4F7FB"/>
                    </a:solidFill>
                  </a:tcPr>
                </a:tc>
                <a:tc>
                  <a:txBody>
                    <a:bodyPr/>
                    <a:lstStyle/>
                    <a:p>
                      <a:r>
                        <a:rPr sz="1300">
                          <a:solidFill>
                            <a:srgbClr val="1A1A1A"/>
                          </a:solidFill>
                        </a:rPr>
                        <a:t>104 movements, 10 junctions, any OpenDRIVE file</a:t>
                      </a:r>
                    </a:p>
                  </a:txBody>
                  <a:tcPr>
                    <a:solidFill>
                      <a:srgbClr val="F4F7FB"/>
                    </a:solidFill>
                  </a:tcPr>
                </a:tc>
                <a:extLst>
                  <a:ext uri="{0D108BD9-81ED-4DB2-BD59-A6C34878D82A}">
                    <a16:rowId xmlns:a16="http://schemas.microsoft.com/office/drawing/2014/main" val="10001"/>
                  </a:ext>
                </a:extLst>
              </a:tr>
              <a:tr h="365760">
                <a:tc>
                  <a:txBody>
                    <a:bodyPr/>
                    <a:lstStyle/>
                    <a:p>
                      <a:r>
                        <a:rPr sz="1300">
                          <a:solidFill>
                            <a:srgbClr val="1A1A1A"/>
                          </a:solidFill>
                        </a:rPr>
                        <a:t>MatchupTable</a:t>
                      </a:r>
                    </a:p>
                  </a:txBody>
                  <a:tcPr>
                    <a:solidFill>
                      <a:srgbClr val="FFFFFF"/>
                    </a:solidFill>
                  </a:tcPr>
                </a:tc>
                <a:tc>
                  <a:txBody>
                    <a:bodyPr/>
                    <a:lstStyle/>
                    <a:p>
                      <a:r>
                        <a:rPr sz="1300">
                          <a:solidFill>
                            <a:srgbClr val="1A1A1A"/>
                          </a:solidFill>
                        </a:rPr>
                        <a:t>Done</a:t>
                      </a:r>
                    </a:p>
                  </a:txBody>
                  <a:tcPr>
                    <a:solidFill>
                      <a:srgbClr val="FFFFFF"/>
                    </a:solidFill>
                  </a:tcPr>
                </a:tc>
                <a:tc>
                  <a:txBody>
                    <a:bodyPr/>
                    <a:lstStyle/>
                    <a:p>
                      <a:r>
                        <a:rPr sz="1300">
                          <a:solidFill>
                            <a:srgbClr val="1A1A1A"/>
                          </a:solidFill>
                        </a:rPr>
                        <a:t>104/104 against the SUMO table, generated standalone</a:t>
                      </a:r>
                    </a:p>
                  </a:txBody>
                  <a:tcPr>
                    <a:solidFill>
                      <a:srgbClr val="FFFFFF"/>
                    </a:solidFill>
                  </a:tcPr>
                </a:tc>
                <a:extLst>
                  <a:ext uri="{0D108BD9-81ED-4DB2-BD59-A6C34878D82A}">
                    <a16:rowId xmlns:a16="http://schemas.microsoft.com/office/drawing/2014/main" val="10002"/>
                  </a:ext>
                </a:extLst>
              </a:tr>
              <a:tr h="365760">
                <a:tc>
                  <a:txBody>
                    <a:bodyPr/>
                    <a:lstStyle/>
                    <a:p>
                      <a:r>
                        <a:rPr sz="1300">
                          <a:solidFill>
                            <a:srgbClr val="1A1A1A"/>
                          </a:solidFill>
                        </a:rPr>
                        <a:t>Vehicle inputs</a:t>
                      </a:r>
                    </a:p>
                  </a:txBody>
                  <a:tcPr>
                    <a:solidFill>
                      <a:srgbClr val="F4F7FB"/>
                    </a:solidFill>
                  </a:tcPr>
                </a:tc>
                <a:tc>
                  <a:txBody>
                    <a:bodyPr/>
                    <a:lstStyle/>
                    <a:p>
                      <a:r>
                        <a:rPr sz="1300">
                          <a:solidFill>
                            <a:srgbClr val="1A1A1A"/>
                          </a:solidFill>
                        </a:rPr>
                        <a:t>Done</a:t>
                      </a:r>
                    </a:p>
                  </a:txBody>
                  <a:tcPr>
                    <a:solidFill>
                      <a:srgbClr val="F4F7FB"/>
                    </a:solidFill>
                  </a:tcPr>
                </a:tc>
                <a:tc>
                  <a:txBody>
                    <a:bodyPr/>
                    <a:lstStyle/>
                    <a:p>
                      <a:r>
                        <a:rPr sz="1300">
                          <a:solidFill>
                            <a:srgbClr val="1A1A1A"/>
                          </a:solidFill>
                        </a:rPr>
                        <a:t>12/12 volume profiles match to the vehicle</a:t>
                      </a:r>
                    </a:p>
                  </a:txBody>
                  <a:tcPr>
                    <a:solidFill>
                      <a:srgbClr val="F4F7FB"/>
                    </a:solidFill>
                  </a:tcPr>
                </a:tc>
                <a:extLst>
                  <a:ext uri="{0D108BD9-81ED-4DB2-BD59-A6C34878D82A}">
                    <a16:rowId xmlns:a16="http://schemas.microsoft.com/office/drawing/2014/main" val="10003"/>
                  </a:ext>
                </a:extLst>
              </a:tr>
              <a:tr h="365760">
                <a:tc>
                  <a:txBody>
                    <a:bodyPr/>
                    <a:lstStyle/>
                    <a:p>
                      <a:r>
                        <a:rPr sz="1300">
                          <a:solidFill>
                            <a:srgbClr val="1A1A1A"/>
                          </a:solidFill>
                        </a:rPr>
                        <a:t>Turn routing</a:t>
                      </a:r>
                    </a:p>
                  </a:txBody>
                  <a:tcPr>
                    <a:solidFill>
                      <a:srgbClr val="FFFFFF"/>
                    </a:solidFill>
                  </a:tcPr>
                </a:tc>
                <a:tc>
                  <a:txBody>
                    <a:bodyPr/>
                    <a:lstStyle/>
                    <a:p>
                      <a:r>
                        <a:rPr sz="1300">
                          <a:solidFill>
                            <a:srgbClr val="1A1A1A"/>
                          </a:solidFill>
                        </a:rPr>
                        <a:t>Done</a:t>
                      </a:r>
                    </a:p>
                  </a:txBody>
                  <a:tcPr>
                    <a:solidFill>
                      <a:srgbClr val="FFFFFF"/>
                    </a:solidFill>
                  </a:tcPr>
                </a:tc>
                <a:tc>
                  <a:txBody>
                    <a:bodyPr/>
                    <a:lstStyle/>
                    <a:p>
                      <a:r>
                        <a:rPr sz="1300">
                          <a:solidFill>
                            <a:srgbClr val="1A1A1A"/>
                          </a:solidFill>
                        </a:rPr>
                        <a:t>34 decisions, 104 routes, placement rules verified</a:t>
                      </a:r>
                    </a:p>
                  </a:txBody>
                  <a:tcPr>
                    <a:solidFill>
                      <a:srgbClr val="FFFFFF"/>
                    </a:solidFill>
                  </a:tcPr>
                </a:tc>
                <a:extLst>
                  <a:ext uri="{0D108BD9-81ED-4DB2-BD59-A6C34878D82A}">
                    <a16:rowId xmlns:a16="http://schemas.microsoft.com/office/drawing/2014/main" val="10004"/>
                  </a:ext>
                </a:extLst>
              </a:tr>
              <a:tr h="365760">
                <a:tc>
                  <a:txBody>
                    <a:bodyPr/>
                    <a:lstStyle/>
                    <a:p>
                      <a:r>
                        <a:rPr sz="1300">
                          <a:solidFill>
                            <a:srgbClr val="1A1A1A"/>
                          </a:solidFill>
                        </a:rPr>
                        <a:t>Combined routing</a:t>
                      </a:r>
                    </a:p>
                  </a:txBody>
                  <a:tcPr>
                    <a:solidFill>
                      <a:srgbClr val="F4F7FB"/>
                    </a:solidFill>
                  </a:tcPr>
                </a:tc>
                <a:tc>
                  <a:txBody>
                    <a:bodyPr/>
                    <a:lstStyle/>
                    <a:p>
                      <a:r>
                        <a:rPr sz="1300">
                          <a:solidFill>
                            <a:srgbClr val="1A1A1A"/>
                          </a:solidFill>
                        </a:rPr>
                        <a:t>Done, optional</a:t>
                      </a:r>
                    </a:p>
                  </a:txBody>
                  <a:tcPr>
                    <a:solidFill>
                      <a:srgbClr val="F4F7FB"/>
                    </a:solidFill>
                  </a:tcPr>
                </a:tc>
                <a:tc>
                  <a:txBody>
                    <a:bodyPr/>
                    <a:lstStyle/>
                    <a:p>
                      <a:r>
                        <a:rPr sz="1300">
                          <a:solidFill>
                            <a:srgbClr val="1A1A1A"/>
                          </a:solidFill>
                        </a:rPr>
                        <a:t>34/34 when asked, off by default</a:t>
                      </a:r>
                    </a:p>
                  </a:txBody>
                  <a:tcPr>
                    <a:solidFill>
                      <a:srgbClr val="F4F7FB"/>
                    </a:solidFill>
                  </a:tcPr>
                </a:tc>
                <a:extLst>
                  <a:ext uri="{0D108BD9-81ED-4DB2-BD59-A6C34878D82A}">
                    <a16:rowId xmlns:a16="http://schemas.microsoft.com/office/drawing/2014/main" val="10005"/>
                  </a:ext>
                </a:extLst>
              </a:tr>
              <a:tr h="365760">
                <a:tc>
                  <a:txBody>
                    <a:bodyPr/>
                    <a:lstStyle/>
                    <a:p>
                      <a:r>
                        <a:rPr sz="1300">
                          <a:solidFill>
                            <a:srgbClr val="1A1A1A"/>
                          </a:solidFill>
                        </a:rPr>
                        <a:t>Signal control</a:t>
                      </a:r>
                    </a:p>
                  </a:txBody>
                  <a:tcPr>
                    <a:solidFill>
                      <a:srgbClr val="FFFFFF"/>
                    </a:solidFill>
                  </a:tcPr>
                </a:tc>
                <a:tc>
                  <a:txBody>
                    <a:bodyPr/>
                    <a:lstStyle/>
                    <a:p>
                      <a:r>
                        <a:rPr sz="1300">
                          <a:solidFill>
                            <a:srgbClr val="1A1A1A"/>
                          </a:solidFill>
                        </a:rPr>
                        <a:t>Not started</a:t>
                      </a:r>
                    </a:p>
                  </a:txBody>
                  <a:tcPr>
                    <a:solidFill>
                      <a:srgbClr val="FFFFFF"/>
                    </a:solidFill>
                  </a:tcPr>
                </a:tc>
                <a:tc>
                  <a:txBody>
                    <a:bodyPr/>
                    <a:lstStyle/>
                    <a:p>
                      <a:r>
                        <a:rPr sz="1300">
                          <a:solidFill>
                            <a:srgbClr val="1A1A1A"/>
                          </a:solidFill>
                        </a:rPr>
                        <a:t>Format already understood (.prbc)</a:t>
                      </a:r>
                    </a:p>
                  </a:txBody>
                  <a:tcPr>
                    <a:solidFill>
                      <a:srgbClr val="FFFFFF"/>
                    </a:solidFill>
                  </a:tcPr>
                </a:tc>
                <a:extLst>
                  <a:ext uri="{0D108BD9-81ED-4DB2-BD59-A6C34878D82A}">
                    <a16:rowId xmlns:a16="http://schemas.microsoft.com/office/drawing/2014/main" val="10006"/>
                  </a:ext>
                </a:extLst>
              </a:tr>
              <a:tr h="365760">
                <a:tc>
                  <a:txBody>
                    <a:bodyPr/>
                    <a:lstStyle/>
                    <a:p>
                      <a:r>
                        <a:rPr sz="1300">
                          <a:solidFill>
                            <a:srgbClr val="1A1A1A"/>
                          </a:solidFill>
                        </a:rPr>
                        <a:t>Right turn on red</a:t>
                      </a:r>
                    </a:p>
                  </a:txBody>
                  <a:tcPr>
                    <a:solidFill>
                      <a:srgbClr val="F4F7FB"/>
                    </a:solidFill>
                  </a:tcPr>
                </a:tc>
                <a:tc>
                  <a:txBody>
                    <a:bodyPr/>
                    <a:lstStyle/>
                    <a:p>
                      <a:r>
                        <a:rPr sz="1300">
                          <a:solidFill>
                            <a:srgbClr val="1A1A1A"/>
                          </a:solidFill>
                        </a:rPr>
                        <a:t>Not started</a:t>
                      </a:r>
                    </a:p>
                  </a:txBody>
                  <a:tcPr>
                    <a:solidFill>
                      <a:srgbClr val="F4F7FB"/>
                    </a:solidFill>
                  </a:tcPr>
                </a:tc>
                <a:tc>
                  <a:txBody>
                    <a:bodyPr/>
                    <a:lstStyle/>
                    <a:p>
                      <a:r>
                        <a:rPr sz="1300">
                          <a:solidFill>
                            <a:srgbClr val="1A1A1A"/>
                          </a:solidFill>
                        </a:rPr>
                        <a:t>Must be designed, not ported from SUMO</a:t>
                      </a:r>
                    </a:p>
                  </a:txBody>
                  <a:tcPr>
                    <a:solidFill>
                      <a:srgbClr val="F4F7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64592"/>
            <a:ext cx="11247120" cy="731520"/>
          </a:xfrm>
          <a:prstGeom prst="rect">
            <a:avLst/>
          </a:prstGeom>
          <a:noFill/>
        </p:spPr>
        <p:txBody>
          <a:bodyPr wrap="square">
            <a:spAutoFit/>
          </a:bodyPr>
          <a:lstStyle/>
          <a:p>
            <a:pPr algn="l"/>
            <a:r>
              <a:rPr sz="2600" b="1">
                <a:solidFill>
                  <a:srgbClr val="FFFFFF"/>
                </a:solidFill>
                <a:latin typeface="Calibri"/>
              </a:rPr>
              <a:t>Three things worth carrying forward</a:t>
            </a:r>
          </a:p>
        </p:txBody>
      </p:sp>
      <p:sp>
        <p:nvSpPr>
          <p:cNvPr id="4" name="TextBox 3"/>
          <p:cNvSpPr txBox="1"/>
          <p:nvPr/>
        </p:nvSpPr>
        <p:spPr>
          <a:xfrm>
            <a:off x="640080" y="1371600"/>
            <a:ext cx="10972800" cy="5120640"/>
          </a:xfrm>
          <a:prstGeom prst="rect">
            <a:avLst/>
          </a:prstGeom>
          <a:noFill/>
        </p:spPr>
        <p:txBody>
          <a:bodyPr wrap="square">
            <a:spAutoFit/>
          </a:bodyPr>
          <a:lstStyle/>
          <a:p>
            <a:pPr algn="l">
              <a:spcAft>
                <a:spcPts val="800"/>
              </a:spcAft>
            </a:pPr>
            <a:r>
              <a:rPr sz="1800" b="0">
                <a:solidFill>
                  <a:srgbClr val="1A1A1A"/>
                </a:solidFill>
                <a:latin typeface="Calibri"/>
              </a:rPr>
              <a:t>• Nothing is trusted until checked - and how you compare matters</a:t>
            </a:r>
          </a:p>
          <a:p>
            <a:pPr lvl="1" algn="l">
              <a:spcAft>
                <a:spcPts val="800"/>
              </a:spcAft>
            </a:pPr>
            <a:r>
              <a:rPr sz="1800" b="0">
                <a:solidFill>
                  <a:srgbClr val="1A1A1A"/>
                </a:solidFill>
                <a:latin typeface="Calibri"/>
              </a:rPr>
              <a:t>– Matching row by row agreed while a code sat on the wrong movement</a:t>
            </a:r>
          </a:p>
          <a:p>
            <a:pPr algn="l">
              <a:spcAft>
                <a:spcPts val="800"/>
              </a:spcAft>
            </a:pPr>
            <a:r>
              <a:rPr sz="1800" b="0">
                <a:solidFill>
                  <a:srgbClr val="1A1A1A"/>
                </a:solidFill>
                <a:latin typeface="Calibri"/>
              </a:rPr>
              <a:t>• The pipeline no longer depends on SUMO having produced the network</a:t>
            </a:r>
          </a:p>
          <a:p>
            <a:pPr lvl="1" algn="l">
              <a:spcAft>
                <a:spcPts val="800"/>
              </a:spcAft>
            </a:pPr>
            <a:r>
              <a:rPr sz="1800" b="0">
                <a:solidFill>
                  <a:srgbClr val="1A1A1A"/>
                </a:solidFill>
                <a:latin typeface="Calibri"/>
              </a:rPr>
              <a:t>– Junctions come from the OpenDRIVE standard, which any file has</a:t>
            </a:r>
          </a:p>
          <a:p>
            <a:pPr algn="l">
              <a:spcAft>
                <a:spcPts val="800"/>
              </a:spcAft>
            </a:pPr>
            <a:r>
              <a:rPr sz="1800" b="0">
                <a:solidFill>
                  <a:srgbClr val="1A1A1A"/>
                </a:solidFill>
                <a:latin typeface="Calibri"/>
              </a:rPr>
              <a:t>• Right turn on red will NOT be a port of the SUMO logic</a:t>
            </a:r>
          </a:p>
          <a:p>
            <a:pPr lvl="1" algn="l">
              <a:spcAft>
                <a:spcPts val="800"/>
              </a:spcAft>
            </a:pPr>
            <a:r>
              <a:rPr sz="1800" b="0">
                <a:solidFill>
                  <a:srgbClr val="1A1A1A"/>
                </a:solidFill>
                <a:latin typeface="Calibri"/>
              </a:rPr>
              <a:t>– SUMO has no such concept; Vissim models it physically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3527</Words>
  <Application>Microsoft Office PowerPoint</Application>
  <PresentationFormat>Widescreen</PresentationFormat>
  <Paragraphs>396</Paragraphs>
  <Slides>42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Saroj, Abhilasha</cp:lastModifiedBy>
  <cp:revision>1</cp:revision>
  <dcterms:created xsi:type="dcterms:W3CDTF">2013-01-27T09:14:16Z</dcterms:created>
  <dcterms:modified xsi:type="dcterms:W3CDTF">2026-08-10T15:17:49Z</dcterms:modified>
  <cp:category/>
</cp:coreProperties>
</file>